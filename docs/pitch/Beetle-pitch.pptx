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etle pitch" id="{3394f850-dde4-6cf3-fb0c-626576b2663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user is a technical designer at a small studio. Each stop-edit-rebuild-regather cycle throws away the live playtest. Beetle's promise is to change the game without stopping the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steps: any request, mapped to the closest mode and biome and named, a playable world two phones join, then keep changing it while they play. Read two rows of the mode table, not all five. Say plainly: the library is bounded and growing; the model never writes rules, it picks from the engine. Status at 14:27 CDT: contract, validator, patch ops, server rule per mode, mapping prompt and biome palettes exist in code; BUILD_STATUS.md says what is tested; mode briefs measured 14:25 to 14:42 CDT, 18 of 18 sensible modes (slide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recording here. Captions follow docs/STORYBOARD.md; the mode caption is set to whichever agent mode was green at recording time. Rehearsal timings: brief 14 s on a quiet GPU, edits 2 to 14 s, DISCONNECTED_GOAL refused and repaired in 3.0 s. Shots that cannot be produced honestly are cut, not faked.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director, OpenClaw agent, the mapping step (closest mode and biome, parameters from the brief, named in the summary), Beetle tools, server validator and commit, players. Structured output means only a listed mode, a listed biome and in-range parameters can come out of the model. Only the server decides validity; the model only proposes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cards. Say out loud: the 10 s brief target is not met; a valid brief takes 24 to 28 s warm on a quiet GPU, 14 s was seen once after normalization, 33.4 s through OpenClaw. Edits commit in 2 to 14 s, and 8.0 s with two players moving and nothing reset. Game modes from one prompt: the mode was sensible on 18 of 18 briefs and the exact mode was missed twice; committed mode briefs took 13 to 44 s and the failures were geometry, never the mode rule; mode and biome edits on a running world took 3.0 s. Phones and the offline proof are covered by tests or procedure but not yet measured live. The 27b was never benchmarked.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hypothesis, say plainly what we do not claim, and name the one comparison that would test it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E35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Slide title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Beetle. Local-first prototyping teammate for small game studios.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Every edit stops the playtest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label THE USER"/>
          <p:cNvSpPr txBox="1"/>
          <p:nvPr/>
        </p:nvSpPr>
        <p:spPr>
          <a:xfrm>
            <a:off x="45720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USER</a:t>
            </a:r>
            <a:endParaRPr lang="en-US" sz="1000" dirty="0"/>
          </a:p>
        </p:txBody>
      </p:sp>
      <p:sp>
        <p:nvSpPr>
          <p:cNvPr id="16" name="body text"/>
          <p:cNvSpPr txBox="1"/>
          <p:nvPr/>
        </p:nvSpPr>
        <p:spPr>
          <a:xfrm>
            <a:off x="457200" y="14447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Technical designers at small studios iterate on playable prototypes with real playtesters in the room.</a:t>
            </a:r>
            <a:endParaRPr lang="en-US" sz="1300" dirty="0"/>
          </a:p>
        </p:txBody>
      </p:sp>
      <p:sp>
        <p:nvSpPr>
          <p:cNvPr id="17" name="label THE COST"/>
          <p:cNvSpPr txBox="1"/>
          <p:nvPr/>
        </p:nvSpPr>
        <p:spPr>
          <a:xfrm>
            <a:off x="457200" y="22402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COST</a:t>
            </a:r>
            <a:endParaRPr lang="en-US" sz="1000" dirty="0"/>
          </a:p>
        </p:txBody>
      </p:sp>
      <p:sp>
        <p:nvSpPr>
          <p:cNvPr id="18" name="body text"/>
          <p:cNvSpPr txBox="1"/>
          <p:nvPr/>
        </p:nvSpPr>
        <p:spPr>
          <a:xfrm>
            <a:off x="457200" y="24963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stop costs the thing they are trying to observe: how people actually play.</a:t>
            </a:r>
            <a:endParaRPr lang="en-US" sz="1300" dirty="0"/>
          </a:p>
        </p:txBody>
      </p:sp>
      <p:sp>
        <p:nvSpPr>
          <p:cNvPr id="19" name="promise card"/>
          <p:cNvSpPr/>
          <p:nvPr/>
        </p:nvSpPr>
        <p:spPr>
          <a:xfrm>
            <a:off x="457200" y="3337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promise text"/>
          <p:cNvSpPr txBox="1"/>
          <p:nvPr/>
        </p:nvSpPr>
        <p:spPr>
          <a:xfrm>
            <a:off x="685800" y="3456432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Beetle's promise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Change the game without stopping the game.</a:t>
            </a:r>
            <a:endParaRPr lang="en-US" sz="1100" dirty="0"/>
          </a:p>
        </p:txBody>
      </p:sp>
      <p:sp>
        <p:nvSpPr>
          <p:cNvPr id="21" name="label TODAY&amp;apos;S LOOP"/>
          <p:cNvSpPr txBox="1"/>
          <p:nvPr/>
        </p:nvSpPr>
        <p:spPr>
          <a:xfrm>
            <a:off x="50292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TODAY'S LOOP</a:t>
            </a:r>
            <a:endParaRPr lang="en-US" sz="1000" dirty="0"/>
          </a:p>
        </p:txBody>
      </p:sp>
      <p:sp>
        <p:nvSpPr>
          <p:cNvPr id="22" name="loop chip Stop the session"/>
          <p:cNvSpPr/>
          <p:nvPr/>
        </p:nvSpPr>
        <p:spPr>
          <a:xfrm>
            <a:off x="5029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loop chip text Stop the session"/>
          <p:cNvSpPr txBox="1"/>
          <p:nvPr/>
        </p:nvSpPr>
        <p:spPr>
          <a:xfrm>
            <a:off x="5029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Stop the session</a:t>
            </a:r>
            <a:endParaRPr lang="en-US" sz="1200" dirty="0"/>
          </a:p>
        </p:txBody>
      </p:sp>
      <p:sp>
        <p:nvSpPr>
          <p:cNvPr id="24" name="loop chip Edit the prototype"/>
          <p:cNvSpPr/>
          <p:nvPr/>
        </p:nvSpPr>
        <p:spPr>
          <a:xfrm>
            <a:off x="7315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loop chip text Edit the prototype"/>
          <p:cNvSpPr txBox="1"/>
          <p:nvPr/>
        </p:nvSpPr>
        <p:spPr>
          <a:xfrm>
            <a:off x="7315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Edit the prototype</a:t>
            </a:r>
            <a:endParaRPr lang="en-US" sz="1200" dirty="0"/>
          </a:p>
        </p:txBody>
      </p:sp>
      <p:sp>
        <p:nvSpPr>
          <p:cNvPr id="26" name="loop chip Rebuild"/>
          <p:cNvSpPr/>
          <p:nvPr/>
        </p:nvSpPr>
        <p:spPr>
          <a:xfrm>
            <a:off x="7315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loop chip text Rebuild"/>
          <p:cNvSpPr txBox="1"/>
          <p:nvPr/>
        </p:nvSpPr>
        <p:spPr>
          <a:xfrm>
            <a:off x="7315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Rebuild</a:t>
            </a:r>
            <a:endParaRPr lang="en-US" sz="1200" dirty="0"/>
          </a:p>
        </p:txBody>
      </p:sp>
      <p:sp>
        <p:nvSpPr>
          <p:cNvPr id="28" name="loop chip Re-gather playtesters"/>
          <p:cNvSpPr/>
          <p:nvPr/>
        </p:nvSpPr>
        <p:spPr>
          <a:xfrm>
            <a:off x="5029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loop chip text Re-gather playtesters"/>
          <p:cNvSpPr txBox="1"/>
          <p:nvPr/>
        </p:nvSpPr>
        <p:spPr>
          <a:xfrm>
            <a:off x="5029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Re-gather playtesters</a:t>
            </a:r>
            <a:endParaRPr lang="en-US" sz="1200" dirty="0"/>
          </a:p>
        </p:txBody>
      </p:sp>
      <p:sp>
        <p:nvSpPr>
          <p:cNvPr id="30" name="arrow"/>
          <p:cNvSpPr/>
          <p:nvPr/>
        </p:nvSpPr>
        <p:spPr>
          <a:xfrm>
            <a:off x="6611112" y="1792224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arrow"/>
          <p:cNvSpPr/>
          <p:nvPr/>
        </p:nvSpPr>
        <p:spPr>
          <a:xfrm>
            <a:off x="8069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2" name="arrow"/>
          <p:cNvSpPr/>
          <p:nvPr/>
        </p:nvSpPr>
        <p:spPr>
          <a:xfrm flipH="1">
            <a:off x="6611112" y="3273552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arrow"/>
          <p:cNvSpPr/>
          <p:nvPr/>
        </p:nvSpPr>
        <p:spPr>
          <a:xfrm flipV="1">
            <a:off x="5783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4" name="loop caption"/>
          <p:cNvSpPr txBox="1"/>
          <p:nvPr/>
        </p:nvSpPr>
        <p:spPr>
          <a:xfrm>
            <a:off x="502920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Each turn of the loop loses the live playtest you were trying to watch.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Any game, one prompt, then keep changing it while they play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workflow spine"/>
          <p:cNvSpPr/>
          <p:nvPr/>
        </p:nvSpPr>
        <p:spPr>
          <a:xfrm>
            <a:off x="1051560" y="1325880"/>
            <a:ext cx="7040880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step circle 1"/>
          <p:cNvSpPr/>
          <p:nvPr/>
        </p:nvSpPr>
        <p:spPr>
          <a:xfrm>
            <a:off x="85039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tep number 1"/>
          <p:cNvSpPr txBox="1"/>
          <p:nvPr/>
        </p:nvSpPr>
        <p:spPr>
          <a:xfrm>
            <a:off x="85039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step text 1"/>
          <p:cNvSpPr txBox="1"/>
          <p:nvPr/>
        </p:nvSpPr>
        <p:spPr>
          <a:xfrm>
            <a:off x="9144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Any game request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"king of the hill on a frozen arena, hold ten seconds"</a:t>
            </a:r>
            <a:endParaRPr lang="en-US" sz="1100" dirty="0"/>
          </a:p>
        </p:txBody>
      </p:sp>
      <p:sp>
        <p:nvSpPr>
          <p:cNvPr id="19" name="step circle 2"/>
          <p:cNvSpPr/>
          <p:nvPr/>
        </p:nvSpPr>
        <p:spPr>
          <a:xfrm>
            <a:off x="319735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step number 2"/>
          <p:cNvSpPr txBox="1"/>
          <p:nvPr/>
        </p:nvSpPr>
        <p:spPr>
          <a:xfrm>
            <a:off x="319735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step text 2"/>
          <p:cNvSpPr txBox="1"/>
          <p:nvPr/>
        </p:nvSpPr>
        <p:spPr>
          <a:xfrm>
            <a:off x="243840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Mapped to the closest mode and biome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the agent fills the parameters and says which it chose</a:t>
            </a:r>
            <a:endParaRPr lang="en-US" sz="1100" dirty="0"/>
          </a:p>
        </p:txBody>
      </p:sp>
      <p:sp>
        <p:nvSpPr>
          <p:cNvPr id="22" name="step circle 3"/>
          <p:cNvSpPr/>
          <p:nvPr/>
        </p:nvSpPr>
        <p:spPr>
          <a:xfrm>
            <a:off x="554431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step number 3"/>
          <p:cNvSpPr txBox="1"/>
          <p:nvPr/>
        </p:nvSpPr>
        <p:spPr>
          <a:xfrm>
            <a:off x="554431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tep text 3"/>
          <p:cNvSpPr txBox="1"/>
          <p:nvPr/>
        </p:nvSpPr>
        <p:spPr>
          <a:xfrm>
            <a:off x="478536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Playable world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two phones join by QR, validated by game code first</a:t>
            </a:r>
            <a:endParaRPr lang="en-US" sz="1100" dirty="0"/>
          </a:p>
        </p:txBody>
      </p:sp>
      <p:sp>
        <p:nvSpPr>
          <p:cNvPr id="25" name="step circle 4"/>
          <p:cNvSpPr/>
          <p:nvPr/>
        </p:nvSpPr>
        <p:spPr>
          <a:xfrm>
            <a:off x="7891272" y="1124712"/>
            <a:ext cx="402336" cy="40233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step number 4"/>
          <p:cNvSpPr txBox="1"/>
          <p:nvPr/>
        </p:nvSpPr>
        <p:spPr>
          <a:xfrm>
            <a:off x="7891272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step text 4"/>
          <p:cNvSpPr txBox="1"/>
          <p:nvPr/>
        </p:nvSpPr>
        <p:spPr>
          <a:xfrm>
            <a:off x="7132320" y="16002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Keep changing it while they play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mode, biome, speed, bridges, hazard; no reset</a:t>
            </a:r>
            <a:endParaRPr lang="en-US" sz="1100" dirty="0"/>
          </a:p>
        </p:txBody>
      </p:sp>
      <p:sp>
        <p:nvSpPr>
          <p:cNvPr id="28" name="label MODE LIBRARY (ENGINE MECHANICS, NOT MODEL-WRITTEN RULES)"/>
          <p:cNvSpPr txBox="1"/>
          <p:nvPr/>
        </p:nvSpPr>
        <p:spPr>
          <a:xfrm>
            <a:off x="457200" y="2286000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MODE LIBRARY (ENGINE MECHANICS, NOT MODEL-WRITTEN RULES)</a:t>
            </a:r>
            <a:endParaRPr lang="en-US" sz="900" dirty="0"/>
          </a:p>
        </p:txBody>
      </p:sp>
      <p:graphicFrame>
        <p:nvGraphicFramePr>
          <p:cNvPr id="3" name="mode libr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8716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651760"/>
                <a:gridCol w="2377440"/>
                <a:gridCol w="20116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players 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condition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A3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Parameters (contract ranges)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relic_hunt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 relics over the bridges, enter the gate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unlocks after relicsRequired relics; a player reaches 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relicsRequired 1 to 3 (default all)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time_trial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same relic hunt against a clock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before timeLimitSec; lost when it expires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timeLimitSec 20 to 600 s (default 120)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king_of_the_hill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the gate island (the hill) and stand in its zone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player whose held time reaches holdSeconds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holdSeconds 3 to 60 s (default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checkpoint_race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the relics as checkpoints, in order, then the gate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checkpoint, then the gate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orderedCheckpoints; at least 2 relics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EDE7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survival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grab a relic and reach the gate while the hazard rises and bridges submerge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relic plus gate before timeLimitSec; lost when it expires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BDB3A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hazard.rise afterSec, metersPerSec, maxElevation; timeLimitSec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6B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A48"/>
                    </a:solidFill>
                  </a:tcPr>
                </a:tc>
              </a:tr>
            </a:tbl>
          </a:graphicData>
        </a:graphic>
      </p:graphicFrame>
      <p:sp>
        <p:nvSpPr>
          <p:cNvPr id="30" name="library text"/>
          <p:cNvSpPr txBox="1"/>
          <p:nvPr/>
        </p:nvSpPr>
        <p:spPr>
          <a:xfrm>
            <a:off x="457200" y="39867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Biomes </a:t>
            </a:r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garden, volcanic, frost, desert, night. 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Hazard and pace </a:t>
            </a:r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water or lava below, a rising hazard, movement 3 to 7 m/s, 11 decoration types.   </a:t>
            </a:r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Changed live, no reset </a:t>
            </a:r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set_mode, set_biome, set_movement beside add_bridge, set_hazard and the other structural ops; every patch validated and committed as a new version.</a:t>
            </a:r>
            <a:endParaRPr lang="en-US" sz="900" dirty="0"/>
          </a:p>
        </p:txBody>
      </p:sp>
      <p:sp>
        <p:nvSpPr>
          <p:cNvPr id="31" name="category note"/>
          <p:cNvSpPr txBox="1"/>
          <p:nvPr/>
        </p:nvSpPr>
        <p:spPr>
          <a:xfrm>
            <a:off x="457200" y="437083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chemeClr val="tx2"/>
                </a:solidFill>
              </a:rPr>
              <a:t>Adapted from one-prompt game generators: the one-prompt front door and instant playable output. Added: live editing without a reset, deterministic validation and repair before publish, local-only inference, phones as controllers (docs/COMPETITIVE.md). A request outside the library lands on the nearest mode and the agent says so.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working video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video placeholder frame"/>
          <p:cNvSpPr/>
          <p:nvPr/>
        </p:nvSpPr>
        <p:spPr>
          <a:xfrm>
            <a:off x="457200" y="1188720"/>
            <a:ext cx="4846320" cy="2726055"/>
          </a:xfrm>
          <a:prstGeom prst="roundRect">
            <a:avLst>
              <a:gd name="adj" fmla="val 2013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16" name="play circle"/>
          <p:cNvSpPr/>
          <p:nvPr/>
        </p:nvSpPr>
        <p:spPr>
          <a:xfrm>
            <a:off x="2560320" y="2003107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play triangle"/>
          <p:cNvSpPr/>
          <p:nvPr/>
        </p:nvSpPr>
        <p:spPr>
          <a:xfrm rot="5400000">
            <a:off x="2761488" y="2176844"/>
            <a:ext cx="274320" cy="292608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8" name="video placeholder text"/>
          <p:cNvSpPr txBox="1"/>
          <p:nvPr/>
        </p:nvSpPr>
        <p:spPr>
          <a:xfrm>
            <a:off x="731520" y="2826067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[VIDEO PLACEHOLDER]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Insert the rehearsal recording here (90 to 120 s). Not yet recorded at 13:40 CDT.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caption names the agent mode used; any time compression is labelled on screen</a:t>
            </a:r>
            <a:endParaRPr lang="en-US" sz="1400" dirty="0"/>
          </a:p>
        </p:txBody>
      </p:sp>
      <p:sp>
        <p:nvSpPr>
          <p:cNvPr id="19" name="video summary"/>
          <p:cNvSpPr txBox="1"/>
          <p:nvPr/>
        </p:nvSpPr>
        <p:spPr>
          <a:xfrm>
            <a:off x="457200" y="4051935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Fresh world, two phones, a live edit, preserved progress, a conflicting edit caught by the validator, the repaired version committed.</a:t>
            </a:r>
            <a:endParaRPr lang="en-US" sz="1100" dirty="0"/>
          </a:p>
        </p:txBody>
      </p:sp>
      <p:sp>
        <p:nvSpPr>
          <p:cNvPr id="20" name="label ON-SCREEN CAPTIONS"/>
          <p:cNvSpPr txBox="1"/>
          <p:nvPr/>
        </p:nvSpPr>
        <p:spPr>
          <a:xfrm>
            <a:off x="5577840" y="11887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ON-SCREEN CAPTIONS</a:t>
            </a:r>
            <a:endParaRPr lang="en-US" sz="1000" dirty="0"/>
          </a:p>
        </p:txBody>
      </p:sp>
      <p:sp>
        <p:nvSpPr>
          <p:cNvPr id="21" name="caption list"/>
          <p:cNvSpPr txBox="1"/>
          <p:nvPr/>
        </p:nvSpPr>
        <p:spPr>
          <a:xfrm>
            <a:off x="5577840" y="14630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 to 6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Beetle. Change the game without stopping the game.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to 22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 local model composes the world. Validated by game code before it is published.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22 to 34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Two players join from their phones. Same screen, their phones only send controls.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34 to 58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Edits land live. No disconnect, no reset.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58 to 90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The validator refuses a world nobody can finish (DISCONNECTED_GOAL). The agent repairs it and commits only a passing version.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90 to 105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Measured on one GB10. Local model, local agent in [direct or OpenClaw] mode, no cloud.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105 to 115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Agent architecture and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node Director"/>
          <p:cNvSpPr/>
          <p:nvPr/>
        </p:nvSpPr>
        <p:spPr>
          <a:xfrm>
            <a:off x="457200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node title Director"/>
          <p:cNvSpPr txBox="1"/>
          <p:nvPr/>
        </p:nvSpPr>
        <p:spPr>
          <a:xfrm>
            <a:off x="457200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Director</a:t>
            </a:r>
            <a:endParaRPr lang="en-US" sz="1050" dirty="0"/>
          </a:p>
        </p:txBody>
      </p:sp>
      <p:sp>
        <p:nvSpPr>
          <p:cNvPr id="17" name="node sub Director"/>
          <p:cNvSpPr txBox="1"/>
          <p:nvPr/>
        </p:nvSpPr>
        <p:spPr>
          <a:xfrm>
            <a:off x="384048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any game request or edit</a:t>
            </a:r>
            <a:endParaRPr lang="en-US" sz="850" dirty="0"/>
          </a:p>
        </p:txBody>
      </p:sp>
      <p:sp>
        <p:nvSpPr>
          <p:cNvPr id="18" name="arrow"/>
          <p:cNvSpPr/>
          <p:nvPr/>
        </p:nvSpPr>
        <p:spPr>
          <a:xfrm>
            <a:off x="1697736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node OpenClaw agent"/>
          <p:cNvSpPr/>
          <p:nvPr/>
        </p:nvSpPr>
        <p:spPr>
          <a:xfrm>
            <a:off x="1862328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node title OpenClaw agent"/>
          <p:cNvSpPr txBox="1"/>
          <p:nvPr/>
        </p:nvSpPr>
        <p:spPr>
          <a:xfrm>
            <a:off x="1862328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OpenClaw agent</a:t>
            </a:r>
            <a:endParaRPr lang="en-US" sz="1050" dirty="0"/>
          </a:p>
        </p:txBody>
      </p:sp>
      <p:sp>
        <p:nvSpPr>
          <p:cNvPr id="21" name="node sub OpenClaw agent"/>
          <p:cNvSpPr txBox="1"/>
          <p:nvPr/>
        </p:nvSpPr>
        <p:spPr>
          <a:xfrm>
            <a:off x="1789176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reads state, proposes, repairs in a bounded budget</a:t>
            </a:r>
            <a:endParaRPr lang="en-US" sz="850" dirty="0"/>
          </a:p>
        </p:txBody>
      </p:sp>
      <p:sp>
        <p:nvSpPr>
          <p:cNvPr id="22" name="arrow"/>
          <p:cNvSpPr/>
          <p:nvPr/>
        </p:nvSpPr>
        <p:spPr>
          <a:xfrm>
            <a:off x="3102864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node Map to mode + biome"/>
          <p:cNvSpPr/>
          <p:nvPr/>
        </p:nvSpPr>
        <p:spPr>
          <a:xfrm>
            <a:off x="3267456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sysDash"/>
          </a:ln>
        </p:spPr>
      </p:sp>
      <p:sp>
        <p:nvSpPr>
          <p:cNvPr id="24" name="node title Map to mode + biome"/>
          <p:cNvSpPr txBox="1"/>
          <p:nvPr/>
        </p:nvSpPr>
        <p:spPr>
          <a:xfrm>
            <a:off x="3267456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Map to mode + biome</a:t>
            </a:r>
            <a:endParaRPr lang="en-US" sz="1050" dirty="0"/>
          </a:p>
        </p:txBody>
      </p:sp>
      <p:sp>
        <p:nvSpPr>
          <p:cNvPr id="25" name="node sub Map to mode + biome"/>
          <p:cNvSpPr txBox="1"/>
          <p:nvPr/>
        </p:nvSpPr>
        <p:spPr>
          <a:xfrm>
            <a:off x="3194304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closest of 5 modes, 5 biomes; parameters from the brief; named in the summary</a:t>
            </a:r>
            <a:endParaRPr lang="en-US" sz="850" dirty="0"/>
          </a:p>
        </p:txBody>
      </p:sp>
      <p:sp>
        <p:nvSpPr>
          <p:cNvPr id="26" name="arrow"/>
          <p:cNvSpPr/>
          <p:nvPr/>
        </p:nvSpPr>
        <p:spPr>
          <a:xfrm>
            <a:off x="4507992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7" name="node Beetle tools"/>
          <p:cNvSpPr/>
          <p:nvPr/>
        </p:nvSpPr>
        <p:spPr>
          <a:xfrm>
            <a:off x="4672584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node title Beetle tools"/>
          <p:cNvSpPr txBox="1"/>
          <p:nvPr/>
        </p:nvSpPr>
        <p:spPr>
          <a:xfrm>
            <a:off x="4672584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Beetle tools</a:t>
            </a:r>
            <a:endParaRPr lang="en-US" sz="1050" dirty="0"/>
          </a:p>
        </p:txBody>
      </p:sp>
      <p:sp>
        <p:nvSpPr>
          <p:cNvPr id="29" name="node sub Beetle tools"/>
          <p:cNvSpPr txBox="1"/>
          <p:nvPr/>
        </p:nvSpPr>
        <p:spPr>
          <a:xfrm>
            <a:off x="4599432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schema-checked JSON only, nothing executed</a:t>
            </a:r>
            <a:endParaRPr lang="en-US" sz="850" dirty="0"/>
          </a:p>
        </p:txBody>
      </p:sp>
      <p:sp>
        <p:nvSpPr>
          <p:cNvPr id="30" name="arrow"/>
          <p:cNvSpPr/>
          <p:nvPr/>
        </p:nvSpPr>
        <p:spPr>
          <a:xfrm>
            <a:off x="5913120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node Server validator and commit"/>
          <p:cNvSpPr/>
          <p:nvPr/>
        </p:nvSpPr>
        <p:spPr>
          <a:xfrm>
            <a:off x="6077712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node title Server validator and commit"/>
          <p:cNvSpPr txBox="1"/>
          <p:nvPr/>
        </p:nvSpPr>
        <p:spPr>
          <a:xfrm>
            <a:off x="6077712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bg1"/>
                </a:solidFill>
              </a:rPr>
              <a:t>Server validator and commit</a:t>
            </a:r>
            <a:endParaRPr lang="en-US" sz="1050" dirty="0"/>
          </a:p>
        </p:txBody>
      </p:sp>
      <p:sp>
        <p:nvSpPr>
          <p:cNvPr id="33" name="node sub Server validator and commit"/>
          <p:cNvSpPr txBox="1"/>
          <p:nvPr/>
        </p:nvSpPr>
        <p:spPr>
          <a:xfrm>
            <a:off x="6004560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deterministic game code, server-issued proof</a:t>
            </a:r>
            <a:endParaRPr lang="en-US" sz="850" dirty="0"/>
          </a:p>
        </p:txBody>
      </p:sp>
      <p:sp>
        <p:nvSpPr>
          <p:cNvPr id="34" name="arrow"/>
          <p:cNvSpPr/>
          <p:nvPr/>
        </p:nvSpPr>
        <p:spPr>
          <a:xfrm>
            <a:off x="7318248" y="1508760"/>
            <a:ext cx="128016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5" name="node Players"/>
          <p:cNvSpPr/>
          <p:nvPr/>
        </p:nvSpPr>
        <p:spPr>
          <a:xfrm>
            <a:off x="7482840" y="1188720"/>
            <a:ext cx="1203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node title Players"/>
          <p:cNvSpPr txBox="1"/>
          <p:nvPr/>
        </p:nvSpPr>
        <p:spPr>
          <a:xfrm>
            <a:off x="7482840" y="1188720"/>
            <a:ext cx="1203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Players</a:t>
            </a:r>
            <a:endParaRPr lang="en-US" sz="1050" dirty="0"/>
          </a:p>
        </p:txBody>
      </p:sp>
      <p:sp>
        <p:nvSpPr>
          <p:cNvPr id="37" name="node sub Players"/>
          <p:cNvSpPr txBox="1"/>
          <p:nvPr/>
        </p:nvSpPr>
        <p:spPr>
          <a:xfrm>
            <a:off x="7409688" y="1883664"/>
            <a:ext cx="1350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same session, same progress, new version</a:t>
            </a:r>
            <a:endParaRPr lang="en-US" sz="850" dirty="0"/>
          </a:p>
        </p:txBody>
      </p:sp>
      <p:sp>
        <p:nvSpPr>
          <p:cNvPr id="38" name="loop down"/>
          <p:cNvSpPr/>
          <p:nvPr/>
        </p:nvSpPr>
        <p:spPr>
          <a:xfrm>
            <a:off x="6679692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39" name="loop across"/>
          <p:cNvSpPr/>
          <p:nvPr/>
        </p:nvSpPr>
        <p:spPr>
          <a:xfrm>
            <a:off x="2464308" y="2651760"/>
            <a:ext cx="4215384" cy="914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40" name="arrow"/>
          <p:cNvSpPr/>
          <p:nvPr/>
        </p:nvSpPr>
        <p:spPr>
          <a:xfrm flipV="1">
            <a:off x="2464308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loop caption"/>
          <p:cNvSpPr txBox="1"/>
          <p:nvPr/>
        </p:nvSpPr>
        <p:spPr>
          <a:xfrm>
            <a:off x="2601468" y="2697480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1"/>
                </a:solidFill>
              </a:rPr>
              <a:t>validation issues (including MODE_INVALID) go back for repair, at most 2 attempts, then the request fails honestly</a:t>
            </a:r>
            <a:endParaRPr lang="en-US" sz="900" dirty="0"/>
          </a:p>
        </p:txBody>
      </p:sp>
      <p:sp>
        <p:nvSpPr>
          <p:cNvPr id="42" name="state card"/>
          <p:cNvSpPr/>
          <p:nvPr/>
        </p:nvSpPr>
        <p:spPr>
          <a:xfrm>
            <a:off x="45720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3" name="label TWO KINDS OF STATE"/>
          <p:cNvSpPr txBox="1"/>
          <p:nvPr/>
        </p:nvSpPr>
        <p:spPr>
          <a:xfrm>
            <a:off x="64008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TWO KINDS OF STATE</a:t>
            </a:r>
            <a:endParaRPr lang="en-US" sz="1000" dirty="0"/>
          </a:p>
        </p:txBody>
      </p:sp>
      <p:sp>
        <p:nvSpPr>
          <p:cNvPr id="44" name="state bullets"/>
          <p:cNvSpPr txBox="1"/>
          <p:nvPr/>
        </p:nvSpPr>
        <p:spPr>
          <a:xfrm>
            <a:off x="64008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WorldSpec is structure, now with mode, biome, movement and hazard.rise. It changes only when a transaction commits, one version per commit.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SessionState is players, relics, score and the mode objective (timer, hold time, next checkpoint, hazard height). The simulation advances it; the agent never writes it.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Commit needs a server-issued proof.</a:t>
            </a:r>
            <a:endParaRPr lang="en-US" sz="1050" dirty="0"/>
          </a:p>
        </p:txBody>
      </p:sp>
      <p:sp>
        <p:nvSpPr>
          <p:cNvPr id="45" name="validation card"/>
          <p:cNvSpPr/>
          <p:nvPr/>
        </p:nvSpPr>
        <p:spPr>
          <a:xfrm>
            <a:off x="470916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6" name="label VALIDATION IS GAME CODE"/>
          <p:cNvSpPr txBox="1"/>
          <p:nvPr/>
        </p:nvSpPr>
        <p:spPr>
          <a:xfrm>
            <a:off x="489204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VALIDATION IS GAME CODE</a:t>
            </a:r>
            <a:endParaRPr lang="en-US" sz="1000" dirty="0"/>
          </a:p>
        </p:txBody>
      </p:sp>
      <p:sp>
        <p:nvSpPr>
          <p:cNvPr id="47" name="validation bullets"/>
          <p:cNvSpPr txBox="1"/>
          <p:nvPr/>
        </p:nvSpPr>
        <p:spPr>
          <a:xfrm>
            <a:off x="489204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Geometry, bridge sockets, walk field, reachability with the gate locked, occupied support at commit time.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MODE_INVALID: relics required above the count, a race with under 2 checkpoints, survival without a rising hazard, a timer outside 20 to 600 s.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The mode rule is engine code picked by an enum. An LLM saying valid is never approval. Output is schema-checked JSON only.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Measured local-first results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result card MODEL"/>
          <p:cNvSpPr/>
          <p:nvPr/>
        </p:nvSpPr>
        <p:spPr>
          <a:xfrm>
            <a:off x="457200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label MODEL"/>
          <p:cNvSpPr txBox="1"/>
          <p:nvPr/>
        </p:nvSpPr>
        <p:spPr>
          <a:xfrm>
            <a:off x="566928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MODEL</a:t>
            </a:r>
            <a:endParaRPr lang="en-US" sz="750" dirty="0"/>
          </a:p>
        </p:txBody>
      </p:sp>
      <p:sp>
        <p:nvSpPr>
          <p:cNvPr id="17" name="result value MODEL"/>
          <p:cNvSpPr txBox="1"/>
          <p:nvPr/>
        </p:nvSpPr>
        <p:spPr>
          <a:xfrm>
            <a:off x="566928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qwen3.5:4b, Q4_K_M</a:t>
            </a:r>
            <a:endParaRPr lang="en-US" sz="1100" dirty="0"/>
          </a:p>
        </p:txBody>
      </p:sp>
      <p:sp>
        <p:nvSpPr>
          <p:cNvPr id="18" name="result sub MODEL"/>
          <p:cNvSpPr txBox="1"/>
          <p:nvPr/>
        </p:nvSpPr>
        <p:spPr>
          <a:xfrm>
            <a:off x="566928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4.7B, 3.4 GB, Ollama 0.35.1 on loopback. qwen3.8:27b not benchmarked: pull failed once, second pull stopped. docs/MODEL_SELECTION.md</a:t>
            </a:r>
            <a:endParaRPr lang="en-US" sz="680" dirty="0"/>
          </a:p>
        </p:txBody>
      </p:sp>
      <p:sp>
        <p:nvSpPr>
          <p:cNvPr id="19" name="result card BRIEF, WARM, QUIET GPU"/>
          <p:cNvSpPr/>
          <p:nvPr/>
        </p:nvSpPr>
        <p:spPr>
          <a:xfrm>
            <a:off x="2542032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label BRIEF, WARM, QUIET GPU"/>
          <p:cNvSpPr txBox="1"/>
          <p:nvPr/>
        </p:nvSpPr>
        <p:spPr>
          <a:xfrm>
            <a:off x="2651760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BRIEF, WARM, QUIET GPU</a:t>
            </a:r>
            <a:endParaRPr lang="en-US" sz="750" dirty="0"/>
          </a:p>
        </p:txBody>
      </p:sp>
      <p:sp>
        <p:nvSpPr>
          <p:cNvPr id="21" name="result value BRIEF, WARM, QUIET GPU"/>
          <p:cNvSpPr txBox="1"/>
          <p:nvPr/>
        </p:nvSpPr>
        <p:spPr>
          <a:xfrm>
            <a:off x="2651760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26.2 / 26.5 / 27.7 s</a:t>
            </a:r>
            <a:endParaRPr lang="en-US" sz="1100" dirty="0"/>
          </a:p>
        </p:txBody>
      </p:sp>
      <p:sp>
        <p:nvSpPr>
          <p:cNvPr id="22" name="result sub BRIEF, WARM, QUIET GPU"/>
          <p:cNvSpPr txBox="1"/>
          <p:nvPr/>
        </p:nvSpPr>
        <p:spPr>
          <a:xfrm>
            <a:off x="2651760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min / p50 / max, 3 runs, first draft valid (bench-...1791049348895.json). 10 s target not met. 14 s once after normalization (RESULTS.md run 3); 33.4 s via OpenClaw.</a:t>
            </a:r>
            <a:endParaRPr lang="en-US" sz="680" dirty="0"/>
          </a:p>
        </p:txBody>
      </p:sp>
      <p:sp>
        <p:nvSpPr>
          <p:cNvPr id="23" name="result card MODE BRIEFS"/>
          <p:cNvSpPr/>
          <p:nvPr/>
        </p:nvSpPr>
        <p:spPr>
          <a:xfrm>
            <a:off x="4626864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label MODE BRIEFS"/>
          <p:cNvSpPr txBox="1"/>
          <p:nvPr/>
        </p:nvSpPr>
        <p:spPr>
          <a:xfrm>
            <a:off x="4736592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MODE BRIEFS</a:t>
            </a:r>
            <a:endParaRPr lang="en-US" sz="750" dirty="0"/>
          </a:p>
        </p:txBody>
      </p:sp>
      <p:sp>
        <p:nvSpPr>
          <p:cNvPr id="25" name="result value MODE BRIEFS"/>
          <p:cNvSpPr txBox="1"/>
          <p:nvPr/>
        </p:nvSpPr>
        <p:spPr>
          <a:xfrm>
            <a:off x="4736592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18 of 18 right mode</a:t>
            </a:r>
            <a:endParaRPr lang="en-US" sz="1100" dirty="0"/>
          </a:p>
        </p:txBody>
      </p:sp>
      <p:sp>
        <p:nvSpPr>
          <p:cNvPr id="26" name="result sub MODE BRIEFS"/>
          <p:cNvSpPr txBox="1"/>
          <p:nvPr/>
        </p:nvSpPr>
        <p:spPr>
          <a:xfrm>
            <a:off x="4736592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committed briefs 13.0 to 44.1 s; exact mode missed twice; 8 of 14 final-prompt attempts committed, failures all geometry; mode and biome edits 3.0 s (RESULTS.md 'Game modes from one prompt', direct).</a:t>
            </a:r>
            <a:endParaRPr lang="en-US" sz="680" dirty="0"/>
          </a:p>
        </p:txBody>
      </p:sp>
      <p:sp>
        <p:nvSpPr>
          <p:cNvPr id="27" name="result card COLD / CONTENDED GPU"/>
          <p:cNvSpPr/>
          <p:nvPr/>
        </p:nvSpPr>
        <p:spPr>
          <a:xfrm>
            <a:off x="6711696" y="1115568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label COLD / CONTENDED GPU"/>
          <p:cNvSpPr txBox="1"/>
          <p:nvPr/>
        </p:nvSpPr>
        <p:spPr>
          <a:xfrm>
            <a:off x="6821424" y="1179576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COLD / CONTENDED GPU</a:t>
            </a:r>
            <a:endParaRPr lang="en-US" sz="750" dirty="0"/>
          </a:p>
        </p:txBody>
      </p:sp>
      <p:sp>
        <p:nvSpPr>
          <p:cNvPr id="29" name="result value COLD / CONTENDED GPU"/>
          <p:cNvSpPr txBox="1"/>
          <p:nvPr/>
        </p:nvSpPr>
        <p:spPr>
          <a:xfrm>
            <a:off x="6821424" y="1344168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23.1 s load; 58 to 214 s</a:t>
            </a:r>
            <a:endParaRPr lang="en-US" sz="1100" dirty="0"/>
          </a:p>
        </p:txBody>
      </p:sp>
      <p:sp>
        <p:nvSpPr>
          <p:cNvPr id="30" name="result sub COLD / CONTENDED GPU"/>
          <p:cNvSpPr txBox="1"/>
          <p:nvPr/>
        </p:nvSpPr>
        <p:spPr>
          <a:xfrm>
            <a:off x="6821424" y="1618488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cold: 23.1 s load in a 54.4 s first draft (probe-run.log). Contended drafts 58.8 to 214.1 s, one edit 45.1 s (bench-...1791050596040.json).</a:t>
            </a:r>
            <a:endParaRPr lang="en-US" sz="680" dirty="0"/>
          </a:p>
        </p:txBody>
      </p:sp>
      <p:sp>
        <p:nvSpPr>
          <p:cNvPr id="31" name="result card EDIT TO COMMIT"/>
          <p:cNvSpPr/>
          <p:nvPr/>
        </p:nvSpPr>
        <p:spPr>
          <a:xfrm>
            <a:off x="457200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label EDIT TO COMMIT"/>
          <p:cNvSpPr txBox="1"/>
          <p:nvPr/>
        </p:nvSpPr>
        <p:spPr>
          <a:xfrm>
            <a:off x="566928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EDIT TO COMMIT</a:t>
            </a:r>
            <a:endParaRPr lang="en-US" sz="750" dirty="0"/>
          </a:p>
        </p:txBody>
      </p:sp>
      <p:sp>
        <p:nvSpPr>
          <p:cNvPr id="33" name="result value EDIT TO COMMIT"/>
          <p:cNvSpPr txBox="1"/>
          <p:nvPr/>
        </p:nvSpPr>
        <p:spPr>
          <a:xfrm>
            <a:off x="566928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2.0 / 8.0 / 14.0 s</a:t>
            </a:r>
            <a:endParaRPr lang="en-US" sz="1100" dirty="0"/>
          </a:p>
        </p:txBody>
      </p:sp>
      <p:sp>
        <p:nvSpPr>
          <p:cNvPr id="34" name="result sub EDIT TO COMMIT"/>
          <p:cNvSpPr txBox="1"/>
          <p:nvPr/>
        </p:nvSpPr>
        <p:spPr>
          <a:xfrm>
            <a:off x="566928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min / p50 / max, 6 edits, 5 of 6 committed; run 3 after normalization, quiet GPU, direct (run-1791052136845.json). Run 2 before: 2 of 6.</a:t>
            </a:r>
            <a:endParaRPr lang="en-US" sz="680" dirty="0"/>
          </a:p>
        </p:txBody>
      </p:sp>
      <p:sp>
        <p:nvSpPr>
          <p:cNvPr id="35" name="result card EDIT WHILE 2 PLAY"/>
          <p:cNvSpPr/>
          <p:nvPr/>
        </p:nvSpPr>
        <p:spPr>
          <a:xfrm>
            <a:off x="2542032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label EDIT WHILE 2 PLAY"/>
          <p:cNvSpPr txBox="1"/>
          <p:nvPr/>
        </p:nvSpPr>
        <p:spPr>
          <a:xfrm>
            <a:off x="2651760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EDIT WHILE 2 PLAY</a:t>
            </a:r>
            <a:endParaRPr lang="en-US" sz="750" dirty="0"/>
          </a:p>
        </p:txBody>
      </p:sp>
      <p:sp>
        <p:nvSpPr>
          <p:cNvPr id="37" name="result value EDIT WHILE 2 PLAY"/>
          <p:cNvSpPr txBox="1"/>
          <p:nvPr/>
        </p:nvSpPr>
        <p:spPr>
          <a:xfrm>
            <a:off x="2651760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8.0 s, 15 of 15</a:t>
            </a:r>
            <a:endParaRPr lang="en-US" sz="1100" dirty="0"/>
          </a:p>
        </p:txBody>
      </p:sp>
      <p:sp>
        <p:nvSpPr>
          <p:cNvPr id="38" name="result sub EDIT WHILE 2 PLAY"/>
          <p:cNvSpPr txBox="1"/>
          <p:nvPr/>
        </p:nvSpPr>
        <p:spPr>
          <a:xfrm>
            <a:off x="2651760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acceptance run 2: both controllers walking, lava + bridge committed, relic and score unchanged, sockets open, max tick gap 67 ms (ACCEPTANCE.md).</a:t>
            </a:r>
            <a:endParaRPr lang="en-US" sz="680" dirty="0"/>
          </a:p>
        </p:txBody>
      </p:sp>
      <p:sp>
        <p:nvSpPr>
          <p:cNvPr id="39" name="result card INVALID EDITS CAUGHT"/>
          <p:cNvSpPr/>
          <p:nvPr/>
        </p:nvSpPr>
        <p:spPr>
          <a:xfrm>
            <a:off x="4626864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label INVALID EDITS CAUGHT"/>
          <p:cNvSpPr txBox="1"/>
          <p:nvPr/>
        </p:nvSpPr>
        <p:spPr>
          <a:xfrm>
            <a:off x="4736592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INVALID EDITS CAUGHT</a:t>
            </a:r>
            <a:endParaRPr lang="en-US" sz="750" dirty="0"/>
          </a:p>
        </p:txBody>
      </p:sp>
      <p:sp>
        <p:nvSpPr>
          <p:cNvPr id="41" name="result value INVALID EDITS CAUGHT"/>
          <p:cNvSpPr txBox="1"/>
          <p:nvPr/>
        </p:nvSpPr>
        <p:spPr>
          <a:xfrm>
            <a:off x="4736592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6 of 12 refused</a:t>
            </a:r>
            <a:endParaRPr lang="en-US" sz="1100" dirty="0"/>
          </a:p>
        </p:txBody>
      </p:sp>
      <p:sp>
        <p:nvSpPr>
          <p:cNvPr id="42" name="result sub INVALID EDITS CAUGHT"/>
          <p:cNvSpPr txBox="1"/>
          <p:nvPr/>
        </p:nvSpPr>
        <p:spPr>
          <a:xfrm>
            <a:off x="4736592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runs 2 and 3 (RESULTS.md); repairs that then committed: 1; invalid worlds committed: 0. garden5: DISCONNECTED_GOAL refused 1.7 s, repaired and committed 3.0 s.</a:t>
            </a:r>
            <a:endParaRPr lang="en-US" sz="680" dirty="0"/>
          </a:p>
        </p:txBody>
      </p:sp>
      <p:sp>
        <p:nvSpPr>
          <p:cNvPr id="43" name="result card NORMALIZATION EFFECT"/>
          <p:cNvSpPr/>
          <p:nvPr/>
        </p:nvSpPr>
        <p:spPr>
          <a:xfrm>
            <a:off x="6711696" y="2157984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4" name="label NORMALIZATION EFFECT"/>
          <p:cNvSpPr txBox="1"/>
          <p:nvPr/>
        </p:nvSpPr>
        <p:spPr>
          <a:xfrm>
            <a:off x="6821424" y="2221992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NORMALIZATION EFFECT</a:t>
            </a:r>
            <a:endParaRPr lang="en-US" sz="750" dirty="0"/>
          </a:p>
        </p:txBody>
      </p:sp>
      <p:sp>
        <p:nvSpPr>
          <p:cNvPr id="45" name="result value NORMALIZATION EFFECT"/>
          <p:cNvSpPr txBox="1"/>
          <p:nvPr/>
        </p:nvSpPr>
        <p:spPr>
          <a:xfrm>
            <a:off x="6821424" y="2386584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 of 30 to 13 of 30</a:t>
            </a:r>
            <a:endParaRPr lang="en-US" sz="1100" dirty="0"/>
          </a:p>
        </p:txBody>
      </p:sp>
      <p:sp>
        <p:nvSpPr>
          <p:cNvPr id="46" name="result sub NORMALIZATION EFFECT"/>
          <p:cNvSpPr txBox="1"/>
          <p:nvPr/>
        </p:nvSpPr>
        <p:spPr>
          <a:xfrm>
            <a:off x="6821424" y="266090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corpus validity without vs with the deterministic normalizer (MODEL_FAILURE_MODES.md). Live edits committed: 2 of 6 to 5 of 6.</a:t>
            </a:r>
            <a:endParaRPr lang="en-US" sz="680" dirty="0"/>
          </a:p>
        </p:txBody>
      </p:sp>
      <p:sp>
        <p:nvSpPr>
          <p:cNvPr id="47" name="result card OPENCLAW LIVE"/>
          <p:cNvSpPr/>
          <p:nvPr/>
        </p:nvSpPr>
        <p:spPr>
          <a:xfrm>
            <a:off x="457200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8" name="label OPENCLAW LIVE"/>
          <p:cNvSpPr txBox="1"/>
          <p:nvPr/>
        </p:nvSpPr>
        <p:spPr>
          <a:xfrm>
            <a:off x="566928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OPENCLAW LIVE</a:t>
            </a:r>
            <a:endParaRPr lang="en-US" sz="750" dirty="0"/>
          </a:p>
        </p:txBody>
      </p:sp>
      <p:sp>
        <p:nvSpPr>
          <p:cNvPr id="49" name="result value OPENCLAW LIVE"/>
          <p:cNvSpPr txBox="1"/>
          <p:nvPr/>
        </p:nvSpPr>
        <p:spPr>
          <a:xfrm>
            <a:off x="566928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20.0 s edit, 33.4 s brief</a:t>
            </a:r>
            <a:endParaRPr lang="en-US" sz="1100" dirty="0"/>
          </a:p>
        </p:txBody>
      </p:sp>
      <p:sp>
        <p:nvSpPr>
          <p:cNvPr id="50" name="result sub OPENCLAW LIVE"/>
          <p:cNvSpPr txBox="1"/>
          <p:nvPr/>
        </p:nvSpPr>
        <p:spPr>
          <a:xfrm>
            <a:off x="566928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real tool calls, v2 at 13:43 CDT; brief to v1 at 14:08 CDT; gated test 38.9 s, 7 tool calls (RESULTS.md, BUILD_STATUS.md 17).</a:t>
            </a:r>
            <a:endParaRPr lang="en-US" sz="680" dirty="0"/>
          </a:p>
        </p:txBody>
      </p:sp>
      <p:sp>
        <p:nvSpPr>
          <p:cNvPr id="51" name="result card LATENCY, LOOPBACK"/>
          <p:cNvSpPr/>
          <p:nvPr/>
        </p:nvSpPr>
        <p:spPr>
          <a:xfrm>
            <a:off x="2542032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2" name="label LATENCY, LOOPBACK"/>
          <p:cNvSpPr txBox="1"/>
          <p:nvPr/>
        </p:nvSpPr>
        <p:spPr>
          <a:xfrm>
            <a:off x="2651760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LATENCY, LOOPBACK</a:t>
            </a:r>
            <a:endParaRPr lang="en-US" sz="750" dirty="0"/>
          </a:p>
        </p:txBody>
      </p:sp>
      <p:sp>
        <p:nvSpPr>
          <p:cNvPr id="53" name="result value LATENCY, LOOPBACK"/>
          <p:cNvSpPr txBox="1"/>
          <p:nvPr/>
        </p:nvSpPr>
        <p:spPr>
          <a:xfrm>
            <a:off x="2651760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0.48 ms RTT, 18.8 ms tick</a:t>
            </a:r>
            <a:endParaRPr lang="en-US" sz="1100" dirty="0"/>
          </a:p>
        </p:txBody>
      </p:sp>
      <p:sp>
        <p:nvSpPr>
          <p:cNvPr id="54" name="result sub LATENCY, LOOPBACK"/>
          <p:cNvSpPr txBox="1"/>
          <p:nvPr/>
        </p:nvSpPr>
        <p:spPr>
          <a:xfrm>
            <a:off x="2651760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p50, scripted controllers (p95 0.81 and 33.1 ms; LATENCY.md). Not input to photon: no phone, Wi-Fi, browser or display.</a:t>
            </a:r>
            <a:endParaRPr lang="en-US" sz="680" dirty="0"/>
          </a:p>
        </p:txBody>
      </p:sp>
      <p:sp>
        <p:nvSpPr>
          <p:cNvPr id="55" name="result card PHONES"/>
          <p:cNvSpPr/>
          <p:nvPr/>
        </p:nvSpPr>
        <p:spPr>
          <a:xfrm>
            <a:off x="4626864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6" name="label PHONES"/>
          <p:cNvSpPr txBox="1"/>
          <p:nvPr/>
        </p:nvSpPr>
        <p:spPr>
          <a:xfrm>
            <a:off x="4736592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PHONES</a:t>
            </a:r>
            <a:endParaRPr lang="en-US" sz="750" dirty="0"/>
          </a:p>
        </p:txBody>
      </p:sp>
      <p:sp>
        <p:nvSpPr>
          <p:cNvPr id="57" name="result value PHONES"/>
          <p:cNvSpPr txBox="1"/>
          <p:nvPr/>
        </p:nvSpPr>
        <p:spPr>
          <a:xfrm>
            <a:off x="4736592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not yet with devices</a:t>
            </a:r>
            <a:endParaRPr lang="en-US" sz="1100" dirty="0"/>
          </a:p>
        </p:txBody>
      </p:sp>
      <p:sp>
        <p:nvSpPr>
          <p:cNvPr id="58" name="result sub PHONES"/>
          <p:cNvSpPr txBox="1"/>
          <p:nvPr/>
        </p:nvSpPr>
        <p:spPr>
          <a:xfrm>
            <a:off x="4736592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controller page under mobile emulation and 23 integration tests with real sockets pass (BUILD_STATUS.md 12); no physical phone joined today.</a:t>
            </a:r>
            <a:endParaRPr lang="en-US" sz="680" dirty="0"/>
          </a:p>
        </p:txBody>
      </p:sp>
      <p:sp>
        <p:nvSpPr>
          <p:cNvPr id="59" name="result card OFFLINE PROOF"/>
          <p:cNvSpPr/>
          <p:nvPr/>
        </p:nvSpPr>
        <p:spPr>
          <a:xfrm>
            <a:off x="6711696" y="3200400"/>
            <a:ext cx="1975104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60" name="label OFFLINE PROOF"/>
          <p:cNvSpPr txBox="1"/>
          <p:nvPr/>
        </p:nvSpPr>
        <p:spPr>
          <a:xfrm>
            <a:off x="6821424" y="326440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chemeClr val="accent1"/>
                </a:solidFill>
              </a:rPr>
              <a:t>OFFLINE PROOF</a:t>
            </a:r>
            <a:endParaRPr lang="en-US" sz="750" dirty="0"/>
          </a:p>
        </p:txBody>
      </p:sp>
      <p:sp>
        <p:nvSpPr>
          <p:cNvPr id="61" name="result value OFFLINE PROOF"/>
          <p:cNvSpPr txBox="1"/>
          <p:nvPr/>
        </p:nvSpPr>
        <p:spPr>
          <a:xfrm>
            <a:off x="6821424" y="3429000"/>
            <a:ext cx="1755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not run</a:t>
            </a:r>
            <a:endParaRPr lang="en-US" sz="1100" dirty="0"/>
          </a:p>
        </p:txBody>
      </p:sp>
      <p:sp>
        <p:nvSpPr>
          <p:cNvPr id="62" name="result sub OFFLINE PROOF"/>
          <p:cNvSpPr txBox="1"/>
          <p:nvPr/>
        </p:nvSpPr>
        <p:spPr>
          <a:xfrm>
            <a:off x="6821424" y="370332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chemeClr val="tx2"/>
                </a:solidFill>
              </a:rPr>
              <a:t>only a before record exists (offline-proof/1791049273707.json: egress not blocked, server not up). Procedure: docs/OFFLINE_PROOF.md. Nothing claimed.</a:t>
            </a:r>
            <a:endParaRPr lang="en-US" sz="680" dirty="0"/>
          </a:p>
        </p:txBody>
      </p:sp>
      <p:sp>
        <p:nvSpPr>
          <p:cNvPr id="63" name="sources note"/>
          <p:cNvSpPr txBox="1"/>
          <p:nvPr/>
        </p:nvSpPr>
        <p:spPr>
          <a:xfrm>
            <a:off x="457200" y="426110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chemeClr val="tx2"/>
                </a:solidFill>
              </a:rPr>
              <a:t>Direct-harness timings are labelled [direct] in every report; OpenClaw timings are from the real server after the Ollama daemon restart at 13:43 CDT. Each card names its GPU state because the daemon was shared for most of the day. Mode briefs were measured at 14:25 to 14:42 CDT in direct mode with no controllers connected (docs/RESULTS.md).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Business hypothesis and next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column HYPOTHESIS"/>
          <p:cNvSpPr/>
          <p:nvPr/>
        </p:nvSpPr>
        <p:spPr>
          <a:xfrm>
            <a:off x="45720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column label HYPOTHESIS"/>
          <p:cNvSpPr txBox="1"/>
          <p:nvPr/>
        </p:nvSpPr>
        <p:spPr>
          <a:xfrm>
            <a:off x="64008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HYPOTHESIS</a:t>
            </a:r>
            <a:endParaRPr lang="en-US" sz="1100" dirty="0"/>
          </a:p>
        </p:txBody>
      </p:sp>
      <p:sp>
        <p:nvSpPr>
          <p:cNvPr id="17" name="column body HYPOTHESIS"/>
          <p:cNvSpPr txBox="1"/>
          <p:nvPr/>
        </p:nvSpPr>
        <p:spPr>
          <a:xfrm>
            <a:off x="64008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Studios will pay for faster prototype iteration that keeps playtests running.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Their data stays on their machines, which matters to studios with unreleased IP.</a:t>
            </a:r>
            <a:endParaRPr lang="en-US" sz="1250" dirty="0"/>
          </a:p>
        </p:txBody>
      </p:sp>
      <p:sp>
        <p:nvSpPr>
          <p:cNvPr id="18" name="column NOT CLAIMED"/>
          <p:cNvSpPr/>
          <p:nvPr/>
        </p:nvSpPr>
        <p:spPr>
          <a:xfrm>
            <a:off x="324612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column label NOT CLAIMED"/>
          <p:cNvSpPr txBox="1"/>
          <p:nvPr/>
        </p:nvSpPr>
        <p:spPr>
          <a:xfrm>
            <a:off x="342900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NOT CLAIMED</a:t>
            </a:r>
            <a:endParaRPr lang="en-US" sz="1100" dirty="0"/>
          </a:p>
        </p:txBody>
      </p:sp>
      <p:sp>
        <p:nvSpPr>
          <p:cNvPr id="20" name="column body NOT CLAIMED"/>
          <p:cNvSpPr txBox="1"/>
          <p:nvPr/>
        </p:nvSpPr>
        <p:spPr>
          <a:xfrm>
            <a:off x="342900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Market size.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Pricing.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Customer traction.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Speed-up percentages without a measured baseline.</a:t>
            </a:r>
            <a:endParaRPr lang="en-US" sz="1250" dirty="0"/>
          </a:p>
        </p:txBody>
      </p:sp>
      <p:sp>
        <p:nvSpPr>
          <p:cNvPr id="21" name="column NEXT VALIDATION"/>
          <p:cNvSpPr/>
          <p:nvPr/>
        </p:nvSpPr>
        <p:spPr>
          <a:xfrm>
            <a:off x="603504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column label NEXT VALIDATION"/>
          <p:cNvSpPr txBox="1"/>
          <p:nvPr/>
        </p:nvSpPr>
        <p:spPr>
          <a:xfrm>
            <a:off x="62179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NEXT VALIDATION</a:t>
            </a:r>
            <a:endParaRPr lang="en-US" sz="1100" dirty="0"/>
          </a:p>
        </p:txBody>
      </p:sp>
      <p:sp>
        <p:nvSpPr>
          <p:cNvPr id="23" name="column body NEXT VALIDATION"/>
          <p:cNvSpPr txBox="1"/>
          <p:nvPr/>
        </p:nvSpPr>
        <p:spPr>
          <a:xfrm>
            <a:off x="621792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a conventional edit-rebuild-regather loop with the same designers and the same change list.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Compare it against Beetle's measured edit-to-commit times.</a:t>
            </a:r>
            <a:endParaRPr lang="en-US" sz="1250" dirty="0"/>
          </a:p>
        </p:txBody>
      </p:sp>
      <p:sp>
        <p:nvSpPr>
          <p:cNvPr id="24" name="beetle leg"/>
          <p:cNvSpPr/>
          <p:nvPr/>
        </p:nvSpPr>
        <p:spPr>
          <a:xfrm flipH="1" flipV="1">
            <a:off x="483123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5" name="beetle leg"/>
          <p:cNvSpPr/>
          <p:nvPr/>
        </p:nvSpPr>
        <p:spPr>
          <a:xfrm flipH="1">
            <a:off x="449382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6" name="beetle leg"/>
          <p:cNvSpPr/>
          <p:nvPr/>
        </p:nvSpPr>
        <p:spPr>
          <a:xfrm flipH="1">
            <a:off x="475470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7" name="beetle leg"/>
          <p:cNvSpPr/>
          <p:nvPr/>
        </p:nvSpPr>
        <p:spPr>
          <a:xfrm flipV="1">
            <a:off x="752231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8" name="beetle leg"/>
          <p:cNvSpPr/>
          <p:nvPr/>
        </p:nvSpPr>
        <p:spPr>
          <a:xfrm>
            <a:off x="777743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9" name="beetle leg"/>
          <p:cNvSpPr/>
          <p:nvPr/>
        </p:nvSpPr>
        <p:spPr>
          <a:xfrm>
            <a:off x="759885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0" name="beetle antenna"/>
          <p:cNvSpPr/>
          <p:nvPr/>
        </p:nvSpPr>
        <p:spPr>
          <a:xfrm flipV="1">
            <a:off x="543611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1" name="beetle antenna"/>
          <p:cNvSpPr/>
          <p:nvPr/>
        </p:nvSpPr>
        <p:spPr>
          <a:xfrm>
            <a:off x="716432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2" name="beetle head"/>
          <p:cNvSpPr/>
          <p:nvPr/>
        </p:nvSpPr>
        <p:spPr>
          <a:xfrm>
            <a:off x="601218" y="4239158"/>
            <a:ext cx="123444" cy="9875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3" name="beetle body"/>
          <p:cNvSpPr/>
          <p:nvPr/>
        </p:nvSpPr>
        <p:spPr>
          <a:xfrm>
            <a:off x="535381" y="4313225"/>
            <a:ext cx="255118" cy="29626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4" name="beetle split"/>
          <p:cNvSpPr/>
          <p:nvPr/>
        </p:nvSpPr>
        <p:spPr>
          <a:xfrm>
            <a:off x="662940" y="4348777"/>
            <a:ext cx="914" cy="2370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35" name="wordmark"/>
          <p:cNvSpPr txBox="1"/>
          <p:nvPr/>
        </p:nvSpPr>
        <p:spPr>
          <a:xfrm>
            <a:off x="941832" y="420624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36" name="closing line"/>
          <p:cNvSpPr txBox="1"/>
          <p:nvPr/>
        </p:nvSpPr>
        <p:spPr>
          <a:xfrm>
            <a:off x="2651760" y="4206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Change the game without stopping the game.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etle Deep Garden">
  <a:themeElements>
    <a:clrScheme name="Beetle Deep Garden">
      <a:dk1>
        <a:srgbClr val="EDE7DB"/>
      </a:dk1>
      <a:lt1>
        <a:srgbClr val="0E3534"/>
      </a:lt1>
      <a:dk2>
        <a:srgbClr val="BDB3A2"/>
      </a:dk2>
      <a:lt2>
        <a:srgbClr val="1B4A48"/>
      </a:lt2>
      <a:accent1>
        <a:srgbClr val="E8A33D"/>
      </a:accent1>
      <a:accent2>
        <a:srgbClr val="D8402B"/>
      </a:accent2>
      <a:accent3>
        <a:srgbClr val="7FB5B1"/>
      </a:accent3>
      <a:accent4>
        <a:srgbClr val="2E6B68"/>
      </a:accent4>
      <a:accent5>
        <a:srgbClr val="3F8582"/>
      </a:accent5>
      <a:accent6>
        <a:srgbClr val="C9A15A"/>
      </a:accent6>
      <a:hlink>
        <a:srgbClr val="E8A33D"/>
      </a:hlink>
      <a:folHlink>
        <a:srgbClr val="7FB5B1"/>
      </a:folHlink>
    </a:clrScheme>
    <a:fontScheme name="Beetle Deep Gard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Beetle pitch</dc:title>
  <dc:subject>PptxGenJS Presentation</dc:subject>
  <dc:creator>Beetle team</dc:creator>
  <cp:lastModifiedBy>Beetle team</cp:lastModifiedBy>
  <cp:revision>1</cp:revision>
  <dcterms:created xsi:type="dcterms:W3CDTF">2026-10-03T19:48:48Z</dcterms:created>
  <dcterms:modified xsi:type="dcterms:W3CDTF">2026-10-03T19:48:48Z</dcterms:modified>
</cp:coreProperties>
</file>