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etle pitch" id="{298fa67b-bd4d-4905-6626-094fe9ffba75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user is a technical designer at a small studio. Each stop-edit-rebuild-regather cycle throws away the live playtest. Beetle's promise is to change the game without stopping the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six steps left to right, then land on the stance: one machine, one local model, one real OpenClaw runtime, zero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the recording here. Captions follow the storyboard; shots that cannot be produced honestly are cut, not faked.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to right: director, OpenClaw agent, Beetle tools, server validator and commit, players. Only the server decides validity; the model only proposes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measured numbers from the filled cards. If a card is still bracketed, say that the measurement is pending rather than guessing.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hypothesis, say plainly what we do not claim, and name the one comparison that would test it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E35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Slide title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Beetle. Local-first prototyping teammate for small game studios.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Every edit stops the playtest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label THE USER"/>
          <p:cNvSpPr txBox="1"/>
          <p:nvPr/>
        </p:nvSpPr>
        <p:spPr>
          <a:xfrm>
            <a:off x="45720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THE USER</a:t>
            </a:r>
            <a:endParaRPr lang="en-US" sz="1000" dirty="0"/>
          </a:p>
        </p:txBody>
      </p:sp>
      <p:sp>
        <p:nvSpPr>
          <p:cNvPr id="16" name="body text"/>
          <p:cNvSpPr txBox="1"/>
          <p:nvPr/>
        </p:nvSpPr>
        <p:spPr>
          <a:xfrm>
            <a:off x="457200" y="14447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Technical designers at small studios iterate on playable prototypes with real playtesters in the room.</a:t>
            </a:r>
            <a:endParaRPr lang="en-US" sz="1300" dirty="0"/>
          </a:p>
        </p:txBody>
      </p:sp>
      <p:sp>
        <p:nvSpPr>
          <p:cNvPr id="17" name="label THE COST"/>
          <p:cNvSpPr txBox="1"/>
          <p:nvPr/>
        </p:nvSpPr>
        <p:spPr>
          <a:xfrm>
            <a:off x="457200" y="224028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THE COST</a:t>
            </a:r>
            <a:endParaRPr lang="en-US" sz="1000" dirty="0"/>
          </a:p>
        </p:txBody>
      </p:sp>
      <p:sp>
        <p:nvSpPr>
          <p:cNvPr id="18" name="body text"/>
          <p:cNvSpPr txBox="1"/>
          <p:nvPr/>
        </p:nvSpPr>
        <p:spPr>
          <a:xfrm>
            <a:off x="457200" y="249631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stop costs the thing they are trying to observe: how people actually play.</a:t>
            </a:r>
            <a:endParaRPr lang="en-US" sz="1300" dirty="0"/>
          </a:p>
        </p:txBody>
      </p:sp>
      <p:sp>
        <p:nvSpPr>
          <p:cNvPr id="19" name="promise card"/>
          <p:cNvSpPr/>
          <p:nvPr/>
        </p:nvSpPr>
        <p:spPr>
          <a:xfrm>
            <a:off x="457200" y="333756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0" name="promise text"/>
          <p:cNvSpPr txBox="1"/>
          <p:nvPr/>
        </p:nvSpPr>
        <p:spPr>
          <a:xfrm>
            <a:off x="685800" y="3456432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spc="200" kern="0" dirty="0">
                <a:solidFill>
                  <a:schemeClr val="bg1"/>
                </a:solidFill>
              </a:rPr>
              <a:t>Beetle's promise</a:t>
            </a:r>
            <a:endParaRPr lang="en-US" sz="11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Change the game without stopping the game.</a:t>
            </a:r>
            <a:endParaRPr lang="en-US" sz="1100" dirty="0"/>
          </a:p>
        </p:txBody>
      </p:sp>
      <p:sp>
        <p:nvSpPr>
          <p:cNvPr id="21" name="label TODAY&amp;apos;S LOOP"/>
          <p:cNvSpPr txBox="1"/>
          <p:nvPr/>
        </p:nvSpPr>
        <p:spPr>
          <a:xfrm>
            <a:off x="5029200" y="1188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TODAY'S LOOP</a:t>
            </a:r>
            <a:endParaRPr lang="en-US" sz="1000" dirty="0"/>
          </a:p>
        </p:txBody>
      </p:sp>
      <p:sp>
        <p:nvSpPr>
          <p:cNvPr id="22" name="loop chip Stop the session"/>
          <p:cNvSpPr/>
          <p:nvPr/>
        </p:nvSpPr>
        <p:spPr>
          <a:xfrm>
            <a:off x="5029200" y="1508760"/>
            <a:ext cx="1508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3" name="loop chip text Stop the session"/>
          <p:cNvSpPr txBox="1"/>
          <p:nvPr/>
        </p:nvSpPr>
        <p:spPr>
          <a:xfrm>
            <a:off x="5029200" y="1508760"/>
            <a:ext cx="15087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Stop the session</a:t>
            </a:r>
            <a:endParaRPr lang="en-US" sz="1200" dirty="0"/>
          </a:p>
        </p:txBody>
      </p:sp>
      <p:sp>
        <p:nvSpPr>
          <p:cNvPr id="24" name="loop chip Edit the prototype"/>
          <p:cNvSpPr/>
          <p:nvPr/>
        </p:nvSpPr>
        <p:spPr>
          <a:xfrm>
            <a:off x="7315200" y="1508760"/>
            <a:ext cx="15087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5" name="loop chip text Edit the prototype"/>
          <p:cNvSpPr txBox="1"/>
          <p:nvPr/>
        </p:nvSpPr>
        <p:spPr>
          <a:xfrm>
            <a:off x="7315200" y="1508760"/>
            <a:ext cx="15087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Edit the prototype</a:t>
            </a:r>
            <a:endParaRPr lang="en-US" sz="1200" dirty="0"/>
          </a:p>
        </p:txBody>
      </p:sp>
      <p:sp>
        <p:nvSpPr>
          <p:cNvPr id="26" name="loop chip Rebuild"/>
          <p:cNvSpPr/>
          <p:nvPr/>
        </p:nvSpPr>
        <p:spPr>
          <a:xfrm>
            <a:off x="7315200" y="2990088"/>
            <a:ext cx="15087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7" name="loop chip text Rebuild"/>
          <p:cNvSpPr txBox="1"/>
          <p:nvPr/>
        </p:nvSpPr>
        <p:spPr>
          <a:xfrm>
            <a:off x="7315200" y="2990088"/>
            <a:ext cx="15087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Rebuild</a:t>
            </a:r>
            <a:endParaRPr lang="en-US" sz="1200" dirty="0"/>
          </a:p>
        </p:txBody>
      </p:sp>
      <p:sp>
        <p:nvSpPr>
          <p:cNvPr id="28" name="loop chip Re-gather playtesters"/>
          <p:cNvSpPr/>
          <p:nvPr/>
        </p:nvSpPr>
        <p:spPr>
          <a:xfrm>
            <a:off x="5029200" y="2990088"/>
            <a:ext cx="15087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9" name="loop chip text Re-gather playtesters"/>
          <p:cNvSpPr txBox="1"/>
          <p:nvPr/>
        </p:nvSpPr>
        <p:spPr>
          <a:xfrm>
            <a:off x="5029200" y="2990088"/>
            <a:ext cx="15087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Re-gather playtesters</a:t>
            </a:r>
            <a:endParaRPr lang="en-US" sz="1200" dirty="0"/>
          </a:p>
        </p:txBody>
      </p:sp>
      <p:sp>
        <p:nvSpPr>
          <p:cNvPr id="30" name="arrow"/>
          <p:cNvSpPr/>
          <p:nvPr/>
        </p:nvSpPr>
        <p:spPr>
          <a:xfrm>
            <a:off x="6611112" y="1792224"/>
            <a:ext cx="630936" cy="914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1" name="arrow"/>
          <p:cNvSpPr/>
          <p:nvPr/>
        </p:nvSpPr>
        <p:spPr>
          <a:xfrm>
            <a:off x="8069580" y="2148840"/>
            <a:ext cx="914" cy="768096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2" name="arrow"/>
          <p:cNvSpPr/>
          <p:nvPr/>
        </p:nvSpPr>
        <p:spPr>
          <a:xfrm flipH="1">
            <a:off x="6611112" y="3273552"/>
            <a:ext cx="630936" cy="914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3" name="arrow"/>
          <p:cNvSpPr/>
          <p:nvPr/>
        </p:nvSpPr>
        <p:spPr>
          <a:xfrm flipV="1">
            <a:off x="5783580" y="2148840"/>
            <a:ext cx="914" cy="768096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4" name="loop caption"/>
          <p:cNvSpPr txBox="1"/>
          <p:nvPr/>
        </p:nvSpPr>
        <p:spPr>
          <a:xfrm>
            <a:off x="5029200" y="37033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Each turn of the loop loses the live playtest you were trying to watch.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Beetle workflow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workflow spine"/>
          <p:cNvSpPr/>
          <p:nvPr/>
        </p:nvSpPr>
        <p:spPr>
          <a:xfrm>
            <a:off x="1051560" y="1965960"/>
            <a:ext cx="7040880" cy="91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6" name="step circle 1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step number 1"/>
          <p:cNvSpPr txBox="1"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8" name="step text 1"/>
          <p:cNvSpPr txBox="1"/>
          <p:nvPr/>
        </p:nvSpPr>
        <p:spPr>
          <a:xfrm>
            <a:off x="365760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Brief becomes a playable world</a:t>
            </a:r>
            <a:endParaRPr lang="en-US" sz="1200" dirty="0"/>
          </a:p>
        </p:txBody>
      </p:sp>
      <p:sp>
        <p:nvSpPr>
          <p:cNvPr id="19" name="step circle 2"/>
          <p:cNvSpPr/>
          <p:nvPr/>
        </p:nvSpPr>
        <p:spPr>
          <a:xfrm>
            <a:off x="2231136" y="17373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0" name="step number 2"/>
          <p:cNvSpPr txBox="1"/>
          <p:nvPr/>
        </p:nvSpPr>
        <p:spPr>
          <a:xfrm>
            <a:off x="223113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1" name="step text 2"/>
          <p:cNvSpPr txBox="1"/>
          <p:nvPr/>
        </p:nvSpPr>
        <p:spPr>
          <a:xfrm>
            <a:off x="1773936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Two phones join by QR</a:t>
            </a:r>
            <a:endParaRPr lang="en-US" sz="1200" dirty="0"/>
          </a:p>
        </p:txBody>
      </p:sp>
      <p:sp>
        <p:nvSpPr>
          <p:cNvPr id="22" name="step circle 3"/>
          <p:cNvSpPr/>
          <p:nvPr/>
        </p:nvSpPr>
        <p:spPr>
          <a:xfrm>
            <a:off x="3639312" y="17373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3" name="step number 3"/>
          <p:cNvSpPr txBox="1"/>
          <p:nvPr/>
        </p:nvSpPr>
        <p:spPr>
          <a:xfrm>
            <a:off x="363931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step text 3"/>
          <p:cNvSpPr txBox="1"/>
          <p:nvPr/>
        </p:nvSpPr>
        <p:spPr>
          <a:xfrm>
            <a:off x="3182112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Designer edits while people play</a:t>
            </a:r>
            <a:endParaRPr lang="en-US" sz="1200" dirty="0"/>
          </a:p>
        </p:txBody>
      </p:sp>
      <p:sp>
        <p:nvSpPr>
          <p:cNvPr id="25" name="step circle 4"/>
          <p:cNvSpPr/>
          <p:nvPr/>
        </p:nvSpPr>
        <p:spPr>
          <a:xfrm>
            <a:off x="5047488" y="17373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step number 4"/>
          <p:cNvSpPr txBox="1"/>
          <p:nvPr/>
        </p:nvSpPr>
        <p:spPr>
          <a:xfrm>
            <a:off x="504748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step text 4"/>
          <p:cNvSpPr txBox="1"/>
          <p:nvPr/>
        </p:nvSpPr>
        <p:spPr>
          <a:xfrm>
            <a:off x="4590288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Agent validates and repairs</a:t>
            </a:r>
            <a:endParaRPr lang="en-US" sz="1200" dirty="0"/>
          </a:p>
        </p:txBody>
      </p:sp>
      <p:sp>
        <p:nvSpPr>
          <p:cNvPr id="28" name="step circle 5"/>
          <p:cNvSpPr/>
          <p:nvPr/>
        </p:nvSpPr>
        <p:spPr>
          <a:xfrm>
            <a:off x="6455664" y="17373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9" name="step number 5"/>
          <p:cNvSpPr txBox="1"/>
          <p:nvPr/>
        </p:nvSpPr>
        <p:spPr>
          <a:xfrm>
            <a:off x="6455664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step text 5"/>
          <p:cNvSpPr txBox="1"/>
          <p:nvPr/>
        </p:nvSpPr>
        <p:spPr>
          <a:xfrm>
            <a:off x="5998464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New version lands, no reset</a:t>
            </a:r>
            <a:endParaRPr lang="en-US" sz="1200" dirty="0"/>
          </a:p>
        </p:txBody>
      </p:sp>
      <p:sp>
        <p:nvSpPr>
          <p:cNvPr id="31" name="step circle 6"/>
          <p:cNvSpPr/>
          <p:nvPr/>
        </p:nvSpPr>
        <p:spPr>
          <a:xfrm>
            <a:off x="7863840" y="17373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2" name="step number 6"/>
          <p:cNvSpPr txBox="1"/>
          <p:nvPr/>
        </p:nvSpPr>
        <p:spPr>
          <a:xfrm>
            <a:off x="78638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3" name="step text 6"/>
          <p:cNvSpPr txBox="1"/>
          <p:nvPr/>
        </p:nvSpPr>
        <p:spPr>
          <a:xfrm>
            <a:off x="7406640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Version report</a:t>
            </a:r>
            <a:endParaRPr lang="en-US" sz="1200" dirty="0"/>
          </a:p>
        </p:txBody>
      </p:sp>
      <p:sp>
        <p:nvSpPr>
          <p:cNvPr id="34" name="label WHAT IT RUNS ON"/>
          <p:cNvSpPr txBox="1"/>
          <p:nvPr/>
        </p:nvSpPr>
        <p:spPr>
          <a:xfrm>
            <a:off x="45720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WHAT IT RUNS ON</a:t>
            </a:r>
            <a:endParaRPr lang="en-US" sz="1000" dirty="0"/>
          </a:p>
        </p:txBody>
      </p:sp>
      <p:sp>
        <p:nvSpPr>
          <p:cNvPr id="35" name="chip One machine"/>
          <p:cNvSpPr/>
          <p:nvPr/>
        </p:nvSpPr>
        <p:spPr>
          <a:xfrm>
            <a:off x="457200" y="35661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6" name="chip text One machine"/>
          <p:cNvSpPr txBox="1"/>
          <p:nvPr/>
        </p:nvSpPr>
        <p:spPr>
          <a:xfrm>
            <a:off x="594360" y="356616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One machine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 single GB10 on the studio LAN</a:t>
            </a:r>
            <a:endParaRPr lang="en-US" sz="1300" dirty="0"/>
          </a:p>
        </p:txBody>
      </p:sp>
      <p:sp>
        <p:nvSpPr>
          <p:cNvPr id="37" name="chip One local model"/>
          <p:cNvSpPr/>
          <p:nvPr/>
        </p:nvSpPr>
        <p:spPr>
          <a:xfrm>
            <a:off x="2560320" y="35661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8" name="chip text One local model"/>
          <p:cNvSpPr txBox="1"/>
          <p:nvPr/>
        </p:nvSpPr>
        <p:spPr>
          <a:xfrm>
            <a:off x="2697480" y="356616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One local model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Ollama on loopback</a:t>
            </a:r>
            <a:endParaRPr lang="en-US" sz="1300" dirty="0"/>
          </a:p>
        </p:txBody>
      </p:sp>
      <p:sp>
        <p:nvSpPr>
          <p:cNvPr id="39" name="chip One real agent runtime"/>
          <p:cNvSpPr/>
          <p:nvPr/>
        </p:nvSpPr>
        <p:spPr>
          <a:xfrm>
            <a:off x="4663440" y="35661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0" name="chip text One real agent runtime"/>
          <p:cNvSpPr txBox="1"/>
          <p:nvPr/>
        </p:nvSpPr>
        <p:spPr>
          <a:xfrm>
            <a:off x="4800600" y="356616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One real agent runtime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OpenClaw with Beetle tools</a:t>
            </a:r>
            <a:endParaRPr lang="en-US" sz="1300" dirty="0"/>
          </a:p>
        </p:txBody>
      </p:sp>
      <p:sp>
        <p:nvSpPr>
          <p:cNvPr id="41" name="chip Zero cloud"/>
          <p:cNvSpPr/>
          <p:nvPr/>
        </p:nvSpPr>
        <p:spPr>
          <a:xfrm>
            <a:off x="6766560" y="35661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2" name="chip text Zero cloud"/>
          <p:cNvSpPr txBox="1"/>
          <p:nvPr/>
        </p:nvSpPr>
        <p:spPr>
          <a:xfrm>
            <a:off x="6903720" y="356616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Zero cloud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no fallback exists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working video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video placeholder frame"/>
          <p:cNvSpPr/>
          <p:nvPr/>
        </p:nvSpPr>
        <p:spPr>
          <a:xfrm>
            <a:off x="457200" y="1188720"/>
            <a:ext cx="4846320" cy="2726055"/>
          </a:xfrm>
          <a:prstGeom prst="roundRect">
            <a:avLst>
              <a:gd name="adj" fmla="val 2013"/>
            </a:avLst>
          </a:prstGeom>
          <a:solidFill>
            <a:schemeClr val="bg2"/>
          </a:solidFill>
          <a:ln w="19050">
            <a:solidFill>
              <a:schemeClr val="accent3"/>
            </a:solidFill>
            <a:prstDash val="dash"/>
          </a:ln>
        </p:spPr>
      </p:sp>
      <p:sp>
        <p:nvSpPr>
          <p:cNvPr id="16" name="play circle"/>
          <p:cNvSpPr/>
          <p:nvPr/>
        </p:nvSpPr>
        <p:spPr>
          <a:xfrm>
            <a:off x="2560320" y="2003107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play triangle"/>
          <p:cNvSpPr/>
          <p:nvPr/>
        </p:nvSpPr>
        <p:spPr>
          <a:xfrm rot="5400000">
            <a:off x="2761488" y="2176844"/>
            <a:ext cx="274320" cy="292608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8" name="video placeholder text"/>
          <p:cNvSpPr txBox="1"/>
          <p:nvPr/>
        </p:nvSpPr>
        <p:spPr>
          <a:xfrm>
            <a:off x="731520" y="2826067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[VIDEO PLACEHOLDER]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90 to 120 second demo recording, dropped in after rehearsal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Any time compression is labelled on screen</a:t>
            </a:r>
            <a:endParaRPr lang="en-US" sz="1400" dirty="0"/>
          </a:p>
        </p:txBody>
      </p:sp>
      <p:sp>
        <p:nvSpPr>
          <p:cNvPr id="19" name="video summary"/>
          <p:cNvSpPr txBox="1"/>
          <p:nvPr/>
        </p:nvSpPr>
        <p:spPr>
          <a:xfrm>
            <a:off x="457200" y="4051935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Fresh world, two phones, a live edit, preserved progress, a conflicting edit caught by the validator, the repaired version committed.</a:t>
            </a:r>
            <a:endParaRPr lang="en-US" sz="1100" dirty="0"/>
          </a:p>
        </p:txBody>
      </p:sp>
      <p:sp>
        <p:nvSpPr>
          <p:cNvPr id="20" name="label ON-SCREEN CAPTIONS"/>
          <p:cNvSpPr txBox="1"/>
          <p:nvPr/>
        </p:nvSpPr>
        <p:spPr>
          <a:xfrm>
            <a:off x="5577840" y="11887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ON-SCREEN CAPTIONS</a:t>
            </a:r>
            <a:endParaRPr lang="en-US" sz="1000" dirty="0"/>
          </a:p>
        </p:txBody>
      </p:sp>
      <p:sp>
        <p:nvSpPr>
          <p:cNvPr id="21" name="caption list"/>
          <p:cNvSpPr txBox="1"/>
          <p:nvPr/>
        </p:nvSpPr>
        <p:spPr>
          <a:xfrm>
            <a:off x="5577840" y="14630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0 to 6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Beetle. Change the game without stopping the game.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6 to 22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 local model composes the world. Validated by game code before it is published.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22 to 34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Two players join from their phones. Same screen, their phones only send controls.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34 to 58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Edits land live. No disconnect, no reset.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58 to 90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The validator refuses a world nobody can finish. The agent repairs it and commits only a passing version.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90 to 105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Measured on one GB10. Local model, local agent, no cloud.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105 to 115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Beetle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Agent architecture and validation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node Director"/>
          <p:cNvSpPr/>
          <p:nvPr/>
        </p:nvSpPr>
        <p:spPr>
          <a:xfrm>
            <a:off x="457200" y="1188720"/>
            <a:ext cx="137160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node title Director"/>
          <p:cNvSpPr txBox="1"/>
          <p:nvPr/>
        </p:nvSpPr>
        <p:spPr>
          <a:xfrm>
            <a:off x="457200" y="118872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Director</a:t>
            </a:r>
            <a:endParaRPr lang="en-US" sz="1150" dirty="0"/>
          </a:p>
        </p:txBody>
      </p:sp>
      <p:sp>
        <p:nvSpPr>
          <p:cNvPr id="17" name="node sub Director"/>
          <p:cNvSpPr txBox="1"/>
          <p:nvPr/>
        </p:nvSpPr>
        <p:spPr>
          <a:xfrm>
            <a:off x="365760" y="1901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brief or edit request</a:t>
            </a:r>
            <a:endParaRPr lang="en-US" sz="950" dirty="0"/>
          </a:p>
        </p:txBody>
      </p:sp>
      <p:sp>
        <p:nvSpPr>
          <p:cNvPr id="18" name="arrow"/>
          <p:cNvSpPr/>
          <p:nvPr/>
        </p:nvSpPr>
        <p:spPr>
          <a:xfrm>
            <a:off x="1874520" y="1508760"/>
            <a:ext cx="251460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9" name="node OpenClaw agent"/>
          <p:cNvSpPr/>
          <p:nvPr/>
        </p:nvSpPr>
        <p:spPr>
          <a:xfrm>
            <a:off x="2171700" y="1188720"/>
            <a:ext cx="137160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node title OpenClaw agent"/>
          <p:cNvSpPr txBox="1"/>
          <p:nvPr/>
        </p:nvSpPr>
        <p:spPr>
          <a:xfrm>
            <a:off x="2171700" y="118872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OpenClaw agent</a:t>
            </a:r>
            <a:endParaRPr lang="en-US" sz="1150" dirty="0"/>
          </a:p>
        </p:txBody>
      </p:sp>
      <p:sp>
        <p:nvSpPr>
          <p:cNvPr id="21" name="node sub OpenClaw agent"/>
          <p:cNvSpPr txBox="1"/>
          <p:nvPr/>
        </p:nvSpPr>
        <p:spPr>
          <a:xfrm>
            <a:off x="2080260" y="1901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reads state, proposes, repairs in a bounded budget</a:t>
            </a:r>
            <a:endParaRPr lang="en-US" sz="950" dirty="0"/>
          </a:p>
        </p:txBody>
      </p:sp>
      <p:sp>
        <p:nvSpPr>
          <p:cNvPr id="22" name="arrow"/>
          <p:cNvSpPr/>
          <p:nvPr/>
        </p:nvSpPr>
        <p:spPr>
          <a:xfrm>
            <a:off x="3589020" y="1508760"/>
            <a:ext cx="251460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3" name="node Beetle tools"/>
          <p:cNvSpPr/>
          <p:nvPr/>
        </p:nvSpPr>
        <p:spPr>
          <a:xfrm>
            <a:off x="3886200" y="1188720"/>
            <a:ext cx="137160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4" name="node title Beetle tools"/>
          <p:cNvSpPr txBox="1"/>
          <p:nvPr/>
        </p:nvSpPr>
        <p:spPr>
          <a:xfrm>
            <a:off x="3886200" y="118872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Beetle tools</a:t>
            </a:r>
            <a:endParaRPr lang="en-US" sz="1150" dirty="0"/>
          </a:p>
        </p:txBody>
      </p:sp>
      <p:sp>
        <p:nvSpPr>
          <p:cNvPr id="25" name="node sub Beetle tools"/>
          <p:cNvSpPr txBox="1"/>
          <p:nvPr/>
        </p:nvSpPr>
        <p:spPr>
          <a:xfrm>
            <a:off x="3794760" y="1901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schema-checked JSON only, nothing executed</a:t>
            </a:r>
            <a:endParaRPr lang="en-US" sz="950" dirty="0"/>
          </a:p>
        </p:txBody>
      </p:sp>
      <p:sp>
        <p:nvSpPr>
          <p:cNvPr id="26" name="arrow"/>
          <p:cNvSpPr/>
          <p:nvPr/>
        </p:nvSpPr>
        <p:spPr>
          <a:xfrm>
            <a:off x="5303520" y="1508760"/>
            <a:ext cx="251460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7" name="node Server validator and commit"/>
          <p:cNvSpPr/>
          <p:nvPr/>
        </p:nvSpPr>
        <p:spPr>
          <a:xfrm>
            <a:off x="5600700" y="1188720"/>
            <a:ext cx="137160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node title Server validator and commit"/>
          <p:cNvSpPr txBox="1"/>
          <p:nvPr/>
        </p:nvSpPr>
        <p:spPr>
          <a:xfrm>
            <a:off x="5600700" y="118872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Server validator and commit</a:t>
            </a:r>
            <a:endParaRPr lang="en-US" sz="1150" dirty="0"/>
          </a:p>
        </p:txBody>
      </p:sp>
      <p:sp>
        <p:nvSpPr>
          <p:cNvPr id="29" name="node sub Server validator and commit"/>
          <p:cNvSpPr txBox="1"/>
          <p:nvPr/>
        </p:nvSpPr>
        <p:spPr>
          <a:xfrm>
            <a:off x="5509260" y="1901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deterministic game code, server-issued proof</a:t>
            </a:r>
            <a:endParaRPr lang="en-US" sz="950" dirty="0"/>
          </a:p>
        </p:txBody>
      </p:sp>
      <p:sp>
        <p:nvSpPr>
          <p:cNvPr id="30" name="arrow"/>
          <p:cNvSpPr/>
          <p:nvPr/>
        </p:nvSpPr>
        <p:spPr>
          <a:xfrm>
            <a:off x="7018020" y="1508760"/>
            <a:ext cx="251460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1" name="node Players"/>
          <p:cNvSpPr/>
          <p:nvPr/>
        </p:nvSpPr>
        <p:spPr>
          <a:xfrm>
            <a:off x="7315200" y="1188720"/>
            <a:ext cx="137160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2" name="node title Players"/>
          <p:cNvSpPr txBox="1"/>
          <p:nvPr/>
        </p:nvSpPr>
        <p:spPr>
          <a:xfrm>
            <a:off x="7315200" y="118872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Players</a:t>
            </a:r>
            <a:endParaRPr lang="en-US" sz="1150" dirty="0"/>
          </a:p>
        </p:txBody>
      </p:sp>
      <p:sp>
        <p:nvSpPr>
          <p:cNvPr id="33" name="node sub Players"/>
          <p:cNvSpPr txBox="1"/>
          <p:nvPr/>
        </p:nvSpPr>
        <p:spPr>
          <a:xfrm>
            <a:off x="7223760" y="1901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same session, same progress, new version</a:t>
            </a:r>
            <a:endParaRPr lang="en-US" sz="950" dirty="0"/>
          </a:p>
        </p:txBody>
      </p:sp>
      <p:sp>
        <p:nvSpPr>
          <p:cNvPr id="34" name="loop down"/>
          <p:cNvSpPr/>
          <p:nvPr/>
        </p:nvSpPr>
        <p:spPr>
          <a:xfrm>
            <a:off x="6286500" y="2468880"/>
            <a:ext cx="914" cy="1828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ysDash"/>
          </a:ln>
        </p:spPr>
      </p:sp>
      <p:sp>
        <p:nvSpPr>
          <p:cNvPr id="35" name="loop across"/>
          <p:cNvSpPr/>
          <p:nvPr/>
        </p:nvSpPr>
        <p:spPr>
          <a:xfrm>
            <a:off x="2857500" y="2651760"/>
            <a:ext cx="3429000" cy="914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ysDash"/>
          </a:ln>
        </p:spPr>
      </p:sp>
      <p:sp>
        <p:nvSpPr>
          <p:cNvPr id="36" name="arrow"/>
          <p:cNvSpPr/>
          <p:nvPr/>
        </p:nvSpPr>
        <p:spPr>
          <a:xfrm flipV="1">
            <a:off x="2857500" y="2468880"/>
            <a:ext cx="914" cy="1828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7" name="loop caption"/>
          <p:cNvSpPr txBox="1"/>
          <p:nvPr/>
        </p:nvSpPr>
        <p:spPr>
          <a:xfrm>
            <a:off x="2994660" y="26974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1"/>
                </a:solidFill>
              </a:rPr>
              <a:t>validation issues go back for repair, at most [max attempts] attempts, then the request fails honestly</a:t>
            </a:r>
            <a:endParaRPr lang="en-US" sz="900" dirty="0"/>
          </a:p>
        </p:txBody>
      </p:sp>
      <p:sp>
        <p:nvSpPr>
          <p:cNvPr id="38" name="state card"/>
          <p:cNvSpPr/>
          <p:nvPr/>
        </p:nvSpPr>
        <p:spPr>
          <a:xfrm>
            <a:off x="457200" y="3017520"/>
            <a:ext cx="39776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9" name="label TWO KINDS OF STATE"/>
          <p:cNvSpPr txBox="1"/>
          <p:nvPr/>
        </p:nvSpPr>
        <p:spPr>
          <a:xfrm>
            <a:off x="640080" y="3154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TWO KINDS OF STATE</a:t>
            </a:r>
            <a:endParaRPr lang="en-US" sz="1000" dirty="0"/>
          </a:p>
        </p:txBody>
      </p:sp>
      <p:sp>
        <p:nvSpPr>
          <p:cNvPr id="40" name="state bullets"/>
          <p:cNvSpPr txBox="1"/>
          <p:nvPr/>
        </p:nvSpPr>
        <p:spPr>
          <a:xfrm>
            <a:off x="640080" y="340156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WorldSpec is structure. It changes only when a transaction commits, one version per commit.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SessionState is players, relics, score. The simulation advances it; the agent never writes it.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Commit needs a server-issued proof.</a:t>
            </a:r>
            <a:endParaRPr lang="en-US" sz="1100" dirty="0"/>
          </a:p>
        </p:txBody>
      </p:sp>
      <p:sp>
        <p:nvSpPr>
          <p:cNvPr id="41" name="validation card"/>
          <p:cNvSpPr/>
          <p:nvPr/>
        </p:nvSpPr>
        <p:spPr>
          <a:xfrm>
            <a:off x="4709160" y="3017520"/>
            <a:ext cx="39776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2" name="label VALIDATION IS GAME CODE"/>
          <p:cNvSpPr txBox="1"/>
          <p:nvPr/>
        </p:nvSpPr>
        <p:spPr>
          <a:xfrm>
            <a:off x="4892040" y="3154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VALIDATION IS GAME CODE</a:t>
            </a:r>
            <a:endParaRPr lang="en-US" sz="1000" dirty="0"/>
          </a:p>
        </p:txBody>
      </p:sp>
      <p:sp>
        <p:nvSpPr>
          <p:cNvPr id="43" name="validation bullets"/>
          <p:cNvSpPr txBox="1"/>
          <p:nvPr/>
        </p:nvSpPr>
        <p:spPr>
          <a:xfrm>
            <a:off x="4892040" y="340156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Geometry, bridge sockets, walk field, reachability with the gate locked, occupied support at commit time.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An LLM saying valid is never approval.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Nothing from the model runs. Output is schema-checked JSON only.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Measured local-first results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result card MODEL"/>
          <p:cNvSpPr/>
          <p:nvPr/>
        </p:nvSpPr>
        <p:spPr>
          <a:xfrm>
            <a:off x="457200" y="118872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label MODEL"/>
          <p:cNvSpPr txBox="1"/>
          <p:nvPr/>
        </p:nvSpPr>
        <p:spPr>
          <a:xfrm>
            <a:off x="621792" y="1316736"/>
            <a:ext cx="2322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MODEL</a:t>
            </a:r>
            <a:endParaRPr lang="en-US" sz="1000" dirty="0"/>
          </a:p>
        </p:txBody>
      </p:sp>
      <p:sp>
        <p:nvSpPr>
          <p:cNvPr id="17" name="result value MODEL"/>
          <p:cNvSpPr txBox="1"/>
          <p:nvPr/>
        </p:nvSpPr>
        <p:spPr>
          <a:xfrm>
            <a:off x="621792" y="1572768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[model tag], [quantization]</a:t>
            </a:r>
            <a:endParaRPr lang="en-US" sz="1500" dirty="0"/>
          </a:p>
        </p:txBody>
      </p:sp>
      <p:sp>
        <p:nvSpPr>
          <p:cNvPr id="18" name="result sub MODEL"/>
          <p:cNvSpPr txBox="1"/>
          <p:nvPr/>
        </p:nvSpPr>
        <p:spPr>
          <a:xfrm>
            <a:off x="621792" y="2157984"/>
            <a:ext cx="2322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on the GB10 via Ollama on loopback</a:t>
            </a:r>
            <a:endParaRPr lang="en-US" sz="1000" dirty="0"/>
          </a:p>
        </p:txBody>
      </p:sp>
      <p:sp>
        <p:nvSpPr>
          <p:cNvPr id="19" name="result card BRIEF TO PLAYABLE"/>
          <p:cNvSpPr/>
          <p:nvPr/>
        </p:nvSpPr>
        <p:spPr>
          <a:xfrm>
            <a:off x="3246120" y="118872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label BRIEF TO PLAYABLE"/>
          <p:cNvSpPr txBox="1"/>
          <p:nvPr/>
        </p:nvSpPr>
        <p:spPr>
          <a:xfrm>
            <a:off x="3410712" y="1316736"/>
            <a:ext cx="2322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BRIEF TO PLAYABLE</a:t>
            </a:r>
            <a:endParaRPr lang="en-US" sz="1000" dirty="0"/>
          </a:p>
        </p:txBody>
      </p:sp>
      <p:sp>
        <p:nvSpPr>
          <p:cNvPr id="21" name="result value BRIEF TO PLAYABLE"/>
          <p:cNvSpPr txBox="1"/>
          <p:nvPr/>
        </p:nvSpPr>
        <p:spPr>
          <a:xfrm>
            <a:off x="3410712" y="1572768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[min] / [p50] / [max] s</a:t>
            </a:r>
            <a:endParaRPr lang="en-US" sz="1500" dirty="0"/>
          </a:p>
        </p:txBody>
      </p:sp>
      <p:sp>
        <p:nvSpPr>
          <p:cNvPr id="22" name="result sub BRIEF TO PLAYABLE"/>
          <p:cNvSpPr txBox="1"/>
          <p:nvPr/>
        </p:nvSpPr>
        <p:spPr>
          <a:xfrm>
            <a:off x="3410712" y="2157984"/>
            <a:ext cx="2322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over [N] runs, cold load [cold s] reported separately</a:t>
            </a:r>
            <a:endParaRPr lang="en-US" sz="1000" dirty="0"/>
          </a:p>
        </p:txBody>
      </p:sp>
      <p:sp>
        <p:nvSpPr>
          <p:cNvPr id="23" name="result card EDIT TO COMMIT"/>
          <p:cNvSpPr/>
          <p:nvPr/>
        </p:nvSpPr>
        <p:spPr>
          <a:xfrm>
            <a:off x="6035040" y="1188720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4" name="label EDIT TO COMMIT"/>
          <p:cNvSpPr txBox="1"/>
          <p:nvPr/>
        </p:nvSpPr>
        <p:spPr>
          <a:xfrm>
            <a:off x="6199632" y="1316736"/>
            <a:ext cx="2322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EDIT TO COMMIT</a:t>
            </a:r>
            <a:endParaRPr lang="en-US" sz="1000" dirty="0"/>
          </a:p>
        </p:txBody>
      </p:sp>
      <p:sp>
        <p:nvSpPr>
          <p:cNvPr id="25" name="result value EDIT TO COMMIT"/>
          <p:cNvSpPr txBox="1"/>
          <p:nvPr/>
        </p:nvSpPr>
        <p:spPr>
          <a:xfrm>
            <a:off x="6199632" y="1572768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[min] / [p50] / [max] s</a:t>
            </a:r>
            <a:endParaRPr lang="en-US" sz="1500" dirty="0"/>
          </a:p>
        </p:txBody>
      </p:sp>
      <p:sp>
        <p:nvSpPr>
          <p:cNvPr id="26" name="result sub EDIT TO COMMIT"/>
          <p:cNvSpPr txBox="1"/>
          <p:nvPr/>
        </p:nvSpPr>
        <p:spPr>
          <a:xfrm>
            <a:off x="6199632" y="2157984"/>
            <a:ext cx="2322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edit request to committed version</a:t>
            </a:r>
            <a:endParaRPr lang="en-US" sz="1000" dirty="0"/>
          </a:p>
        </p:txBody>
      </p:sp>
      <p:sp>
        <p:nvSpPr>
          <p:cNvPr id="27" name="result card INVALID EDITS CAUGHT"/>
          <p:cNvSpPr/>
          <p:nvPr/>
        </p:nvSpPr>
        <p:spPr>
          <a:xfrm>
            <a:off x="457200" y="2679192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8" name="label INVALID EDITS CAUGHT"/>
          <p:cNvSpPr txBox="1"/>
          <p:nvPr/>
        </p:nvSpPr>
        <p:spPr>
          <a:xfrm>
            <a:off x="621792" y="2807208"/>
            <a:ext cx="2322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INVALID EDITS CAUGHT</a:t>
            </a:r>
            <a:endParaRPr lang="en-US" sz="1000" dirty="0"/>
          </a:p>
        </p:txBody>
      </p:sp>
      <p:sp>
        <p:nvSpPr>
          <p:cNvPr id="29" name="result value INVALID EDITS CAUGHT"/>
          <p:cNvSpPr txBox="1"/>
          <p:nvPr/>
        </p:nvSpPr>
        <p:spPr>
          <a:xfrm>
            <a:off x="621792" y="306324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[caught] of [attempts]</a:t>
            </a:r>
            <a:endParaRPr lang="en-US" sz="1500" dirty="0"/>
          </a:p>
        </p:txBody>
      </p:sp>
      <p:sp>
        <p:nvSpPr>
          <p:cNvPr id="30" name="result sub INVALID EDITS CAUGHT"/>
          <p:cNvSpPr txBox="1"/>
          <p:nvPr/>
        </p:nvSpPr>
        <p:spPr>
          <a:xfrm>
            <a:off x="621792" y="3648456"/>
            <a:ext cx="2322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repairs that succeeded: [repaired]</a:t>
            </a:r>
            <a:endParaRPr lang="en-US" sz="1000" dirty="0"/>
          </a:p>
        </p:txBody>
      </p:sp>
      <p:sp>
        <p:nvSpPr>
          <p:cNvPr id="31" name="result card SESSION CONTINUITY"/>
          <p:cNvSpPr/>
          <p:nvPr/>
        </p:nvSpPr>
        <p:spPr>
          <a:xfrm>
            <a:off x="3246120" y="2679192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2" name="label SESSION CONTINUITY"/>
          <p:cNvSpPr txBox="1"/>
          <p:nvPr/>
        </p:nvSpPr>
        <p:spPr>
          <a:xfrm>
            <a:off x="3410712" y="2807208"/>
            <a:ext cx="2322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SESSION CONTINUITY</a:t>
            </a:r>
            <a:endParaRPr lang="en-US" sz="1000" dirty="0"/>
          </a:p>
        </p:txBody>
      </p:sp>
      <p:sp>
        <p:nvSpPr>
          <p:cNvPr id="33" name="result value SESSION CONTINUITY"/>
          <p:cNvSpPr txBox="1"/>
          <p:nvPr/>
        </p:nvSpPr>
        <p:spPr>
          <a:xfrm>
            <a:off x="3410712" y="306324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[players kept] players, [relics kept] relics</a:t>
            </a:r>
            <a:endParaRPr lang="en-US" sz="1500" dirty="0"/>
          </a:p>
        </p:txBody>
      </p:sp>
      <p:sp>
        <p:nvSpPr>
          <p:cNvPr id="34" name="result sub SESSION CONTINUITY"/>
          <p:cNvSpPr txBox="1"/>
          <p:nvPr/>
        </p:nvSpPr>
        <p:spPr>
          <a:xfrm>
            <a:off x="3410712" y="3648456"/>
            <a:ext cx="2322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[reconnects] reconnects across [N commits] commits</a:t>
            </a:r>
            <a:endParaRPr lang="en-US" sz="1000" dirty="0"/>
          </a:p>
        </p:txBody>
      </p:sp>
      <p:sp>
        <p:nvSpPr>
          <p:cNvPr id="35" name="result card OFFLINE PROOF"/>
          <p:cNvSpPr/>
          <p:nvPr/>
        </p:nvSpPr>
        <p:spPr>
          <a:xfrm>
            <a:off x="6035040" y="2679192"/>
            <a:ext cx="26517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6" name="label OFFLINE PROOF"/>
          <p:cNvSpPr txBox="1"/>
          <p:nvPr/>
        </p:nvSpPr>
        <p:spPr>
          <a:xfrm>
            <a:off x="6199632" y="2807208"/>
            <a:ext cx="2322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OFFLINE PROOF</a:t>
            </a:r>
            <a:endParaRPr lang="en-US" sz="1000" dirty="0"/>
          </a:p>
        </p:txBody>
      </p:sp>
      <p:sp>
        <p:nvSpPr>
          <p:cNvPr id="37" name="result value OFFLINE PROOF"/>
          <p:cNvSpPr txBox="1"/>
          <p:nvPr/>
        </p:nvSpPr>
        <p:spPr>
          <a:xfrm>
            <a:off x="6199632" y="306324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[what was disconnected]</a:t>
            </a:r>
            <a:endParaRPr lang="en-US" sz="1500" dirty="0"/>
          </a:p>
        </p:txBody>
      </p:sp>
      <p:sp>
        <p:nvSpPr>
          <p:cNvPr id="38" name="result sub OFFLINE PROOF"/>
          <p:cNvSpPr txBox="1"/>
          <p:nvPr/>
        </p:nvSpPr>
        <p:spPr>
          <a:xfrm>
            <a:off x="6199632" y="3648456"/>
            <a:ext cx="2322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still worked: [what still worked]</a:t>
            </a:r>
            <a:endParaRPr lang="en-US" sz="1000" dirty="0"/>
          </a:p>
        </p:txBody>
      </p:sp>
      <p:sp>
        <p:nvSpPr>
          <p:cNvPr id="39" name="placeholder note"/>
          <p:cNvSpPr txBox="1"/>
          <p:nvPr/>
        </p:nvSpPr>
        <p:spPr>
          <a:xfrm>
            <a:off x="457200" y="42245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Every bracketed value is a placeholder. Values come only from data/benchmarks/*.json and data/reports/*.json. Nothing unmeasured goes on a slide.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Business hypothesis and next validation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column HYPOTHESIS"/>
          <p:cNvSpPr/>
          <p:nvPr/>
        </p:nvSpPr>
        <p:spPr>
          <a:xfrm>
            <a:off x="457200" y="1188720"/>
            <a:ext cx="2651760" cy="2880360"/>
          </a:xfrm>
          <a:prstGeom prst="roundRect">
            <a:avLst>
              <a:gd name="adj" fmla="val 2759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6" name="column label HYPOTHESIS"/>
          <p:cNvSpPr txBox="1"/>
          <p:nvPr/>
        </p:nvSpPr>
        <p:spPr>
          <a:xfrm>
            <a:off x="64008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1"/>
                </a:solidFill>
              </a:rPr>
              <a:t>HYPOTHESIS</a:t>
            </a:r>
            <a:endParaRPr lang="en-US" sz="1100" dirty="0"/>
          </a:p>
        </p:txBody>
      </p:sp>
      <p:sp>
        <p:nvSpPr>
          <p:cNvPr id="17" name="column body HYPOTHESIS"/>
          <p:cNvSpPr txBox="1"/>
          <p:nvPr/>
        </p:nvSpPr>
        <p:spPr>
          <a:xfrm>
            <a:off x="640080" y="1691640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Studios will pay for faster prototype iteration that keeps playtests running.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Their data stays on their machines, which matters to studios with unreleased IP.</a:t>
            </a:r>
            <a:endParaRPr lang="en-US" sz="1250" dirty="0"/>
          </a:p>
        </p:txBody>
      </p:sp>
      <p:sp>
        <p:nvSpPr>
          <p:cNvPr id="18" name="column NOT CLAIMED"/>
          <p:cNvSpPr/>
          <p:nvPr/>
        </p:nvSpPr>
        <p:spPr>
          <a:xfrm>
            <a:off x="3246120" y="1188720"/>
            <a:ext cx="2651760" cy="28803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9" name="column label NOT CLAIMED"/>
          <p:cNvSpPr txBox="1"/>
          <p:nvPr/>
        </p:nvSpPr>
        <p:spPr>
          <a:xfrm>
            <a:off x="342900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NOT CLAIMED</a:t>
            </a:r>
            <a:endParaRPr lang="en-US" sz="1100" dirty="0"/>
          </a:p>
        </p:txBody>
      </p:sp>
      <p:sp>
        <p:nvSpPr>
          <p:cNvPr id="20" name="column body NOT CLAIMED"/>
          <p:cNvSpPr txBox="1"/>
          <p:nvPr/>
        </p:nvSpPr>
        <p:spPr>
          <a:xfrm>
            <a:off x="3429000" y="1691640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Market size.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Pricing.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Customer traction.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Speed-up percentages without a measured baseline.</a:t>
            </a:r>
            <a:endParaRPr lang="en-US" sz="1250" dirty="0"/>
          </a:p>
        </p:txBody>
      </p:sp>
      <p:sp>
        <p:nvSpPr>
          <p:cNvPr id="21" name="column NEXT VALIDATION"/>
          <p:cNvSpPr/>
          <p:nvPr/>
        </p:nvSpPr>
        <p:spPr>
          <a:xfrm>
            <a:off x="6035040" y="1188720"/>
            <a:ext cx="2651760" cy="28803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2" name="column label NEXT VALIDATION"/>
          <p:cNvSpPr txBox="1"/>
          <p:nvPr/>
        </p:nvSpPr>
        <p:spPr>
          <a:xfrm>
            <a:off x="621792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NEXT VALIDATION</a:t>
            </a:r>
            <a:endParaRPr lang="en-US" sz="1100" dirty="0"/>
          </a:p>
        </p:txBody>
      </p:sp>
      <p:sp>
        <p:nvSpPr>
          <p:cNvPr id="23" name="column body NEXT VALIDATION"/>
          <p:cNvSpPr txBox="1"/>
          <p:nvPr/>
        </p:nvSpPr>
        <p:spPr>
          <a:xfrm>
            <a:off x="6217920" y="1691640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Time a conventional edit-rebuild-regather loop with the same designers and the same change list.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Compare it against Beetle's measured edit-to-commit times.</a:t>
            </a:r>
            <a:endParaRPr lang="en-US" sz="1250" dirty="0"/>
          </a:p>
        </p:txBody>
      </p:sp>
      <p:sp>
        <p:nvSpPr>
          <p:cNvPr id="24" name="beetle leg"/>
          <p:cNvSpPr/>
          <p:nvPr/>
        </p:nvSpPr>
        <p:spPr>
          <a:xfrm flipH="1" flipV="1">
            <a:off x="483123" y="4323100"/>
            <a:ext cx="90526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5" name="beetle leg"/>
          <p:cNvSpPr/>
          <p:nvPr/>
        </p:nvSpPr>
        <p:spPr>
          <a:xfrm flipH="1">
            <a:off x="449382" y="4461358"/>
            <a:ext cx="98755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6" name="beetle leg"/>
          <p:cNvSpPr/>
          <p:nvPr/>
        </p:nvSpPr>
        <p:spPr>
          <a:xfrm flipH="1">
            <a:off x="475470" y="4550237"/>
            <a:ext cx="90526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7" name="beetle leg"/>
          <p:cNvSpPr/>
          <p:nvPr/>
        </p:nvSpPr>
        <p:spPr>
          <a:xfrm flipV="1">
            <a:off x="752231" y="4323100"/>
            <a:ext cx="90526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8" name="beetle leg"/>
          <p:cNvSpPr/>
          <p:nvPr/>
        </p:nvSpPr>
        <p:spPr>
          <a:xfrm>
            <a:off x="777743" y="4461358"/>
            <a:ext cx="98755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9" name="beetle leg"/>
          <p:cNvSpPr/>
          <p:nvPr/>
        </p:nvSpPr>
        <p:spPr>
          <a:xfrm>
            <a:off x="759885" y="4550237"/>
            <a:ext cx="90526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30" name="beetle antenna"/>
          <p:cNvSpPr/>
          <p:nvPr/>
        </p:nvSpPr>
        <p:spPr>
          <a:xfrm flipV="1">
            <a:off x="543611" y="4206240"/>
            <a:ext cx="65837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31" name="beetle antenna"/>
          <p:cNvSpPr/>
          <p:nvPr/>
        </p:nvSpPr>
        <p:spPr>
          <a:xfrm>
            <a:off x="716432" y="4206240"/>
            <a:ext cx="65837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32" name="beetle head"/>
          <p:cNvSpPr/>
          <p:nvPr/>
        </p:nvSpPr>
        <p:spPr>
          <a:xfrm>
            <a:off x="601218" y="4239158"/>
            <a:ext cx="123444" cy="9875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3" name="beetle body"/>
          <p:cNvSpPr/>
          <p:nvPr/>
        </p:nvSpPr>
        <p:spPr>
          <a:xfrm>
            <a:off x="535381" y="4313225"/>
            <a:ext cx="255118" cy="29626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4" name="beetle split"/>
          <p:cNvSpPr/>
          <p:nvPr/>
        </p:nvSpPr>
        <p:spPr>
          <a:xfrm>
            <a:off x="662940" y="4348777"/>
            <a:ext cx="914" cy="2370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35" name="wordmark"/>
          <p:cNvSpPr txBox="1"/>
          <p:nvPr/>
        </p:nvSpPr>
        <p:spPr>
          <a:xfrm>
            <a:off x="941832" y="4206240"/>
            <a:ext cx="1591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36" name="closing line"/>
          <p:cNvSpPr txBox="1"/>
          <p:nvPr/>
        </p:nvSpPr>
        <p:spPr>
          <a:xfrm>
            <a:off x="2651760" y="42062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Change the game without stopping the game.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etle Deep Garden">
  <a:themeElements>
    <a:clrScheme name="Beetle Deep Garden">
      <a:dk1>
        <a:srgbClr val="EDE7DB"/>
      </a:dk1>
      <a:lt1>
        <a:srgbClr val="0E3534"/>
      </a:lt1>
      <a:dk2>
        <a:srgbClr val="BDB3A2"/>
      </a:dk2>
      <a:lt2>
        <a:srgbClr val="1B4A48"/>
      </a:lt2>
      <a:accent1>
        <a:srgbClr val="E8A33D"/>
      </a:accent1>
      <a:accent2>
        <a:srgbClr val="D8402B"/>
      </a:accent2>
      <a:accent3>
        <a:srgbClr val="7FB5B1"/>
      </a:accent3>
      <a:accent4>
        <a:srgbClr val="2E6B68"/>
      </a:accent4>
      <a:accent5>
        <a:srgbClr val="3F8582"/>
      </a:accent5>
      <a:accent6>
        <a:srgbClr val="C9A15A"/>
      </a:accent6>
      <a:hlink>
        <a:srgbClr val="E8A33D"/>
      </a:hlink>
      <a:folHlink>
        <a:srgbClr val="7FB5B1"/>
      </a:folHlink>
    </a:clrScheme>
    <a:fontScheme name="Beetle Deep Garde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Beetle pitch</dc:title>
  <dc:subject>PptxGenJS Presentation</dc:subject>
  <dc:creator>Beetle team</dc:creator>
  <cp:lastModifiedBy>Beetle team</cp:lastModifiedBy>
  <cp:revision>1</cp:revision>
  <dcterms:created xsi:type="dcterms:W3CDTF">2026-10-03T17:46:24Z</dcterms:created>
  <dcterms:modified xsi:type="dcterms:W3CDTF">2026-10-03T17:46:24Z</dcterms:modified>
</cp:coreProperties>
</file>