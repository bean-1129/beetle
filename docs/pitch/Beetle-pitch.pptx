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etle pitch" id="{c123f19b-b94d-3c1b-f6ea-2ec397ecb77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user is a technical designer at a small studio. Each stop-edit-rebuild-regather cycle throws away the live playtest. Beetle's promise is to change the game without stopping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product, two engines. Walk the five steps: describe any game; Beetle maps it to a 2D genre or a 3D mode and biome and names the choice; it is playable at once (in 3D the world starts where the players are and grows as they move, in 2D the studio makes sprites, tiles, sound and music for the game); game code checks every spec and patch before it lands; then keep changing it in plain words. Left card: the 3D pipeline, measured all day (slide 5). Right card: the 2D studio at /2d, same local model through the server's loopback endpoint, single-file HTML export. Say plainly: the 3D numbers are measured all day; the 2D number is one run of six prompts (slide 5): every prompt reached a validated, bot-playtested spec on the first model call in 10.7 to 16.9 s, in a Node harness against the local model, without asset painting or the browser. Streaming is measured: in the acceptance runs (contended GPU) 4 of 6 automatic extensions committed in 10.6 to 65.9 s, and one quiet-GPU run committed in 9.5 s. Mode briefs measured 14:25 to 14:42 CDT, 18 of 18 sensible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recording here. Captions follow docs/STORYBOARD.md; the mode caption is set to whichever agent mode was green at recording time. Rehearsal timings: brief 14 s on a quiet GPU, edits 2 to 14 s, DISCONNECTED_GOAL refused and repaired in 3.0 s. Shots that cannot be produced honestly are cut, not faked. Optional shot 'the world grows' (docs/STORYBOARD.md 6c): a player walks toward an edge, 'Beetle is building ahead' appears and the new island assembles; measured 10.6 to 65.9 s request to commit on a contended GPU (docs/ACCEPTANCE.md) and 9.5 s once on a quiet GPU (docs/RESULTS.md), not yet rehearsed on camera, so it is shown only from a real take, never compressed without a label. Optional shot 'the 2D studio' (docs/STORYBOARD.md 6d): an idea typed at /2d becomes a playable pixel game with its own sprites, tiles, sound and music, one edit in plain words, then the single-file HTML export; shown only from a real take, with the take's own time on screen; measured 10.7 to 16.9 s prompt to validated spec in a Node harness (docs/RESULTS.md 16:04 CDT), not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engines, one local model, one validation discipline. Top row, 3D: director or the frontier trigger, OpenClaw agent, the mapping step (closest mode and biome, named in the summary), Beetle tools, server validator and commit, players. Validation issues including MODE_INVALID go back for repair, at most 2 attempts, then the request fails honestly and the world is untouched. Streaming uses the same path: add_island, 1 to 2 islands, the same validator; growth stops at 24 islands and 48 bridges and the director can switch it off. Second row, 2D: the idea becomes a design doc written by the same local model through a schema, then a Game Spec with procedural pixel sprites, tiles, sound and music; the spec is validated by game code and either repaired or refused with the exact list of what could not be fixed; then play, edit in words and export a single-file HTML game. Same rule in both engines: the model proposes JSON, game code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cards. Say out loud: the 10 s brief target is not met; a valid brief takes 24 to 28 s warm on a quiet GPU, 14 s was seen once after normalization, 33.4 s through OpenClaw. Edits commit in 2 to 14 s, and 8.0 s with two players moving and nothing reset. Game modes from one prompt: the mode was sensible on 18 of 18 briefs and the exact mode was missed twice; committed mode briefs took 13 to 44 s and the failures were geometry, never the mode rule; mode and biome edits on a running world took 3.0 s. Phones and the offline proof are covered by tests or procedure but not yet measured live. Streaming: the frontier trigger opens the request within 0.3 s; the model is the slow part. Acceptance runs on a contended GPU: 4 of 6 extensions committed in 10.6 to 65.9 s, one failed schema validation, one hit the 80 s model timeout, and each failure left the world untouched; run 3 passed 21 of 21 with player, relic and score kept and the player walking onto both new islands. Quiet GPU, once: 9.5 s. No spawn-zone build time is quoted. The 27b was never benchmarked. Every card is the 3D engine. Beetle 2D, one run of six prompts at 16:04 to 16:06 CDT on a possibly shared GPU: all six reached a validated spec on the first model call with zero repairs, model 10.3 to 12.7 s, prompt to validated and bot-playtested spec 10.7 to 16.9 s; genres chosen platformer, top-down, defense, puzzle, runner and arena. Say what it excludes: the Web Worker hop, procedural asset painting, generated art and the browser; 2D edits in words and the HTML export are not timed.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hypothesis, say plainly what we do not claim, and name the one comparison that would test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3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Slide title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Beetle. Local-first prototyping teammate for small game studios.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Every edit stops the playtest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label THE USER"/>
          <p:cNvSpPr txBox="1"/>
          <p:nvPr/>
        </p:nvSpPr>
        <p:spPr>
          <a:xfrm>
            <a:off x="45720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THE USER</a:t>
            </a:r>
            <a:endParaRPr lang="en-US" sz="1000" dirty="0"/>
          </a:p>
        </p:txBody>
      </p:sp>
      <p:sp>
        <p:nvSpPr>
          <p:cNvPr id="16" name="body text"/>
          <p:cNvSpPr txBox="1"/>
          <p:nvPr/>
        </p:nvSpPr>
        <p:spPr>
          <a:xfrm>
            <a:off x="457200" y="14447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Technical designers at small studios iterate on playable prototypes with real playtesters in the room.</a:t>
            </a:r>
            <a:endParaRPr lang="en-US" sz="1300" dirty="0"/>
          </a:p>
        </p:txBody>
      </p:sp>
      <p:sp>
        <p:nvSpPr>
          <p:cNvPr id="17" name="label THE COST"/>
          <p:cNvSpPr txBox="1"/>
          <p:nvPr/>
        </p:nvSpPr>
        <p:spPr>
          <a:xfrm>
            <a:off x="457200" y="2240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THE COST</a:t>
            </a:r>
            <a:endParaRPr lang="en-US" sz="1000" dirty="0"/>
          </a:p>
        </p:txBody>
      </p:sp>
      <p:sp>
        <p:nvSpPr>
          <p:cNvPr id="18" name="body text"/>
          <p:cNvSpPr txBox="1"/>
          <p:nvPr/>
        </p:nvSpPr>
        <p:spPr>
          <a:xfrm>
            <a:off x="457200" y="24963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stop costs the thing they are trying to observe: how people actually play.</a:t>
            </a:r>
            <a:endParaRPr lang="en-US" sz="1300" dirty="0"/>
          </a:p>
        </p:txBody>
      </p:sp>
      <p:sp>
        <p:nvSpPr>
          <p:cNvPr id="19" name="promise card"/>
          <p:cNvSpPr/>
          <p:nvPr/>
        </p:nvSpPr>
        <p:spPr>
          <a:xfrm>
            <a:off x="457200" y="33375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promise text"/>
          <p:cNvSpPr txBox="1"/>
          <p:nvPr/>
        </p:nvSpPr>
        <p:spPr>
          <a:xfrm>
            <a:off x="685800" y="34564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Beetle's promise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Change the game without stopping the game.</a:t>
            </a:r>
            <a:endParaRPr lang="en-US" sz="1100" dirty="0"/>
          </a:p>
        </p:txBody>
      </p:sp>
      <p:sp>
        <p:nvSpPr>
          <p:cNvPr id="21" name="label TODAY&amp;apos;S LOOP"/>
          <p:cNvSpPr txBox="1"/>
          <p:nvPr/>
        </p:nvSpPr>
        <p:spPr>
          <a:xfrm>
            <a:off x="5029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TODAY'S LOOP</a:t>
            </a:r>
            <a:endParaRPr lang="en-US" sz="1000" dirty="0"/>
          </a:p>
        </p:txBody>
      </p:sp>
      <p:sp>
        <p:nvSpPr>
          <p:cNvPr id="22" name="loop chip Stop the session"/>
          <p:cNvSpPr/>
          <p:nvPr/>
        </p:nvSpPr>
        <p:spPr>
          <a:xfrm>
            <a:off x="5029200" y="1508760"/>
            <a:ext cx="1508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loop chip text Stop the session"/>
          <p:cNvSpPr txBox="1"/>
          <p:nvPr/>
        </p:nvSpPr>
        <p:spPr>
          <a:xfrm>
            <a:off x="5029200" y="1508760"/>
            <a:ext cx="15087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Stop the session</a:t>
            </a:r>
            <a:endParaRPr lang="en-US" sz="1200" dirty="0"/>
          </a:p>
        </p:txBody>
      </p:sp>
      <p:sp>
        <p:nvSpPr>
          <p:cNvPr id="24" name="loop chip Edit the prototype"/>
          <p:cNvSpPr/>
          <p:nvPr/>
        </p:nvSpPr>
        <p:spPr>
          <a:xfrm>
            <a:off x="7315200" y="1508760"/>
            <a:ext cx="1508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loop chip text Edit the prototype"/>
          <p:cNvSpPr txBox="1"/>
          <p:nvPr/>
        </p:nvSpPr>
        <p:spPr>
          <a:xfrm>
            <a:off x="7315200" y="1508760"/>
            <a:ext cx="15087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Edit the prototype</a:t>
            </a:r>
            <a:endParaRPr lang="en-US" sz="1200" dirty="0"/>
          </a:p>
        </p:txBody>
      </p:sp>
      <p:sp>
        <p:nvSpPr>
          <p:cNvPr id="26" name="loop chip Rebuild"/>
          <p:cNvSpPr/>
          <p:nvPr/>
        </p:nvSpPr>
        <p:spPr>
          <a:xfrm>
            <a:off x="7315200" y="2990088"/>
            <a:ext cx="1508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loop chip text Rebuild"/>
          <p:cNvSpPr txBox="1"/>
          <p:nvPr/>
        </p:nvSpPr>
        <p:spPr>
          <a:xfrm>
            <a:off x="7315200" y="2990088"/>
            <a:ext cx="15087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Rebuild</a:t>
            </a:r>
            <a:endParaRPr lang="en-US" sz="1200" dirty="0"/>
          </a:p>
        </p:txBody>
      </p:sp>
      <p:sp>
        <p:nvSpPr>
          <p:cNvPr id="28" name="loop chip Re-gather playtesters"/>
          <p:cNvSpPr/>
          <p:nvPr/>
        </p:nvSpPr>
        <p:spPr>
          <a:xfrm>
            <a:off x="5029200" y="2990088"/>
            <a:ext cx="1508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loop chip text Re-gather playtesters"/>
          <p:cNvSpPr txBox="1"/>
          <p:nvPr/>
        </p:nvSpPr>
        <p:spPr>
          <a:xfrm>
            <a:off x="5029200" y="2990088"/>
            <a:ext cx="15087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Re-gather playtesters</a:t>
            </a:r>
            <a:endParaRPr lang="en-US" sz="1200" dirty="0"/>
          </a:p>
        </p:txBody>
      </p:sp>
      <p:sp>
        <p:nvSpPr>
          <p:cNvPr id="30" name="arrow"/>
          <p:cNvSpPr/>
          <p:nvPr/>
        </p:nvSpPr>
        <p:spPr>
          <a:xfrm>
            <a:off x="6611112" y="1792224"/>
            <a:ext cx="63093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8069580" y="2148840"/>
            <a:ext cx="914" cy="768096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 flipH="1">
            <a:off x="6611112" y="3273552"/>
            <a:ext cx="63093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 flipV="1">
            <a:off x="5783580" y="2148840"/>
            <a:ext cx="914" cy="768096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4" name="loop caption"/>
          <p:cNvSpPr txBox="1"/>
          <p:nvPr/>
        </p:nvSpPr>
        <p:spPr>
          <a:xfrm>
            <a:off x="502920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Each turn of the loop loses the live playtest you were trying to watch.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Describe any game: Beetle builds it in 2D or 3D, then keeps changing it while people play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workflow spine"/>
          <p:cNvSpPr/>
          <p:nvPr/>
        </p:nvSpPr>
        <p:spPr>
          <a:xfrm>
            <a:off x="1051560" y="1325880"/>
            <a:ext cx="7040880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6" name="step circle 1"/>
          <p:cNvSpPr/>
          <p:nvPr/>
        </p:nvSpPr>
        <p:spPr>
          <a:xfrm>
            <a:off x="850392" y="112471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tep number 1"/>
          <p:cNvSpPr txBox="1"/>
          <p:nvPr/>
        </p:nvSpPr>
        <p:spPr>
          <a:xfrm>
            <a:off x="850392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step text 1"/>
          <p:cNvSpPr txBox="1"/>
          <p:nvPr/>
        </p:nvSpPr>
        <p:spPr>
          <a:xfrm>
            <a:off x="228600" y="16002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Describe any game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"hold the frozen hill ten seconds" or "a tower defense where bees protect a hive"</a:t>
            </a:r>
            <a:endParaRPr lang="en-US" sz="1100" dirty="0"/>
          </a:p>
        </p:txBody>
      </p:sp>
      <p:sp>
        <p:nvSpPr>
          <p:cNvPr id="19" name="step circle 2"/>
          <p:cNvSpPr/>
          <p:nvPr/>
        </p:nvSpPr>
        <p:spPr>
          <a:xfrm>
            <a:off x="2610612" y="112471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step number 2"/>
          <p:cNvSpPr txBox="1"/>
          <p:nvPr/>
        </p:nvSpPr>
        <p:spPr>
          <a:xfrm>
            <a:off x="2610612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step text 2"/>
          <p:cNvSpPr txBox="1"/>
          <p:nvPr/>
        </p:nvSpPr>
        <p:spPr>
          <a:xfrm>
            <a:off x="1988820" y="16002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2D or 3D, and named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mapped to a 2D genre or a 3D mode and biome; Beetle says which it chose</a:t>
            </a:r>
            <a:endParaRPr lang="en-US" sz="1100" dirty="0"/>
          </a:p>
        </p:txBody>
      </p:sp>
      <p:sp>
        <p:nvSpPr>
          <p:cNvPr id="22" name="step circle 3"/>
          <p:cNvSpPr/>
          <p:nvPr/>
        </p:nvSpPr>
        <p:spPr>
          <a:xfrm>
            <a:off x="4370832" y="112471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step number 3"/>
          <p:cNvSpPr txBox="1"/>
          <p:nvPr/>
        </p:nvSpPr>
        <p:spPr>
          <a:xfrm>
            <a:off x="4370832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tep text 3"/>
          <p:cNvSpPr txBox="1"/>
          <p:nvPr/>
        </p:nvSpPr>
        <p:spPr>
          <a:xfrm>
            <a:off x="3749040" y="16002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Playable at once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3D: the world starts where the players are. 2D: sprites, tiles, sound and music made for it</a:t>
            </a:r>
            <a:endParaRPr lang="en-US" sz="1100" dirty="0"/>
          </a:p>
        </p:txBody>
      </p:sp>
      <p:sp>
        <p:nvSpPr>
          <p:cNvPr id="25" name="step circle 4"/>
          <p:cNvSpPr/>
          <p:nvPr/>
        </p:nvSpPr>
        <p:spPr>
          <a:xfrm>
            <a:off x="6131052" y="112471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tep number 4"/>
          <p:cNvSpPr txBox="1"/>
          <p:nvPr/>
        </p:nvSpPr>
        <p:spPr>
          <a:xfrm>
            <a:off x="6131052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step text 4"/>
          <p:cNvSpPr txBox="1"/>
          <p:nvPr/>
        </p:nvSpPr>
        <p:spPr>
          <a:xfrm>
            <a:off x="5509260" y="16002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Checked before it lands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game code validates every spec and patch; the model only proposes JSON</a:t>
            </a:r>
            <a:endParaRPr lang="en-US" sz="1100" dirty="0"/>
          </a:p>
        </p:txBody>
      </p:sp>
      <p:sp>
        <p:nvSpPr>
          <p:cNvPr id="28" name="step circle 5"/>
          <p:cNvSpPr/>
          <p:nvPr/>
        </p:nvSpPr>
        <p:spPr>
          <a:xfrm>
            <a:off x="7891272" y="1124712"/>
            <a:ext cx="402336" cy="40233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step number 5"/>
          <p:cNvSpPr txBox="1"/>
          <p:nvPr/>
        </p:nvSpPr>
        <p:spPr>
          <a:xfrm>
            <a:off x="7891272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step text 5"/>
          <p:cNvSpPr txBox="1"/>
          <p:nvPr/>
        </p:nvSpPr>
        <p:spPr>
          <a:xfrm>
            <a:off x="7269480" y="16002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Keep changing it while they play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edits in plain words; in 3D they land while players move, no reset</a:t>
            </a:r>
            <a:endParaRPr lang="en-US" sz="1100" dirty="0"/>
          </a:p>
        </p:txBody>
      </p:sp>
      <p:sp>
        <p:nvSpPr>
          <p:cNvPr id="31" name="engine card 1"/>
          <p:cNvSpPr/>
          <p:nvPr/>
        </p:nvSpPr>
        <p:spPr>
          <a:xfrm>
            <a:off x="457200" y="2377440"/>
            <a:ext cx="4041648" cy="1938528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label 3D WORLDS (THE EXISTING PIPELINE)"/>
          <p:cNvSpPr txBox="1"/>
          <p:nvPr/>
        </p:nvSpPr>
        <p:spPr>
          <a:xfrm>
            <a:off x="594360" y="246888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3D WORLDS (THE EXISTING PIPELINE)</a:t>
            </a:r>
            <a:endParaRPr lang="en-US" sz="900" dirty="0"/>
          </a:p>
        </p:txBody>
      </p:sp>
      <p:sp>
        <p:nvSpPr>
          <p:cNvPr id="33" name="engine card bullets 1"/>
          <p:cNvSpPr txBox="1"/>
          <p:nvPr/>
        </p:nvSpPr>
        <p:spPr>
          <a:xfrm>
            <a:off x="594360" y="2724912"/>
            <a:ext cx="37673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5 engine modes: relic_hunt, time_trial, king_of_the_hill, checkpoint_race, survival. The model picks one and fills its parameters; it never writes rules.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5 biomes, 2 terrains, water or lava, a rising hazard, 3 to 7 m/s, 11 decoration types.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Streams ahead of players near an edge, up to 24 islands and 48 bridges; the director can switch it off.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Live validated edits (set_mode, set_biome, set_movement, structural ops), each a new version. Phones are the controllers.</a:t>
            </a:r>
            <a:endParaRPr lang="en-US" sz="900" dirty="0"/>
          </a:p>
        </p:txBody>
      </p:sp>
      <p:sp>
        <p:nvSpPr>
          <p:cNvPr id="34" name="engine card 2"/>
          <p:cNvSpPr/>
          <p:nvPr/>
        </p:nvSpPr>
        <p:spPr>
          <a:xfrm>
            <a:off x="4645152" y="2377440"/>
            <a:ext cx="4041648" cy="1938528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label BEETLE 2D STUDIO (/2d)"/>
          <p:cNvSpPr txBox="1"/>
          <p:nvPr/>
        </p:nvSpPr>
        <p:spPr>
          <a:xfrm>
            <a:off x="4782312" y="246888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BEETLE 2D STUDIO (/2d)</a:t>
            </a:r>
            <a:endParaRPr lang="en-US" sz="900" dirty="0"/>
          </a:p>
        </p:txBody>
      </p:sp>
      <p:sp>
        <p:nvSpPr>
          <p:cNvPr id="36" name="engine card bullets 2"/>
          <p:cNvSpPr txBox="1"/>
          <p:nvPr/>
        </p:nvSpPr>
        <p:spPr>
          <a:xfrm>
            <a:off x="4782312" y="2724912"/>
            <a:ext cx="376732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Platformer, top-down, puzzle, defense, runner, arena and other level-based games, generated by the same local model through the server's loopback endpoint.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Procedural pixel sprites, tiles, sound and music, made for the game; no asset pack needed.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Edits in plain words: known requests are patched directly, the rest are proposed by the model as patch ops.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The Game Spec is validated by game code and repaired or refused with the exact list. Export as a single-file HTML game.</a:t>
            </a:r>
            <a:endParaRPr lang="en-US" sz="900" dirty="0"/>
          </a:p>
        </p:txBody>
      </p:sp>
      <p:sp>
        <p:nvSpPr>
          <p:cNvPr id="37" name="category note"/>
          <p:cNvSpPr txBox="1"/>
          <p:nvPr/>
        </p:nvSpPr>
        <p:spPr>
          <a:xfrm>
            <a:off x="457200" y="4389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chemeClr val="tx2"/>
                </a:solidFill>
              </a:rPr>
              <a:t>Adapted from one-prompt game generators: the one-prompt front door and instant playable output. Added: 2D and 3D from one prompt on one local model, live editing without a reset, deterministic validation and repair before publish, local-only inference, phones as controllers (docs/COMPETITIVE.md). A request outside a library lands on the nearest genre or mode and Beetle says so.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working video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video placeholder frame"/>
          <p:cNvSpPr/>
          <p:nvPr/>
        </p:nvSpPr>
        <p:spPr>
          <a:xfrm>
            <a:off x="457200" y="1188720"/>
            <a:ext cx="4846320" cy="2726055"/>
          </a:xfrm>
          <a:prstGeom prst="roundRect">
            <a:avLst>
              <a:gd name="adj" fmla="val 2013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16" name="play circle"/>
          <p:cNvSpPr/>
          <p:nvPr/>
        </p:nvSpPr>
        <p:spPr>
          <a:xfrm>
            <a:off x="2560320" y="2003107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play triangle"/>
          <p:cNvSpPr/>
          <p:nvPr/>
        </p:nvSpPr>
        <p:spPr>
          <a:xfrm rot="5400000">
            <a:off x="2761488" y="2176844"/>
            <a:ext cx="274320" cy="292608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video placeholder text"/>
          <p:cNvSpPr txBox="1"/>
          <p:nvPr/>
        </p:nvSpPr>
        <p:spPr>
          <a:xfrm>
            <a:off x="731520" y="2826067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[VIDEO PLACEHOLDER]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Insert the rehearsal recording here (90 to 120 s). Not yet recorded at 13:40 CDT.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caption names the agent mode used; any time compression is labelled on screen</a:t>
            </a:r>
            <a:endParaRPr lang="en-US" sz="1400" dirty="0"/>
          </a:p>
        </p:txBody>
      </p:sp>
      <p:sp>
        <p:nvSpPr>
          <p:cNvPr id="19" name="video summary"/>
          <p:cNvSpPr txBox="1"/>
          <p:nvPr/>
        </p:nvSpPr>
        <p:spPr>
          <a:xfrm>
            <a:off x="457200" y="4051935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Fresh world, two phones, a live edit, preserved progress, a conflicting edit caught by the validator, the repaired version committed.</a:t>
            </a:r>
            <a:endParaRPr lang="en-US" sz="1100" dirty="0"/>
          </a:p>
        </p:txBody>
      </p:sp>
      <p:sp>
        <p:nvSpPr>
          <p:cNvPr id="20" name="label ON-SCREEN CAPTIONS"/>
          <p:cNvSpPr txBox="1"/>
          <p:nvPr/>
        </p:nvSpPr>
        <p:spPr>
          <a:xfrm>
            <a:off x="5577840" y="1188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ON-SCREEN CAPTIONS</a:t>
            </a:r>
            <a:endParaRPr lang="en-US" sz="1000" dirty="0"/>
          </a:p>
        </p:txBody>
      </p:sp>
      <p:sp>
        <p:nvSpPr>
          <p:cNvPr id="21" name="caption list"/>
          <p:cNvSpPr txBox="1"/>
          <p:nvPr/>
        </p:nvSpPr>
        <p:spPr>
          <a:xfrm>
            <a:off x="557784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 to 6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Beetle. Change the game without stopping the game.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6 to 22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A local model composes the world. Validated by game code before it is published.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22 to 34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Two players join from their phones. Same screen, their phones only send controls.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34 to 58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Edits land live. No disconnect, no reset.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58 to 90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The validator refuses a world nobody can finish (DISCONNECTED_GOAL). The agent repairs it and commits only a passing version.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90 to 105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Measured on one GB10. Local model, local agent in [direct or OpenClaw] mode, no cloud.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105 to 115 s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Beetle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Two engines, one local model, one validation discipline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label 3D WORLDS: REQUEST TO COMMITTED VERSION"/>
          <p:cNvSpPr txBox="1"/>
          <p:nvPr/>
        </p:nvSpPr>
        <p:spPr>
          <a:xfrm>
            <a:off x="457200" y="1097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3D WORLDS: REQUEST TO COMMITTED VERSION</a:t>
            </a:r>
            <a:endParaRPr lang="en-US" sz="850" dirty="0"/>
          </a:p>
        </p:txBody>
      </p:sp>
      <p:sp>
        <p:nvSpPr>
          <p:cNvPr id="16" name="3D WORLDS: REQUEST TO COMMITTED VERSION node Director or frontier"/>
          <p:cNvSpPr/>
          <p:nvPr/>
        </p:nvSpPr>
        <p:spPr>
          <a:xfrm>
            <a:off x="45720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3D WORLDS: REQUEST TO COMMITTED VERSION node title Director or frontier"/>
          <p:cNvSpPr txBox="1"/>
          <p:nvPr/>
        </p:nvSpPr>
        <p:spPr>
          <a:xfrm>
            <a:off x="45720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Director or frontier</a:t>
            </a:r>
            <a:endParaRPr lang="en-US" sz="950" dirty="0"/>
          </a:p>
        </p:txBody>
      </p:sp>
      <p:sp>
        <p:nvSpPr>
          <p:cNvPr id="18" name="3D WORLDS: REQUEST TO COMMITTED VERSION node sub Director or frontier"/>
          <p:cNvSpPr txBox="1"/>
          <p:nvPr/>
        </p:nvSpPr>
        <p:spPr>
          <a:xfrm>
            <a:off x="40233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a typed request, or a player near a rim with no crossing beyond</a:t>
            </a:r>
            <a:endParaRPr lang="en-US" sz="750" dirty="0"/>
          </a:p>
        </p:txBody>
      </p:sp>
      <p:sp>
        <p:nvSpPr>
          <p:cNvPr id="19" name="arrow"/>
          <p:cNvSpPr/>
          <p:nvPr/>
        </p:nvSpPr>
        <p:spPr>
          <a:xfrm>
            <a:off x="1703832" y="157276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3D WORLDS: REQUEST TO COMMITTED VERSION node OpenClaw agent"/>
          <p:cNvSpPr/>
          <p:nvPr/>
        </p:nvSpPr>
        <p:spPr>
          <a:xfrm>
            <a:off x="185928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3D WORLDS: REQUEST TO COMMITTED VERSION node title OpenClaw agent"/>
          <p:cNvSpPr txBox="1"/>
          <p:nvPr/>
        </p:nvSpPr>
        <p:spPr>
          <a:xfrm>
            <a:off x="185928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OpenClaw agent</a:t>
            </a:r>
            <a:endParaRPr lang="en-US" sz="950" dirty="0"/>
          </a:p>
        </p:txBody>
      </p:sp>
      <p:sp>
        <p:nvSpPr>
          <p:cNvPr id="22" name="3D WORLDS: REQUEST TO COMMITTED VERSION node sub OpenClaw agent"/>
          <p:cNvSpPr txBox="1"/>
          <p:nvPr/>
        </p:nvSpPr>
        <p:spPr>
          <a:xfrm>
            <a:off x="180441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reads state, proposes, repairs at most 2 times, then fails honestly</a:t>
            </a:r>
            <a:endParaRPr lang="en-US" sz="750" dirty="0"/>
          </a:p>
        </p:txBody>
      </p:sp>
      <p:sp>
        <p:nvSpPr>
          <p:cNvPr id="23" name="arrow"/>
          <p:cNvSpPr/>
          <p:nvPr/>
        </p:nvSpPr>
        <p:spPr>
          <a:xfrm>
            <a:off x="3105912" y="157276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3D WORLDS: REQUEST TO COMMITTED VERSION node Map to mode + biome"/>
          <p:cNvSpPr/>
          <p:nvPr/>
        </p:nvSpPr>
        <p:spPr>
          <a:xfrm>
            <a:off x="326136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ysDash"/>
          </a:ln>
        </p:spPr>
      </p:sp>
      <p:sp>
        <p:nvSpPr>
          <p:cNvPr id="25" name="3D WORLDS: REQUEST TO COMMITTED VERSION node title Map to mode + biome"/>
          <p:cNvSpPr txBox="1"/>
          <p:nvPr/>
        </p:nvSpPr>
        <p:spPr>
          <a:xfrm>
            <a:off x="326136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Map to mode + biome</a:t>
            </a:r>
            <a:endParaRPr lang="en-US" sz="950" dirty="0"/>
          </a:p>
        </p:txBody>
      </p:sp>
      <p:sp>
        <p:nvSpPr>
          <p:cNvPr id="26" name="3D WORLDS: REQUEST TO COMMITTED VERSION node sub Map to mode + biome"/>
          <p:cNvSpPr txBox="1"/>
          <p:nvPr/>
        </p:nvSpPr>
        <p:spPr>
          <a:xfrm>
            <a:off x="320649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closest of 5 modes, 5 biomes; named in the summary</a:t>
            </a:r>
            <a:endParaRPr lang="en-US" sz="750" dirty="0"/>
          </a:p>
        </p:txBody>
      </p:sp>
      <p:sp>
        <p:nvSpPr>
          <p:cNvPr id="27" name="arrow"/>
          <p:cNvSpPr/>
          <p:nvPr/>
        </p:nvSpPr>
        <p:spPr>
          <a:xfrm>
            <a:off x="4507992" y="157276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3D WORLDS: REQUEST TO COMMITTED VERSION node Beetle tools"/>
          <p:cNvSpPr/>
          <p:nvPr/>
        </p:nvSpPr>
        <p:spPr>
          <a:xfrm>
            <a:off x="466344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3D WORLDS: REQUEST TO COMMITTED VERSION node title Beetle tools"/>
          <p:cNvSpPr txBox="1"/>
          <p:nvPr/>
        </p:nvSpPr>
        <p:spPr>
          <a:xfrm>
            <a:off x="466344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Beetle tools</a:t>
            </a:r>
            <a:endParaRPr lang="en-US" sz="950" dirty="0"/>
          </a:p>
        </p:txBody>
      </p:sp>
      <p:sp>
        <p:nvSpPr>
          <p:cNvPr id="30" name="3D WORLDS: REQUEST TO COMMITTED VERSION node sub Beetle tools"/>
          <p:cNvSpPr txBox="1"/>
          <p:nvPr/>
        </p:nvSpPr>
        <p:spPr>
          <a:xfrm>
            <a:off x="460857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schema-checked JSON only, nothing executed; add_island to grow</a:t>
            </a:r>
            <a:endParaRPr lang="en-US" sz="750" dirty="0"/>
          </a:p>
        </p:txBody>
      </p:sp>
      <p:sp>
        <p:nvSpPr>
          <p:cNvPr id="31" name="arrow"/>
          <p:cNvSpPr/>
          <p:nvPr/>
        </p:nvSpPr>
        <p:spPr>
          <a:xfrm>
            <a:off x="5910072" y="157276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3D WORLDS: REQUEST TO COMMITTED VERSION node Server validator and commit"/>
          <p:cNvSpPr/>
          <p:nvPr/>
        </p:nvSpPr>
        <p:spPr>
          <a:xfrm>
            <a:off x="606552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3D WORLDS: REQUEST TO COMMITTED VERSION node title Server validator and commit"/>
          <p:cNvSpPr txBox="1"/>
          <p:nvPr/>
        </p:nvSpPr>
        <p:spPr>
          <a:xfrm>
            <a:off x="606552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Server validator and commit</a:t>
            </a:r>
            <a:endParaRPr lang="en-US" sz="950" dirty="0"/>
          </a:p>
        </p:txBody>
      </p:sp>
      <p:sp>
        <p:nvSpPr>
          <p:cNvPr id="34" name="3D WORLDS: REQUEST TO COMMITTED VERSION node sub Server validator and commit"/>
          <p:cNvSpPr txBox="1"/>
          <p:nvPr/>
        </p:nvSpPr>
        <p:spPr>
          <a:xfrm>
            <a:off x="601065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deterministic game code, server-issued proof</a:t>
            </a:r>
            <a:endParaRPr lang="en-US" sz="750" dirty="0"/>
          </a:p>
        </p:txBody>
      </p:sp>
      <p:sp>
        <p:nvSpPr>
          <p:cNvPr id="35" name="arrow"/>
          <p:cNvSpPr/>
          <p:nvPr/>
        </p:nvSpPr>
        <p:spPr>
          <a:xfrm>
            <a:off x="7312152" y="157276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6" name="3D WORLDS: REQUEST TO COMMITTED VERSION node Players"/>
          <p:cNvSpPr/>
          <p:nvPr/>
        </p:nvSpPr>
        <p:spPr>
          <a:xfrm>
            <a:off x="7467600" y="1344168"/>
            <a:ext cx="1219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7" name="3D WORLDS: REQUEST TO COMMITTED VERSION node title Players"/>
          <p:cNvSpPr txBox="1"/>
          <p:nvPr/>
        </p:nvSpPr>
        <p:spPr>
          <a:xfrm>
            <a:off x="7467600" y="1344168"/>
            <a:ext cx="1219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Players</a:t>
            </a:r>
            <a:endParaRPr lang="en-US" sz="950" dirty="0"/>
          </a:p>
        </p:txBody>
      </p:sp>
      <p:sp>
        <p:nvSpPr>
          <p:cNvPr id="38" name="3D WORLDS: REQUEST TO COMMITTED VERSION node sub Players"/>
          <p:cNvSpPr txBox="1"/>
          <p:nvPr/>
        </p:nvSpPr>
        <p:spPr>
          <a:xfrm>
            <a:off x="7412736" y="1837944"/>
            <a:ext cx="132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same session, same progress, new version</a:t>
            </a:r>
            <a:endParaRPr lang="en-US" sz="750" dirty="0"/>
          </a:p>
        </p:txBody>
      </p:sp>
      <p:sp>
        <p:nvSpPr>
          <p:cNvPr id="39" name="label BEETLE 2D STUDIO (/2d): IDEA TO PLAYABLE GAME"/>
          <p:cNvSpPr txBox="1"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BEETLE 2D STUDIO (/2d): IDEA TO PLAYABLE GAME</a:t>
            </a:r>
            <a:endParaRPr lang="en-US" sz="850" dirty="0"/>
          </a:p>
        </p:txBody>
      </p:sp>
      <p:sp>
        <p:nvSpPr>
          <p:cNvPr id="40" name="BEETLE 2D STUDIO (/2d): IDEA TO PLAYABLE GAME node Idea in words"/>
          <p:cNvSpPr/>
          <p:nvPr/>
        </p:nvSpPr>
        <p:spPr>
          <a:xfrm>
            <a:off x="457200" y="2578608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1" name="BEETLE 2D STUDIO (/2d): IDEA TO PLAYABLE GAME node title Idea in words"/>
          <p:cNvSpPr txBox="1"/>
          <p:nvPr/>
        </p:nvSpPr>
        <p:spPr>
          <a:xfrm>
            <a:off x="457200" y="2578608"/>
            <a:ext cx="14996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Idea in words</a:t>
            </a:r>
            <a:endParaRPr lang="en-US" sz="950" dirty="0"/>
          </a:p>
        </p:txBody>
      </p:sp>
      <p:sp>
        <p:nvSpPr>
          <p:cNvPr id="42" name="BEETLE 2D STUDIO (/2d): IDEA TO PLAYABLE GAME node sub Idea in words"/>
          <p:cNvSpPr txBox="1"/>
          <p:nvPr/>
        </p:nvSpPr>
        <p:spPr>
          <a:xfrm>
            <a:off x="402336" y="30723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the genre the person names wins over the model's guess</a:t>
            </a:r>
            <a:endParaRPr lang="en-US" sz="750" dirty="0"/>
          </a:p>
        </p:txBody>
      </p:sp>
      <p:sp>
        <p:nvSpPr>
          <p:cNvPr id="43" name="arrow"/>
          <p:cNvSpPr/>
          <p:nvPr/>
        </p:nvSpPr>
        <p:spPr>
          <a:xfrm>
            <a:off x="1984248" y="280720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4" name="BEETLE 2D STUDIO (/2d): IDEA TO PLAYABLE GAME node Design doc"/>
          <p:cNvSpPr/>
          <p:nvPr/>
        </p:nvSpPr>
        <p:spPr>
          <a:xfrm>
            <a:off x="2139696" y="2578608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ysDash"/>
          </a:ln>
        </p:spPr>
      </p:sp>
      <p:sp>
        <p:nvSpPr>
          <p:cNvPr id="45" name="BEETLE 2D STUDIO (/2d): IDEA TO PLAYABLE GAME node title Design doc"/>
          <p:cNvSpPr txBox="1"/>
          <p:nvPr/>
        </p:nvSpPr>
        <p:spPr>
          <a:xfrm>
            <a:off x="2139696" y="2578608"/>
            <a:ext cx="14996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Design doc</a:t>
            </a:r>
            <a:endParaRPr lang="en-US" sz="950" dirty="0"/>
          </a:p>
        </p:txBody>
      </p:sp>
      <p:sp>
        <p:nvSpPr>
          <p:cNvPr id="46" name="BEETLE 2D STUDIO (/2d): IDEA TO PLAYABLE GAME node sub Design doc"/>
          <p:cNvSpPr txBox="1"/>
          <p:nvPr/>
        </p:nvSpPr>
        <p:spPr>
          <a:xfrm>
            <a:off x="2084832" y="30723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local model, schema-constrained JSON through /api/2d/llm</a:t>
            </a:r>
            <a:endParaRPr lang="en-US" sz="750" dirty="0"/>
          </a:p>
        </p:txBody>
      </p:sp>
      <p:sp>
        <p:nvSpPr>
          <p:cNvPr id="47" name="arrow"/>
          <p:cNvSpPr/>
          <p:nvPr/>
        </p:nvSpPr>
        <p:spPr>
          <a:xfrm>
            <a:off x="3666744" y="280720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8" name="BEETLE 2D STUDIO (/2d): IDEA TO PLAYABLE GAME node Game Spec and assets"/>
          <p:cNvSpPr/>
          <p:nvPr/>
        </p:nvSpPr>
        <p:spPr>
          <a:xfrm>
            <a:off x="3822192" y="2578608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9" name="BEETLE 2D STUDIO (/2d): IDEA TO PLAYABLE GAME node title Game Spec and assets"/>
          <p:cNvSpPr txBox="1"/>
          <p:nvPr/>
        </p:nvSpPr>
        <p:spPr>
          <a:xfrm>
            <a:off x="3822192" y="2578608"/>
            <a:ext cx="14996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Game Spec and assets</a:t>
            </a:r>
            <a:endParaRPr lang="en-US" sz="950" dirty="0"/>
          </a:p>
        </p:txBody>
      </p:sp>
      <p:sp>
        <p:nvSpPr>
          <p:cNvPr id="50" name="BEETLE 2D STUDIO (/2d): IDEA TO PLAYABLE GAME node sub Game Spec and assets"/>
          <p:cNvSpPr txBox="1"/>
          <p:nvPr/>
        </p:nvSpPr>
        <p:spPr>
          <a:xfrm>
            <a:off x="3767328" y="30723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procedural pixel sprites, tiles, sound and music</a:t>
            </a:r>
            <a:endParaRPr lang="en-US" sz="750" dirty="0"/>
          </a:p>
        </p:txBody>
      </p:sp>
      <p:sp>
        <p:nvSpPr>
          <p:cNvPr id="51" name="arrow"/>
          <p:cNvSpPr/>
          <p:nvPr/>
        </p:nvSpPr>
        <p:spPr>
          <a:xfrm>
            <a:off x="5349240" y="280720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2" name="BEETLE 2D STUDIO (/2d): IDEA TO PLAYABLE GAME node Spec validator and repair"/>
          <p:cNvSpPr/>
          <p:nvPr/>
        </p:nvSpPr>
        <p:spPr>
          <a:xfrm>
            <a:off x="5504688" y="2578608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3" name="BEETLE 2D STUDIO (/2d): IDEA TO PLAYABLE GAME node title Spec validator and repair"/>
          <p:cNvSpPr txBox="1"/>
          <p:nvPr/>
        </p:nvSpPr>
        <p:spPr>
          <a:xfrm>
            <a:off x="5504688" y="2578608"/>
            <a:ext cx="14996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Spec validator and repair</a:t>
            </a:r>
            <a:endParaRPr lang="en-US" sz="950" dirty="0"/>
          </a:p>
        </p:txBody>
      </p:sp>
      <p:sp>
        <p:nvSpPr>
          <p:cNvPr id="54" name="BEETLE 2D STUDIO (/2d): IDEA TO PLAYABLE GAME node sub Spec validator and repair"/>
          <p:cNvSpPr txBox="1"/>
          <p:nvPr/>
        </p:nvSpPr>
        <p:spPr>
          <a:xfrm>
            <a:off x="5449824" y="30723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game code: a valid spec, or the exact list of what could not be fixed</a:t>
            </a:r>
            <a:endParaRPr lang="en-US" sz="750" dirty="0"/>
          </a:p>
        </p:txBody>
      </p:sp>
      <p:sp>
        <p:nvSpPr>
          <p:cNvPr id="55" name="arrow"/>
          <p:cNvSpPr/>
          <p:nvPr/>
        </p:nvSpPr>
        <p:spPr>
          <a:xfrm>
            <a:off x="7031736" y="2807208"/>
            <a:ext cx="128016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6" name="BEETLE 2D STUDIO (/2d): IDEA TO PLAYABLE GAME node Play, edit in words, export"/>
          <p:cNvSpPr/>
          <p:nvPr/>
        </p:nvSpPr>
        <p:spPr>
          <a:xfrm>
            <a:off x="7187184" y="2578608"/>
            <a:ext cx="1499616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7" name="BEETLE 2D STUDIO (/2d): IDEA TO PLAYABLE GAME node title Play, edit in words, export"/>
          <p:cNvSpPr txBox="1"/>
          <p:nvPr/>
        </p:nvSpPr>
        <p:spPr>
          <a:xfrm>
            <a:off x="7187184" y="2578608"/>
            <a:ext cx="149961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Play, edit in words, export</a:t>
            </a:r>
            <a:endParaRPr lang="en-US" sz="950" dirty="0"/>
          </a:p>
        </p:txBody>
      </p:sp>
      <p:sp>
        <p:nvSpPr>
          <p:cNvPr id="58" name="BEETLE 2D STUDIO (/2d): IDEA TO PLAYABLE GAME node sub Play, edit in words, export"/>
          <p:cNvSpPr txBox="1"/>
          <p:nvPr/>
        </p:nvSpPr>
        <p:spPr>
          <a:xfrm>
            <a:off x="7132320" y="30723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known edits patched directly, the rest as model patch ops; single-file HTML</a:t>
            </a:r>
            <a:endParaRPr lang="en-US" sz="750" dirty="0"/>
          </a:p>
        </p:txBody>
      </p:sp>
      <p:sp>
        <p:nvSpPr>
          <p:cNvPr id="59" name="lower card 1"/>
          <p:cNvSpPr/>
          <p:nvPr/>
        </p:nvSpPr>
        <p:spPr>
          <a:xfrm>
            <a:off x="457200" y="3547872"/>
            <a:ext cx="265176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0" name="label ONE LOCAL MODEL"/>
          <p:cNvSpPr txBox="1"/>
          <p:nvPr/>
        </p:nvSpPr>
        <p:spPr>
          <a:xfrm>
            <a:off x="566928" y="362102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ONE LOCAL MODEL</a:t>
            </a:r>
            <a:endParaRPr lang="en-US" sz="850" dirty="0"/>
          </a:p>
        </p:txBody>
      </p:sp>
      <p:sp>
        <p:nvSpPr>
          <p:cNvPr id="61" name="lower card bullets 1"/>
          <p:cNvSpPr txBox="1"/>
          <p:nvPr/>
        </p:nvSpPr>
        <p:spPr>
          <a:xfrm>
            <a:off x="566928" y="3840480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Both engines call the same configured model (qwen3.5:4b) on Ollama at 127.0.0.1; no cloud fallback host exists.</a:t>
            </a:r>
            <a:endParaRPr lang="en-US" sz="8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2D model calls go through the server's loopback endpoint, director token required.</a:t>
            </a:r>
            <a:endParaRPr lang="en-US" sz="800" dirty="0"/>
          </a:p>
        </p:txBody>
      </p:sp>
      <p:sp>
        <p:nvSpPr>
          <p:cNvPr id="62" name="lower card 2"/>
          <p:cNvSpPr/>
          <p:nvPr/>
        </p:nvSpPr>
        <p:spPr>
          <a:xfrm>
            <a:off x="3246120" y="3547872"/>
            <a:ext cx="265176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3" name="label ONE VALIDATION DISCIPLINE"/>
          <p:cNvSpPr txBox="1"/>
          <p:nvPr/>
        </p:nvSpPr>
        <p:spPr>
          <a:xfrm>
            <a:off x="3355848" y="362102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ONE VALIDATION DISCIPLINE</a:t>
            </a:r>
            <a:endParaRPr lang="en-US" sz="850" dirty="0"/>
          </a:p>
        </p:txBody>
      </p:sp>
      <p:sp>
        <p:nvSpPr>
          <p:cNvPr id="64" name="lower card bullets 2"/>
          <p:cNvSpPr txBox="1"/>
          <p:nvPr/>
        </p:nvSpPr>
        <p:spPr>
          <a:xfrm>
            <a:off x="3355848" y="3840480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The model only proposes JSON; game code decides. An LLM saying valid is never approval.</a:t>
            </a:r>
            <a:endParaRPr lang="en-US" sz="8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3D: geometry, sockets, reachability, MODE_INVALID, commit proof. 2D: strict Game Spec checks, repair or refuse.</a:t>
            </a:r>
            <a:endParaRPr lang="en-US" sz="800" dirty="0"/>
          </a:p>
        </p:txBody>
      </p:sp>
      <p:sp>
        <p:nvSpPr>
          <p:cNvPr id="65" name="lower card 3"/>
          <p:cNvSpPr/>
          <p:nvPr/>
        </p:nvSpPr>
        <p:spPr>
          <a:xfrm>
            <a:off x="6035040" y="3547872"/>
            <a:ext cx="265176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6" name="label 3D STATE AND GROWTH"/>
          <p:cNvSpPr txBox="1"/>
          <p:nvPr/>
        </p:nvSpPr>
        <p:spPr>
          <a:xfrm>
            <a:off x="6144768" y="362102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chemeClr val="accent1"/>
                </a:solidFill>
              </a:rPr>
              <a:t>3D STATE AND GROWTH</a:t>
            </a:r>
            <a:endParaRPr lang="en-US" sz="850" dirty="0"/>
          </a:p>
        </p:txBody>
      </p:sp>
      <p:sp>
        <p:nvSpPr>
          <p:cNvPr id="67" name="lower card bullets 3"/>
          <p:cNvSpPr txBox="1"/>
          <p:nvPr/>
        </p:nvSpPr>
        <p:spPr>
          <a:xfrm>
            <a:off x="6144768" y="3840480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WorldSpec is structure; SessionState is players, relics, score. The agent never writes SessionState.</a:t>
            </a:r>
            <a:endParaRPr lang="en-US" sz="8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Extensions add 1 to 2 islands, at least 12 s apart, up to 24 islands and 48 bridges.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Measured local-first results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result card MODEL"/>
          <p:cNvSpPr/>
          <p:nvPr/>
        </p:nvSpPr>
        <p:spPr>
          <a:xfrm>
            <a:off x="457200" y="1097280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label MODEL"/>
          <p:cNvSpPr txBox="1"/>
          <p:nvPr/>
        </p:nvSpPr>
        <p:spPr>
          <a:xfrm>
            <a:off x="566928" y="11521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MODEL</a:t>
            </a:r>
            <a:endParaRPr lang="en-US" sz="750" dirty="0"/>
          </a:p>
        </p:txBody>
      </p:sp>
      <p:sp>
        <p:nvSpPr>
          <p:cNvPr id="17" name="result value MODEL"/>
          <p:cNvSpPr txBox="1"/>
          <p:nvPr/>
        </p:nvSpPr>
        <p:spPr>
          <a:xfrm>
            <a:off x="566928" y="12984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qwen3.5:4b, Q4_K_M</a:t>
            </a:r>
            <a:endParaRPr lang="en-US" sz="1100" dirty="0"/>
          </a:p>
        </p:txBody>
      </p:sp>
      <p:sp>
        <p:nvSpPr>
          <p:cNvPr id="18" name="result sub MODEL"/>
          <p:cNvSpPr txBox="1"/>
          <p:nvPr/>
        </p:nvSpPr>
        <p:spPr>
          <a:xfrm>
            <a:off x="566928" y="1545336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4.7B, 3.4 GB, Ollama 0.35.1 on loopback. qwen3.8:27b not benchmarked: pull failed once, second pull stopped. docs/MODEL_SELECTION.md</a:t>
            </a:r>
            <a:endParaRPr lang="en-US" sz="680" dirty="0"/>
          </a:p>
        </p:txBody>
      </p:sp>
      <p:sp>
        <p:nvSpPr>
          <p:cNvPr id="19" name="result card BRIEF, WARM, QUIET GPU"/>
          <p:cNvSpPr/>
          <p:nvPr/>
        </p:nvSpPr>
        <p:spPr>
          <a:xfrm>
            <a:off x="2542032" y="1097280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label BRIEF, WARM, QUIET GPU"/>
          <p:cNvSpPr txBox="1"/>
          <p:nvPr/>
        </p:nvSpPr>
        <p:spPr>
          <a:xfrm>
            <a:off x="2651760" y="11521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BRIEF, WARM, QUIET GPU</a:t>
            </a:r>
            <a:endParaRPr lang="en-US" sz="750" dirty="0"/>
          </a:p>
        </p:txBody>
      </p:sp>
      <p:sp>
        <p:nvSpPr>
          <p:cNvPr id="21" name="result value BRIEF, WARM, QUIET GPU"/>
          <p:cNvSpPr txBox="1"/>
          <p:nvPr/>
        </p:nvSpPr>
        <p:spPr>
          <a:xfrm>
            <a:off x="2651760" y="12984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26.2 / 26.5 / 27.7 s</a:t>
            </a:r>
            <a:endParaRPr lang="en-US" sz="1100" dirty="0"/>
          </a:p>
        </p:txBody>
      </p:sp>
      <p:sp>
        <p:nvSpPr>
          <p:cNvPr id="22" name="result sub BRIEF, WARM, QUIET GPU"/>
          <p:cNvSpPr txBox="1"/>
          <p:nvPr/>
        </p:nvSpPr>
        <p:spPr>
          <a:xfrm>
            <a:off x="2651760" y="1545336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min / p50 / max, 3 runs, first draft valid (bench-...1791049348895.json). 10 s target not met. 14 s once after normalization (RESULTS.md run 3); 33.4 s via OpenClaw.</a:t>
            </a:r>
            <a:endParaRPr lang="en-US" sz="680" dirty="0"/>
          </a:p>
        </p:txBody>
      </p:sp>
      <p:sp>
        <p:nvSpPr>
          <p:cNvPr id="23" name="result card MODE BRIEFS"/>
          <p:cNvSpPr/>
          <p:nvPr/>
        </p:nvSpPr>
        <p:spPr>
          <a:xfrm>
            <a:off x="4626864" y="1097280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label MODE BRIEFS"/>
          <p:cNvSpPr txBox="1"/>
          <p:nvPr/>
        </p:nvSpPr>
        <p:spPr>
          <a:xfrm>
            <a:off x="4736592" y="11521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MODE BRIEFS</a:t>
            </a:r>
            <a:endParaRPr lang="en-US" sz="750" dirty="0"/>
          </a:p>
        </p:txBody>
      </p:sp>
      <p:sp>
        <p:nvSpPr>
          <p:cNvPr id="25" name="result value MODE BRIEFS"/>
          <p:cNvSpPr txBox="1"/>
          <p:nvPr/>
        </p:nvSpPr>
        <p:spPr>
          <a:xfrm>
            <a:off x="4736592" y="12984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18 of 18 right mode</a:t>
            </a:r>
            <a:endParaRPr lang="en-US" sz="1100" dirty="0"/>
          </a:p>
        </p:txBody>
      </p:sp>
      <p:sp>
        <p:nvSpPr>
          <p:cNvPr id="26" name="result sub MODE BRIEFS"/>
          <p:cNvSpPr txBox="1"/>
          <p:nvPr/>
        </p:nvSpPr>
        <p:spPr>
          <a:xfrm>
            <a:off x="4736592" y="1545336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committed briefs 13.0 to 44.1 s; exact mode missed twice; 8 of 14 final-prompt attempts committed, failures all geometry; mode and biome edits 3.0 s (RESULTS.md 'Game modes from one prompt', direct).</a:t>
            </a:r>
            <a:endParaRPr lang="en-US" sz="680" dirty="0"/>
          </a:p>
        </p:txBody>
      </p:sp>
      <p:sp>
        <p:nvSpPr>
          <p:cNvPr id="27" name="result card COLD / CONTENDED GPU"/>
          <p:cNvSpPr/>
          <p:nvPr/>
        </p:nvSpPr>
        <p:spPr>
          <a:xfrm>
            <a:off x="6711696" y="1097280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label COLD / CONTENDED GPU"/>
          <p:cNvSpPr txBox="1"/>
          <p:nvPr/>
        </p:nvSpPr>
        <p:spPr>
          <a:xfrm>
            <a:off x="6821424" y="11521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COLD / CONTENDED GPU</a:t>
            </a:r>
            <a:endParaRPr lang="en-US" sz="750" dirty="0"/>
          </a:p>
        </p:txBody>
      </p:sp>
      <p:sp>
        <p:nvSpPr>
          <p:cNvPr id="29" name="result value COLD / CONTENDED GPU"/>
          <p:cNvSpPr txBox="1"/>
          <p:nvPr/>
        </p:nvSpPr>
        <p:spPr>
          <a:xfrm>
            <a:off x="6821424" y="12984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23.1 s load; 58 to 214 s</a:t>
            </a:r>
            <a:endParaRPr lang="en-US" sz="1100" dirty="0"/>
          </a:p>
        </p:txBody>
      </p:sp>
      <p:sp>
        <p:nvSpPr>
          <p:cNvPr id="30" name="result sub COLD / CONTENDED GPU"/>
          <p:cNvSpPr txBox="1"/>
          <p:nvPr/>
        </p:nvSpPr>
        <p:spPr>
          <a:xfrm>
            <a:off x="6821424" y="1545336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cold: 23.1 s load in a 54.4 s first draft (probe-run.log). Contended drafts 58.8 to 214.1 s, one edit 45.1 s (bench-...1791050596040.json).</a:t>
            </a:r>
            <a:endParaRPr lang="en-US" sz="680" dirty="0"/>
          </a:p>
        </p:txBody>
      </p:sp>
      <p:sp>
        <p:nvSpPr>
          <p:cNvPr id="31" name="result card EDIT TO COMMIT"/>
          <p:cNvSpPr/>
          <p:nvPr/>
        </p:nvSpPr>
        <p:spPr>
          <a:xfrm>
            <a:off x="457200" y="2066544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label EDIT TO COMMIT"/>
          <p:cNvSpPr txBox="1"/>
          <p:nvPr/>
        </p:nvSpPr>
        <p:spPr>
          <a:xfrm>
            <a:off x="566928" y="21214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EDIT TO COMMIT</a:t>
            </a:r>
            <a:endParaRPr lang="en-US" sz="750" dirty="0"/>
          </a:p>
        </p:txBody>
      </p:sp>
      <p:sp>
        <p:nvSpPr>
          <p:cNvPr id="33" name="result value EDIT TO COMMIT"/>
          <p:cNvSpPr txBox="1"/>
          <p:nvPr/>
        </p:nvSpPr>
        <p:spPr>
          <a:xfrm>
            <a:off x="566928" y="2267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2.0 / 8.0 / 14.0 s</a:t>
            </a:r>
            <a:endParaRPr lang="en-US" sz="1100" dirty="0"/>
          </a:p>
        </p:txBody>
      </p:sp>
      <p:sp>
        <p:nvSpPr>
          <p:cNvPr id="34" name="result sub EDIT TO COMMIT"/>
          <p:cNvSpPr txBox="1"/>
          <p:nvPr/>
        </p:nvSpPr>
        <p:spPr>
          <a:xfrm>
            <a:off x="566928" y="2514600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min / p50 / max, 6 edits, 5 of 6 committed; run 3 after normalization, quiet GPU, direct (run-1791052136845.json). Run 2 before: 2 of 6.</a:t>
            </a:r>
            <a:endParaRPr lang="en-US" sz="680" dirty="0"/>
          </a:p>
        </p:txBody>
      </p:sp>
      <p:sp>
        <p:nvSpPr>
          <p:cNvPr id="35" name="result card EDIT WHILE 2 PLAY"/>
          <p:cNvSpPr/>
          <p:nvPr/>
        </p:nvSpPr>
        <p:spPr>
          <a:xfrm>
            <a:off x="2542032" y="2066544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6" name="label EDIT WHILE 2 PLAY"/>
          <p:cNvSpPr txBox="1"/>
          <p:nvPr/>
        </p:nvSpPr>
        <p:spPr>
          <a:xfrm>
            <a:off x="2651760" y="21214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EDIT WHILE 2 PLAY</a:t>
            </a:r>
            <a:endParaRPr lang="en-US" sz="750" dirty="0"/>
          </a:p>
        </p:txBody>
      </p:sp>
      <p:sp>
        <p:nvSpPr>
          <p:cNvPr id="37" name="result value EDIT WHILE 2 PLAY"/>
          <p:cNvSpPr txBox="1"/>
          <p:nvPr/>
        </p:nvSpPr>
        <p:spPr>
          <a:xfrm>
            <a:off x="2651760" y="2267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8.0 s, 15 of 15</a:t>
            </a:r>
            <a:endParaRPr lang="en-US" sz="1100" dirty="0"/>
          </a:p>
        </p:txBody>
      </p:sp>
      <p:sp>
        <p:nvSpPr>
          <p:cNvPr id="38" name="result sub EDIT WHILE 2 PLAY"/>
          <p:cNvSpPr txBox="1"/>
          <p:nvPr/>
        </p:nvSpPr>
        <p:spPr>
          <a:xfrm>
            <a:off x="2651760" y="2514600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acceptance run 2: both controllers walking, lava + bridge committed, relic and score unchanged, sockets open, max tick gap 67 ms (ACCEPTANCE.md).</a:t>
            </a:r>
            <a:endParaRPr lang="en-US" sz="680" dirty="0"/>
          </a:p>
        </p:txBody>
      </p:sp>
      <p:sp>
        <p:nvSpPr>
          <p:cNvPr id="39" name="result card INVALID EDITS CAUGHT"/>
          <p:cNvSpPr/>
          <p:nvPr/>
        </p:nvSpPr>
        <p:spPr>
          <a:xfrm>
            <a:off x="4626864" y="2066544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0" name="label INVALID EDITS CAUGHT"/>
          <p:cNvSpPr txBox="1"/>
          <p:nvPr/>
        </p:nvSpPr>
        <p:spPr>
          <a:xfrm>
            <a:off x="4736592" y="21214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INVALID EDITS CAUGHT</a:t>
            </a:r>
            <a:endParaRPr lang="en-US" sz="750" dirty="0"/>
          </a:p>
        </p:txBody>
      </p:sp>
      <p:sp>
        <p:nvSpPr>
          <p:cNvPr id="41" name="result value INVALID EDITS CAUGHT"/>
          <p:cNvSpPr txBox="1"/>
          <p:nvPr/>
        </p:nvSpPr>
        <p:spPr>
          <a:xfrm>
            <a:off x="4736592" y="2267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 of 12 refused</a:t>
            </a:r>
            <a:endParaRPr lang="en-US" sz="1100" dirty="0"/>
          </a:p>
        </p:txBody>
      </p:sp>
      <p:sp>
        <p:nvSpPr>
          <p:cNvPr id="42" name="result sub INVALID EDITS CAUGHT"/>
          <p:cNvSpPr txBox="1"/>
          <p:nvPr/>
        </p:nvSpPr>
        <p:spPr>
          <a:xfrm>
            <a:off x="4736592" y="2514600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runs 2 and 3 (RESULTS.md); repairs that then committed: 1; invalid worlds committed: 0. garden5: DISCONNECTED_GOAL refused 1.7 s, repaired and committed 3.0 s.</a:t>
            </a:r>
            <a:endParaRPr lang="en-US" sz="680" dirty="0"/>
          </a:p>
        </p:txBody>
      </p:sp>
      <p:sp>
        <p:nvSpPr>
          <p:cNvPr id="43" name="result card NORMALIZATION EFFECT"/>
          <p:cNvSpPr/>
          <p:nvPr/>
        </p:nvSpPr>
        <p:spPr>
          <a:xfrm>
            <a:off x="6711696" y="2066544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4" name="label NORMALIZATION EFFECT"/>
          <p:cNvSpPr txBox="1"/>
          <p:nvPr/>
        </p:nvSpPr>
        <p:spPr>
          <a:xfrm>
            <a:off x="6821424" y="21214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NORMALIZATION EFFECT</a:t>
            </a:r>
            <a:endParaRPr lang="en-US" sz="750" dirty="0"/>
          </a:p>
        </p:txBody>
      </p:sp>
      <p:sp>
        <p:nvSpPr>
          <p:cNvPr id="45" name="result value NORMALIZATION EFFECT"/>
          <p:cNvSpPr txBox="1"/>
          <p:nvPr/>
        </p:nvSpPr>
        <p:spPr>
          <a:xfrm>
            <a:off x="6821424" y="22677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of 30 to 13 of 30</a:t>
            </a:r>
            <a:endParaRPr lang="en-US" sz="1100" dirty="0"/>
          </a:p>
        </p:txBody>
      </p:sp>
      <p:sp>
        <p:nvSpPr>
          <p:cNvPr id="46" name="result sub NORMALIZATION EFFECT"/>
          <p:cNvSpPr txBox="1"/>
          <p:nvPr/>
        </p:nvSpPr>
        <p:spPr>
          <a:xfrm>
            <a:off x="6821424" y="2514600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corpus validity without vs with the deterministic normalizer (MODEL_FAILURE_MODES.md). Live edits committed: 2 of 6 to 5 of 6.</a:t>
            </a:r>
            <a:endParaRPr lang="en-US" sz="680" dirty="0"/>
          </a:p>
        </p:txBody>
      </p:sp>
      <p:sp>
        <p:nvSpPr>
          <p:cNvPr id="47" name="result card OPENCLAW LIVE"/>
          <p:cNvSpPr/>
          <p:nvPr/>
        </p:nvSpPr>
        <p:spPr>
          <a:xfrm>
            <a:off x="457200" y="3035808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8" name="label OPENCLAW LIVE"/>
          <p:cNvSpPr txBox="1"/>
          <p:nvPr/>
        </p:nvSpPr>
        <p:spPr>
          <a:xfrm>
            <a:off x="566928" y="30906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OPENCLAW LIVE</a:t>
            </a:r>
            <a:endParaRPr lang="en-US" sz="750" dirty="0"/>
          </a:p>
        </p:txBody>
      </p:sp>
      <p:sp>
        <p:nvSpPr>
          <p:cNvPr id="49" name="result value OPENCLAW LIVE"/>
          <p:cNvSpPr txBox="1"/>
          <p:nvPr/>
        </p:nvSpPr>
        <p:spPr>
          <a:xfrm>
            <a:off x="566928" y="32369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20.0 s edit, 33.4 s brief</a:t>
            </a:r>
            <a:endParaRPr lang="en-US" sz="1100" dirty="0"/>
          </a:p>
        </p:txBody>
      </p:sp>
      <p:sp>
        <p:nvSpPr>
          <p:cNvPr id="50" name="result sub OPENCLAW LIVE"/>
          <p:cNvSpPr txBox="1"/>
          <p:nvPr/>
        </p:nvSpPr>
        <p:spPr>
          <a:xfrm>
            <a:off x="566928" y="3483864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real tool calls, v2 at 13:43 CDT; brief to v1 at 14:08 CDT; gated test 38.9 s, 7 tool calls (RESULTS.md, BUILD_STATUS.md 17).</a:t>
            </a:r>
            <a:endParaRPr lang="en-US" sz="680" dirty="0"/>
          </a:p>
        </p:txBody>
      </p:sp>
      <p:sp>
        <p:nvSpPr>
          <p:cNvPr id="51" name="result card LATENCY, LOOPBACK"/>
          <p:cNvSpPr/>
          <p:nvPr/>
        </p:nvSpPr>
        <p:spPr>
          <a:xfrm>
            <a:off x="2542032" y="3035808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2" name="label LATENCY, LOOPBACK"/>
          <p:cNvSpPr txBox="1"/>
          <p:nvPr/>
        </p:nvSpPr>
        <p:spPr>
          <a:xfrm>
            <a:off x="2651760" y="30906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LATENCY, LOOPBACK</a:t>
            </a:r>
            <a:endParaRPr lang="en-US" sz="750" dirty="0"/>
          </a:p>
        </p:txBody>
      </p:sp>
      <p:sp>
        <p:nvSpPr>
          <p:cNvPr id="53" name="result value LATENCY, LOOPBACK"/>
          <p:cNvSpPr txBox="1"/>
          <p:nvPr/>
        </p:nvSpPr>
        <p:spPr>
          <a:xfrm>
            <a:off x="2651760" y="32369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0.46 ms RTT, 0.78 ms tick</a:t>
            </a:r>
            <a:endParaRPr lang="en-US" sz="1100" dirty="0"/>
          </a:p>
        </p:txBody>
      </p:sp>
      <p:sp>
        <p:nvSpPr>
          <p:cNvPr id="54" name="result sub LATENCY, LOOPBACK"/>
          <p:cNvSpPr txBox="1"/>
          <p:nvPr/>
        </p:nvSpPr>
        <p:spPr>
          <a:xfrm>
            <a:off x="2651760" y="3483864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p50 idle, scripted controllers (p95 0.74 and 1.15 ms; under 2 x 30 inputs/s tick p95 12.3 ms; LATENCY.md 20:26Z). Not input to photon.</a:t>
            </a:r>
            <a:endParaRPr lang="en-US" sz="680" dirty="0"/>
          </a:p>
        </p:txBody>
      </p:sp>
      <p:sp>
        <p:nvSpPr>
          <p:cNvPr id="55" name="result card PHONES"/>
          <p:cNvSpPr/>
          <p:nvPr/>
        </p:nvSpPr>
        <p:spPr>
          <a:xfrm>
            <a:off x="4626864" y="3035808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6" name="label PHONES"/>
          <p:cNvSpPr txBox="1"/>
          <p:nvPr/>
        </p:nvSpPr>
        <p:spPr>
          <a:xfrm>
            <a:off x="4736592" y="30906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PHONES</a:t>
            </a:r>
            <a:endParaRPr lang="en-US" sz="750" dirty="0"/>
          </a:p>
        </p:txBody>
      </p:sp>
      <p:sp>
        <p:nvSpPr>
          <p:cNvPr id="57" name="result value PHONES"/>
          <p:cNvSpPr txBox="1"/>
          <p:nvPr/>
        </p:nvSpPr>
        <p:spPr>
          <a:xfrm>
            <a:off x="4736592" y="32369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not yet with devices</a:t>
            </a:r>
            <a:endParaRPr lang="en-US" sz="1100" dirty="0"/>
          </a:p>
        </p:txBody>
      </p:sp>
      <p:sp>
        <p:nvSpPr>
          <p:cNvPr id="58" name="result sub PHONES"/>
          <p:cNvSpPr txBox="1"/>
          <p:nvPr/>
        </p:nvSpPr>
        <p:spPr>
          <a:xfrm>
            <a:off x="4736592" y="3483864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controller page under mobile emulation and 23 integration tests with real sockets pass (BUILD_STATUS.md 12); no physical phone joined today.</a:t>
            </a:r>
            <a:endParaRPr lang="en-US" sz="680" dirty="0"/>
          </a:p>
        </p:txBody>
      </p:sp>
      <p:sp>
        <p:nvSpPr>
          <p:cNvPr id="59" name="result card OFFLINE PROOF"/>
          <p:cNvSpPr/>
          <p:nvPr/>
        </p:nvSpPr>
        <p:spPr>
          <a:xfrm>
            <a:off x="6711696" y="3035808"/>
            <a:ext cx="19751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0" name="label OFFLINE PROOF"/>
          <p:cNvSpPr txBox="1"/>
          <p:nvPr/>
        </p:nvSpPr>
        <p:spPr>
          <a:xfrm>
            <a:off x="6821424" y="309067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chemeClr val="accent1"/>
                </a:solidFill>
              </a:rPr>
              <a:t>OFFLINE PROOF</a:t>
            </a:r>
            <a:endParaRPr lang="en-US" sz="750" dirty="0"/>
          </a:p>
        </p:txBody>
      </p:sp>
      <p:sp>
        <p:nvSpPr>
          <p:cNvPr id="61" name="result value OFFLINE PROOF"/>
          <p:cNvSpPr txBox="1"/>
          <p:nvPr/>
        </p:nvSpPr>
        <p:spPr>
          <a:xfrm>
            <a:off x="6821424" y="32369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not run</a:t>
            </a:r>
            <a:endParaRPr lang="en-US" sz="1100" dirty="0"/>
          </a:p>
        </p:txBody>
      </p:sp>
      <p:sp>
        <p:nvSpPr>
          <p:cNvPr id="62" name="result sub OFFLINE PROOF"/>
          <p:cNvSpPr txBox="1"/>
          <p:nvPr/>
        </p:nvSpPr>
        <p:spPr>
          <a:xfrm>
            <a:off x="6821424" y="3483864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chemeClr val="tx2"/>
                </a:solidFill>
              </a:rPr>
              <a:t>only a before record exists (offline-proof/1791049273707.json: egress not blocked, server not up). Procedure: docs/OFFLINE_PROOF.md.</a:t>
            </a:r>
            <a:endParaRPr lang="en-US" sz="680" dirty="0"/>
          </a:p>
        </p:txBody>
      </p:sp>
      <p:sp>
        <p:nvSpPr>
          <p:cNvPr id="63" name="streaming status"/>
          <p:cNvSpPr txBox="1"/>
          <p:nvPr/>
        </p:nvSpPr>
        <p:spPr>
          <a:xfrm>
            <a:off x="457200" y="39867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Streaming, extension request to commit: 10.6 to 65.9 s, 4 of 6 committed, GPU contended (ACCEPTANCE.md, run 3 PASS 21 of 21: 56.0 s and 10.6 s); 9.5 s once on a quiet GPU (RESULTS.md). Trigger to request under 0.3 s; player, relic and score kept.</a:t>
            </a:r>
            <a:endParaRPr lang="en-US" sz="800" dirty="0"/>
          </a:p>
        </p:txBody>
      </p:sp>
      <p:sp>
        <p:nvSpPr>
          <p:cNvPr id="64" name="2d status"/>
          <p:cNvSpPr txBox="1"/>
          <p:nvPr/>
        </p:nvSpPr>
        <p:spPr>
          <a:xfrm>
            <a:off x="457200" y="42428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chemeClr val="accent1"/>
                </a:solidFill>
              </a:rPr>
              <a:t>BEETLE 2D, PROMPT TO PLAYABLE  </a:t>
            </a:r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6 of 6 prompts to a validated, bot-playtested spec in 10.7 to 16.9 s (model 10.3 to 12.7 s), first model call, 0 repairs, 6 genres. Direct Ollama, shared GPU, Node harness: asset painting, worker hop and the browser not included (RESULTS.md 16:04 CDT).</a:t>
            </a:r>
            <a:endParaRPr lang="en-US" sz="800" dirty="0"/>
          </a:p>
        </p:txBody>
      </p:sp>
      <p:sp>
        <p:nvSpPr>
          <p:cNvPr id="65" name="sources note"/>
          <p:cNvSpPr txBox="1"/>
          <p:nvPr/>
        </p:nvSpPr>
        <p:spPr>
          <a:xfrm>
            <a:off x="457200" y="4507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chemeClr val="tx2"/>
                </a:solidFill>
              </a:rPr>
              <a:t>Direct-harness timings are labelled [direct] in every report; OpenClaw timings are from the real server after the Ollama daemon restart at 13:43 CDT. Each card names its GPU state because the daemon was shared for most of the day. Mode briefs were measured at 14:25 to 14:42 CDT in direct mode with no controllers connected (docs/RESULTS.md). The 12 cards are the 3D engine; the 2D line is the 2D studio.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Business hypothesis and next validation</a:t>
            </a:r>
            <a:endParaRPr lang="en-US" sz="2600" dirty="0"/>
          </a:p>
        </p:txBody>
      </p:sp>
      <p:sp>
        <p:nvSpPr>
          <p:cNvPr id="3" name="beetle leg"/>
          <p:cNvSpPr/>
          <p:nvPr/>
        </p:nvSpPr>
        <p:spPr>
          <a:xfrm flipH="1" flipV="1">
            <a:off x="7339395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4" name="beetle leg"/>
          <p:cNvSpPr/>
          <p:nvPr/>
        </p:nvSpPr>
        <p:spPr>
          <a:xfrm flipH="1">
            <a:off x="730790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beetle leg"/>
          <p:cNvSpPr/>
          <p:nvPr/>
        </p:nvSpPr>
        <p:spPr>
          <a:xfrm flipH="1">
            <a:off x="7332252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beetle leg"/>
          <p:cNvSpPr/>
          <p:nvPr/>
        </p:nvSpPr>
        <p:spPr>
          <a:xfrm flipV="1">
            <a:off x="7590562" y="493118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beetle leg"/>
          <p:cNvSpPr/>
          <p:nvPr/>
        </p:nvSpPr>
        <p:spPr>
          <a:xfrm>
            <a:off x="7614373" y="622158"/>
            <a:ext cx="92172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beetle leg"/>
          <p:cNvSpPr/>
          <p:nvPr/>
        </p:nvSpPr>
        <p:spPr>
          <a:xfrm>
            <a:off x="7597706" y="705112"/>
            <a:ext cx="84491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beetle antenna"/>
          <p:cNvSpPr/>
          <p:nvPr/>
        </p:nvSpPr>
        <p:spPr>
          <a:xfrm flipV="1">
            <a:off x="73958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beetle antenna"/>
          <p:cNvSpPr/>
          <p:nvPr/>
        </p:nvSpPr>
        <p:spPr>
          <a:xfrm>
            <a:off x="7557150" y="384048"/>
            <a:ext cx="61448" cy="4608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beetle head"/>
          <p:cNvSpPr/>
          <p:nvPr/>
        </p:nvSpPr>
        <p:spPr>
          <a:xfrm>
            <a:off x="7449617" y="414772"/>
            <a:ext cx="115214" cy="921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beetle body"/>
          <p:cNvSpPr/>
          <p:nvPr/>
        </p:nvSpPr>
        <p:spPr>
          <a:xfrm>
            <a:off x="7388169" y="483900"/>
            <a:ext cx="238110" cy="27651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beetle split"/>
          <p:cNvSpPr/>
          <p:nvPr/>
        </p:nvSpPr>
        <p:spPr>
          <a:xfrm>
            <a:off x="7507224" y="517082"/>
            <a:ext cx="914" cy="2212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14" name="wordmark"/>
          <p:cNvSpPr txBox="1"/>
          <p:nvPr/>
        </p:nvSpPr>
        <p:spPr>
          <a:xfrm>
            <a:off x="7772400" y="38404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15" name="column HYPOTHESIS"/>
          <p:cNvSpPr/>
          <p:nvPr/>
        </p:nvSpPr>
        <p:spPr>
          <a:xfrm>
            <a:off x="45720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column label HYPOTHESIS"/>
          <p:cNvSpPr txBox="1"/>
          <p:nvPr/>
        </p:nvSpPr>
        <p:spPr>
          <a:xfrm>
            <a:off x="64008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HYPOTHESIS</a:t>
            </a:r>
            <a:endParaRPr lang="en-US" sz="1100" dirty="0"/>
          </a:p>
        </p:txBody>
      </p:sp>
      <p:sp>
        <p:nvSpPr>
          <p:cNvPr id="17" name="column body HYPOTHESIS"/>
          <p:cNvSpPr txBox="1"/>
          <p:nvPr/>
        </p:nvSpPr>
        <p:spPr>
          <a:xfrm>
            <a:off x="640080" y="16916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Studios will pay for faster prototype iteration that keeps playtests running.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Their data stays on their machines, which matters to studios with unreleased IP.</a:t>
            </a:r>
            <a:endParaRPr lang="en-US" sz="1250" dirty="0"/>
          </a:p>
        </p:txBody>
      </p:sp>
      <p:sp>
        <p:nvSpPr>
          <p:cNvPr id="18" name="column NOT CLAIMED"/>
          <p:cNvSpPr/>
          <p:nvPr/>
        </p:nvSpPr>
        <p:spPr>
          <a:xfrm>
            <a:off x="324612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column label NOT CLAIMED"/>
          <p:cNvSpPr txBox="1"/>
          <p:nvPr/>
        </p:nvSpPr>
        <p:spPr>
          <a:xfrm>
            <a:off x="342900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NOT CLAIMED</a:t>
            </a:r>
            <a:endParaRPr lang="en-US" sz="1100" dirty="0"/>
          </a:p>
        </p:txBody>
      </p:sp>
      <p:sp>
        <p:nvSpPr>
          <p:cNvPr id="20" name="column body NOT CLAIMED"/>
          <p:cNvSpPr txBox="1"/>
          <p:nvPr/>
        </p:nvSpPr>
        <p:spPr>
          <a:xfrm>
            <a:off x="3429000" y="16916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Market size.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Pricing.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Customer traction.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Speed-up percentages without a measured baseline.</a:t>
            </a:r>
            <a:endParaRPr lang="en-US" sz="1250" dirty="0"/>
          </a:p>
        </p:txBody>
      </p:sp>
      <p:sp>
        <p:nvSpPr>
          <p:cNvPr id="21" name="column NEXT VALIDATION"/>
          <p:cNvSpPr/>
          <p:nvPr/>
        </p:nvSpPr>
        <p:spPr>
          <a:xfrm>
            <a:off x="6035040" y="1188720"/>
            <a:ext cx="2651760" cy="28803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column label NEXT VALIDATION"/>
          <p:cNvSpPr txBox="1"/>
          <p:nvPr/>
        </p:nvSpPr>
        <p:spPr>
          <a:xfrm>
            <a:off x="621792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VALIDATION</a:t>
            </a:r>
            <a:endParaRPr lang="en-US" sz="1100" dirty="0"/>
          </a:p>
        </p:txBody>
      </p:sp>
      <p:sp>
        <p:nvSpPr>
          <p:cNvPr id="23" name="column body NEXT VALIDATION"/>
          <p:cNvSpPr txBox="1"/>
          <p:nvPr/>
        </p:nvSpPr>
        <p:spPr>
          <a:xfrm>
            <a:off x="6217920" y="16916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Time a conventional edit-rebuild-regather loop with the same designers and the same change list.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Compare it against Beetle's measured edit-to-commit times.</a:t>
            </a:r>
            <a:endParaRPr lang="en-US" sz="1250" dirty="0"/>
          </a:p>
        </p:txBody>
      </p:sp>
      <p:sp>
        <p:nvSpPr>
          <p:cNvPr id="24" name="beetle leg"/>
          <p:cNvSpPr/>
          <p:nvPr/>
        </p:nvSpPr>
        <p:spPr>
          <a:xfrm flipH="1" flipV="1">
            <a:off x="483123" y="4323100"/>
            <a:ext cx="90526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5" name="beetle leg"/>
          <p:cNvSpPr/>
          <p:nvPr/>
        </p:nvSpPr>
        <p:spPr>
          <a:xfrm flipH="1">
            <a:off x="449382" y="4461358"/>
            <a:ext cx="98755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6" name="beetle leg"/>
          <p:cNvSpPr/>
          <p:nvPr/>
        </p:nvSpPr>
        <p:spPr>
          <a:xfrm flipH="1">
            <a:off x="475470" y="4550237"/>
            <a:ext cx="90526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7" name="beetle leg"/>
          <p:cNvSpPr/>
          <p:nvPr/>
        </p:nvSpPr>
        <p:spPr>
          <a:xfrm flipV="1">
            <a:off x="752231" y="4323100"/>
            <a:ext cx="90526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8" name="beetle leg"/>
          <p:cNvSpPr/>
          <p:nvPr/>
        </p:nvSpPr>
        <p:spPr>
          <a:xfrm>
            <a:off x="777743" y="4461358"/>
            <a:ext cx="98755" cy="91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9" name="beetle leg"/>
          <p:cNvSpPr/>
          <p:nvPr/>
        </p:nvSpPr>
        <p:spPr>
          <a:xfrm>
            <a:off x="759885" y="4550237"/>
            <a:ext cx="90526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0" name="beetle antenna"/>
          <p:cNvSpPr/>
          <p:nvPr/>
        </p:nvSpPr>
        <p:spPr>
          <a:xfrm flipV="1">
            <a:off x="543611" y="4206240"/>
            <a:ext cx="65837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1" name="beetle antenna"/>
          <p:cNvSpPr/>
          <p:nvPr/>
        </p:nvSpPr>
        <p:spPr>
          <a:xfrm>
            <a:off x="716432" y="4206240"/>
            <a:ext cx="65837" cy="4937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2" name="beetle head"/>
          <p:cNvSpPr/>
          <p:nvPr/>
        </p:nvSpPr>
        <p:spPr>
          <a:xfrm>
            <a:off x="601218" y="4239158"/>
            <a:ext cx="123444" cy="9875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beetle body"/>
          <p:cNvSpPr/>
          <p:nvPr/>
        </p:nvSpPr>
        <p:spPr>
          <a:xfrm>
            <a:off x="535381" y="4313225"/>
            <a:ext cx="255118" cy="29626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beetle split"/>
          <p:cNvSpPr/>
          <p:nvPr/>
        </p:nvSpPr>
        <p:spPr>
          <a:xfrm>
            <a:off x="662940" y="4348777"/>
            <a:ext cx="914" cy="237012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</p:sp>
      <p:sp>
        <p:nvSpPr>
          <p:cNvPr id="35" name="wordmark"/>
          <p:cNvSpPr txBox="1"/>
          <p:nvPr/>
        </p:nvSpPr>
        <p:spPr>
          <a:xfrm>
            <a:off x="941832" y="42062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BEETLE</a:t>
            </a:r>
            <a:endParaRPr lang="en-US" sz="1600" dirty="0"/>
          </a:p>
        </p:txBody>
      </p:sp>
      <p:sp>
        <p:nvSpPr>
          <p:cNvPr id="36" name="closing line"/>
          <p:cNvSpPr txBox="1"/>
          <p:nvPr/>
        </p:nvSpPr>
        <p:spPr>
          <a:xfrm>
            <a:off x="2651760" y="4206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Change the game without stopping the game.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DB3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tle Deep Garden">
  <a:themeElements>
    <a:clrScheme name="Beetle Deep Garden">
      <a:dk1>
        <a:srgbClr val="EDE7DB"/>
      </a:dk1>
      <a:lt1>
        <a:srgbClr val="0E3534"/>
      </a:lt1>
      <a:dk2>
        <a:srgbClr val="BDB3A2"/>
      </a:dk2>
      <a:lt2>
        <a:srgbClr val="1B4A48"/>
      </a:lt2>
      <a:accent1>
        <a:srgbClr val="E8A33D"/>
      </a:accent1>
      <a:accent2>
        <a:srgbClr val="D8402B"/>
      </a:accent2>
      <a:accent3>
        <a:srgbClr val="7FB5B1"/>
      </a:accent3>
      <a:accent4>
        <a:srgbClr val="2E6B68"/>
      </a:accent4>
      <a:accent5>
        <a:srgbClr val="3F8582"/>
      </a:accent5>
      <a:accent6>
        <a:srgbClr val="C9A15A"/>
      </a:accent6>
      <a:hlink>
        <a:srgbClr val="E8A33D"/>
      </a:hlink>
      <a:folHlink>
        <a:srgbClr val="7FB5B1"/>
      </a:folHlink>
    </a:clrScheme>
    <a:fontScheme name="Beetle Deep Gard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Beetle pitch</dc:title>
  <dc:subject>PptxGenJS Presentation</dc:subject>
  <dc:creator>Beetle team</dc:creator>
  <cp:lastModifiedBy>Beetle team</cp:lastModifiedBy>
  <cp:revision>1</cp:revision>
  <dcterms:created xsi:type="dcterms:W3CDTF">2026-10-03T21:08:26Z</dcterms:created>
  <dcterms:modified xsi:type="dcterms:W3CDTF">2026-10-03T21:08:26Z</dcterms:modified>
</cp:coreProperties>
</file>