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</p:sldIdLst>
  <p:notesMasterIdLst>
    <p:notesMasterId r:id="rId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Beetle pitch" id="{619f5f1b-d9ed-eeea-12a4-72fc5db922cd}">
          <p14:sldIdLst>
            <p14:sldId id="256"/>
            <p14:sldId id="257"/>
            <p14:sldId id="258"/>
            <p14:sldId id="259"/>
            <p14:sldId id="260"/>
            <p14:sldId id="261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notesMaster" Target="notesMasters/notesMaster1.xml"/><Relationship Id="rId9" Type="http://schemas.openxmlformats.org/officeDocument/2006/relationships/presProps" Target="presProps.xml"/><Relationship Id="rId10" Type="http://schemas.openxmlformats.org/officeDocument/2006/relationships/viewProps" Target="viewProps.xml"/><Relationship Id="rId11" Type="http://schemas.openxmlformats.org/officeDocument/2006/relationships/theme" Target="theme/theme1.xml"/><Relationship Id="rId1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Our user is a technical designer at a small studio. Each stop-edit-rebuild-regather cycle throws away the live playtest. Beetle's promise is to change the game without stopping the game.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Walk the six steps left to right, then land on the stance: one machine, one local model, one real OpenClaw runtime, zero cloud.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Play the recording here. Captions follow docs/STORYBOARD.md; the mode caption is set to whichever agent mode was green at recording time. Rehearsal timings: brief 14 s on a quiet GPU, edits 2 to 14 s, DISCONNECTED_GOAL refused and repaired in 3.0 s. Shots that cannot be produced honestly are cut, not faked.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Left to right: director, OpenClaw agent, Beetle tools, server validator and commit, players. Only the server decides validity; the model only proposes 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cards. Say out loud: the 10 s brief target is not met; a valid brief takes 24 to 28 s warm on a quiet GPU and 14 s was seen once after normalization. Edits commit in 2 to 14 s. Session continuity and the offline proof are covered by tests or procedure but not yet measured live; say so rather than guessing. The 27b was never benchmarked.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State the hypothesis, say plainly what we do not claim, and name the one comparison that would test it next.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0E353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2600" b="1" dirty="0">
                <a:solidFill>
                  <a:schemeClr val="tx1"/>
                </a:solidFill>
              </a:defRPr>
            </a:lvl1pPr>
          </a:lstStyle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Slide title</a:t>
            </a:r>
            <a:endParaRPr lang="en-US" sz="2600" dirty="0"/>
          </a:p>
        </p:txBody>
      </p:sp>
      <p:sp>
        <p:nvSpPr>
          <p:cNvPr id="3" name="footer"/>
          <p:cNvSpPr txBox="1"/>
          <p:nvPr/>
        </p:nvSpPr>
        <p:spPr>
          <a:xfrm>
            <a:off x="457200" y="4754880"/>
            <a:ext cx="64008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chemeClr val="tx2"/>
                </a:solidFill>
              </a:rPr>
              <a:t>Beetle. Local-first prototyping teammate for small game studios.</a:t>
            </a:r>
            <a:endParaRPr lang="en-US" sz="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Every edit stops the playtest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label THE USER"/>
          <p:cNvSpPr txBox="1"/>
          <p:nvPr/>
        </p:nvSpPr>
        <p:spPr>
          <a:xfrm>
            <a:off x="457200" y="118872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THE USER</a:t>
            </a:r>
            <a:endParaRPr lang="en-US" sz="1000" dirty="0"/>
          </a:p>
        </p:txBody>
      </p:sp>
      <p:sp>
        <p:nvSpPr>
          <p:cNvPr id="16" name="body text"/>
          <p:cNvSpPr txBox="1"/>
          <p:nvPr/>
        </p:nvSpPr>
        <p:spPr>
          <a:xfrm>
            <a:off x="457200" y="1444752"/>
            <a:ext cx="40233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Technical designers at small studios iterate on playable prototypes with real playtesters in the room.</a:t>
            </a:r>
            <a:endParaRPr lang="en-US" sz="1300" dirty="0"/>
          </a:p>
        </p:txBody>
      </p:sp>
      <p:sp>
        <p:nvSpPr>
          <p:cNvPr id="17" name="label THE COST"/>
          <p:cNvSpPr txBox="1"/>
          <p:nvPr/>
        </p:nvSpPr>
        <p:spPr>
          <a:xfrm>
            <a:off x="457200" y="2240280"/>
            <a:ext cx="40233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THE COST</a:t>
            </a:r>
            <a:endParaRPr lang="en-US" sz="1000" dirty="0"/>
          </a:p>
        </p:txBody>
      </p:sp>
      <p:sp>
        <p:nvSpPr>
          <p:cNvPr id="18" name="body text"/>
          <p:cNvSpPr txBox="1"/>
          <p:nvPr/>
        </p:nvSpPr>
        <p:spPr>
          <a:xfrm>
            <a:off x="457200" y="2496312"/>
            <a:ext cx="402336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Every stop costs the thing they are trying to observe: how people actually play.</a:t>
            </a:r>
            <a:endParaRPr lang="en-US" sz="1300" dirty="0"/>
          </a:p>
        </p:txBody>
      </p:sp>
      <p:sp>
        <p:nvSpPr>
          <p:cNvPr id="19" name="promise card"/>
          <p:cNvSpPr/>
          <p:nvPr/>
        </p:nvSpPr>
        <p:spPr>
          <a:xfrm>
            <a:off x="457200" y="3337560"/>
            <a:ext cx="4023360" cy="1051560"/>
          </a:xfrm>
          <a:prstGeom prst="roundRect">
            <a:avLst>
              <a:gd name="adj" fmla="val 6957"/>
            </a:avLst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0" name="promise text"/>
          <p:cNvSpPr txBox="1"/>
          <p:nvPr/>
        </p:nvSpPr>
        <p:spPr>
          <a:xfrm>
            <a:off x="685800" y="3456432"/>
            <a:ext cx="361188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400"/>
              </a:spcAft>
              <a:buNone/>
            </a:pPr>
            <a:r>
              <a:rPr lang="en-US" sz="1100" b="1" spc="200" kern="0" dirty="0">
                <a:solidFill>
                  <a:schemeClr val="bg1"/>
                </a:solidFill>
              </a:rPr>
              <a:t>Beetle's promise</a:t>
            </a:r>
            <a:endParaRPr lang="en-US" sz="1100" dirty="0"/>
          </a:p>
          <a:p>
            <a:pPr indent="0" marL="0">
              <a:buNone/>
            </a:pPr>
            <a:r>
              <a:rPr lang="en-US" sz="1800" b="1" dirty="0">
                <a:solidFill>
                  <a:schemeClr val="bg1"/>
                </a:solidFill>
              </a:rPr>
              <a:t>Change the game without stopping the game.</a:t>
            </a:r>
            <a:endParaRPr lang="en-US" sz="1100" dirty="0"/>
          </a:p>
        </p:txBody>
      </p:sp>
      <p:sp>
        <p:nvSpPr>
          <p:cNvPr id="21" name="label TODAY&amp;apos;S LOOP"/>
          <p:cNvSpPr txBox="1"/>
          <p:nvPr/>
        </p:nvSpPr>
        <p:spPr>
          <a:xfrm>
            <a:off x="5029200" y="11887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TODAY'S LOOP</a:t>
            </a:r>
            <a:endParaRPr lang="en-US" sz="1000" dirty="0"/>
          </a:p>
        </p:txBody>
      </p:sp>
      <p:sp>
        <p:nvSpPr>
          <p:cNvPr id="22" name="loop chip Stop the session"/>
          <p:cNvSpPr/>
          <p:nvPr/>
        </p:nvSpPr>
        <p:spPr>
          <a:xfrm>
            <a:off x="5029200" y="1508760"/>
            <a:ext cx="1508760" cy="566928"/>
          </a:xfrm>
          <a:prstGeom prst="roundRect">
            <a:avLst>
              <a:gd name="adj" fmla="val 12903"/>
            </a:avLst>
          </a:prstGeom>
          <a:solidFill>
            <a:schemeClr val="accent2"/>
          </a:solidFill>
          <a:ln w="9525">
            <a:solidFill>
              <a:schemeClr val="accent2"/>
            </a:solidFill>
            <a:prstDash val="solid"/>
          </a:ln>
        </p:spPr>
      </p:sp>
      <p:sp>
        <p:nvSpPr>
          <p:cNvPr id="23" name="loop chip text Stop the session"/>
          <p:cNvSpPr txBox="1"/>
          <p:nvPr/>
        </p:nvSpPr>
        <p:spPr>
          <a:xfrm>
            <a:off x="5029200" y="1508760"/>
            <a:ext cx="15087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chemeClr val="tx1"/>
                </a:solidFill>
              </a:rPr>
              <a:t>Stop the session</a:t>
            </a:r>
            <a:endParaRPr lang="en-US" sz="1200" dirty="0"/>
          </a:p>
        </p:txBody>
      </p:sp>
      <p:sp>
        <p:nvSpPr>
          <p:cNvPr id="24" name="loop chip Edit the prototype"/>
          <p:cNvSpPr/>
          <p:nvPr/>
        </p:nvSpPr>
        <p:spPr>
          <a:xfrm>
            <a:off x="7315200" y="1508760"/>
            <a:ext cx="15087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5" name="loop chip text Edit the prototype"/>
          <p:cNvSpPr txBox="1"/>
          <p:nvPr/>
        </p:nvSpPr>
        <p:spPr>
          <a:xfrm>
            <a:off x="7315200" y="1508760"/>
            <a:ext cx="15087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Edit the prototype</a:t>
            </a:r>
            <a:endParaRPr lang="en-US" sz="1200" dirty="0"/>
          </a:p>
        </p:txBody>
      </p:sp>
      <p:sp>
        <p:nvSpPr>
          <p:cNvPr id="26" name="loop chip Rebuild"/>
          <p:cNvSpPr/>
          <p:nvPr/>
        </p:nvSpPr>
        <p:spPr>
          <a:xfrm>
            <a:off x="7315200" y="2990088"/>
            <a:ext cx="15087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7" name="loop chip text Rebuild"/>
          <p:cNvSpPr txBox="1"/>
          <p:nvPr/>
        </p:nvSpPr>
        <p:spPr>
          <a:xfrm>
            <a:off x="7315200" y="2990088"/>
            <a:ext cx="15087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Rebuild</a:t>
            </a:r>
            <a:endParaRPr lang="en-US" sz="1200" dirty="0"/>
          </a:p>
        </p:txBody>
      </p:sp>
      <p:sp>
        <p:nvSpPr>
          <p:cNvPr id="28" name="loop chip Re-gather playtesters"/>
          <p:cNvSpPr/>
          <p:nvPr/>
        </p:nvSpPr>
        <p:spPr>
          <a:xfrm>
            <a:off x="5029200" y="2990088"/>
            <a:ext cx="1508760" cy="566928"/>
          </a:xfrm>
          <a:prstGeom prst="roundRect">
            <a:avLst>
              <a:gd name="adj" fmla="val 12903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9" name="loop chip text Re-gather playtesters"/>
          <p:cNvSpPr txBox="1"/>
          <p:nvPr/>
        </p:nvSpPr>
        <p:spPr>
          <a:xfrm>
            <a:off x="5029200" y="2990088"/>
            <a:ext cx="1508760" cy="566928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Re-gather playtesters</a:t>
            </a:r>
            <a:endParaRPr lang="en-US" sz="1200" dirty="0"/>
          </a:p>
        </p:txBody>
      </p:sp>
      <p:sp>
        <p:nvSpPr>
          <p:cNvPr id="30" name="arrow"/>
          <p:cNvSpPr/>
          <p:nvPr/>
        </p:nvSpPr>
        <p:spPr>
          <a:xfrm>
            <a:off x="6611112" y="1792224"/>
            <a:ext cx="630936" cy="914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1" name="arrow"/>
          <p:cNvSpPr/>
          <p:nvPr/>
        </p:nvSpPr>
        <p:spPr>
          <a:xfrm>
            <a:off x="8069580" y="2148840"/>
            <a:ext cx="914" cy="768096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2" name="arrow"/>
          <p:cNvSpPr/>
          <p:nvPr/>
        </p:nvSpPr>
        <p:spPr>
          <a:xfrm flipH="1">
            <a:off x="6611112" y="3273552"/>
            <a:ext cx="630936" cy="914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3" name="arrow"/>
          <p:cNvSpPr/>
          <p:nvPr/>
        </p:nvSpPr>
        <p:spPr>
          <a:xfrm flipV="1">
            <a:off x="5783580" y="2148840"/>
            <a:ext cx="914" cy="768096"/>
          </a:xfrm>
          <a:prstGeom prst="line">
            <a:avLst/>
          </a:prstGeom>
          <a:noFill/>
          <a:ln w="19050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4" name="loop caption"/>
          <p:cNvSpPr txBox="1"/>
          <p:nvPr/>
        </p:nvSpPr>
        <p:spPr>
          <a:xfrm>
            <a:off x="5029200" y="3703320"/>
            <a:ext cx="36576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Each turn of the loop loses the live playtest you were trying to watch.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Beetle workflow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workflow spine"/>
          <p:cNvSpPr/>
          <p:nvPr/>
        </p:nvSpPr>
        <p:spPr>
          <a:xfrm>
            <a:off x="1051560" y="1965960"/>
            <a:ext cx="7040880" cy="914"/>
          </a:xfrm>
          <a:prstGeom prst="line">
            <a:avLst/>
          </a:prstGeom>
          <a:noFill/>
          <a:ln w="25400">
            <a:solidFill>
              <a:schemeClr val="accent4"/>
            </a:solidFill>
            <a:prstDash val="solid"/>
          </a:ln>
        </p:spPr>
      </p:sp>
      <p:sp>
        <p:nvSpPr>
          <p:cNvPr id="16" name="step circle 1"/>
          <p:cNvSpPr/>
          <p:nvPr/>
        </p:nvSpPr>
        <p:spPr>
          <a:xfrm>
            <a:off x="822960" y="17373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step number 1"/>
          <p:cNvSpPr txBox="1"/>
          <p:nvPr/>
        </p:nvSpPr>
        <p:spPr>
          <a:xfrm>
            <a:off x="82296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1</a:t>
            </a:r>
            <a:endParaRPr lang="en-US" sz="1400" dirty="0"/>
          </a:p>
        </p:txBody>
      </p:sp>
      <p:sp>
        <p:nvSpPr>
          <p:cNvPr id="18" name="step text 1"/>
          <p:cNvSpPr txBox="1"/>
          <p:nvPr/>
        </p:nvSpPr>
        <p:spPr>
          <a:xfrm>
            <a:off x="365760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Brief becomes a playable world</a:t>
            </a:r>
            <a:endParaRPr lang="en-US" sz="1200" dirty="0"/>
          </a:p>
        </p:txBody>
      </p:sp>
      <p:sp>
        <p:nvSpPr>
          <p:cNvPr id="19" name="step circle 2"/>
          <p:cNvSpPr/>
          <p:nvPr/>
        </p:nvSpPr>
        <p:spPr>
          <a:xfrm>
            <a:off x="2231136" y="17373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0" name="step number 2"/>
          <p:cNvSpPr txBox="1"/>
          <p:nvPr/>
        </p:nvSpPr>
        <p:spPr>
          <a:xfrm>
            <a:off x="2231136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2</a:t>
            </a:r>
            <a:endParaRPr lang="en-US" sz="1400" dirty="0"/>
          </a:p>
        </p:txBody>
      </p:sp>
      <p:sp>
        <p:nvSpPr>
          <p:cNvPr id="21" name="step text 2"/>
          <p:cNvSpPr txBox="1"/>
          <p:nvPr/>
        </p:nvSpPr>
        <p:spPr>
          <a:xfrm>
            <a:off x="1773936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Two phones join by QR</a:t>
            </a:r>
            <a:endParaRPr lang="en-US" sz="1200" dirty="0"/>
          </a:p>
        </p:txBody>
      </p:sp>
      <p:sp>
        <p:nvSpPr>
          <p:cNvPr id="22" name="step circle 3"/>
          <p:cNvSpPr/>
          <p:nvPr/>
        </p:nvSpPr>
        <p:spPr>
          <a:xfrm>
            <a:off x="3639312" y="17373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3" name="step number 3"/>
          <p:cNvSpPr txBox="1"/>
          <p:nvPr/>
        </p:nvSpPr>
        <p:spPr>
          <a:xfrm>
            <a:off x="3639312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3</a:t>
            </a:r>
            <a:endParaRPr lang="en-US" sz="1400" dirty="0"/>
          </a:p>
        </p:txBody>
      </p:sp>
      <p:sp>
        <p:nvSpPr>
          <p:cNvPr id="24" name="step text 3"/>
          <p:cNvSpPr txBox="1"/>
          <p:nvPr/>
        </p:nvSpPr>
        <p:spPr>
          <a:xfrm>
            <a:off x="3182112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Designer edits while people play</a:t>
            </a:r>
            <a:endParaRPr lang="en-US" sz="1200" dirty="0"/>
          </a:p>
        </p:txBody>
      </p:sp>
      <p:sp>
        <p:nvSpPr>
          <p:cNvPr id="25" name="step circle 4"/>
          <p:cNvSpPr/>
          <p:nvPr/>
        </p:nvSpPr>
        <p:spPr>
          <a:xfrm>
            <a:off x="5047488" y="17373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6" name="step number 4"/>
          <p:cNvSpPr txBox="1"/>
          <p:nvPr/>
        </p:nvSpPr>
        <p:spPr>
          <a:xfrm>
            <a:off x="5047488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4</a:t>
            </a:r>
            <a:endParaRPr lang="en-US" sz="1400" dirty="0"/>
          </a:p>
        </p:txBody>
      </p:sp>
      <p:sp>
        <p:nvSpPr>
          <p:cNvPr id="27" name="step text 4"/>
          <p:cNvSpPr txBox="1"/>
          <p:nvPr/>
        </p:nvSpPr>
        <p:spPr>
          <a:xfrm>
            <a:off x="4590288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Agent validates and repairs</a:t>
            </a:r>
            <a:endParaRPr lang="en-US" sz="1200" dirty="0"/>
          </a:p>
        </p:txBody>
      </p:sp>
      <p:sp>
        <p:nvSpPr>
          <p:cNvPr id="28" name="step circle 5"/>
          <p:cNvSpPr/>
          <p:nvPr/>
        </p:nvSpPr>
        <p:spPr>
          <a:xfrm>
            <a:off x="6455664" y="17373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29" name="step number 5"/>
          <p:cNvSpPr txBox="1"/>
          <p:nvPr/>
        </p:nvSpPr>
        <p:spPr>
          <a:xfrm>
            <a:off x="6455664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5</a:t>
            </a:r>
            <a:endParaRPr lang="en-US" sz="1400" dirty="0"/>
          </a:p>
        </p:txBody>
      </p:sp>
      <p:sp>
        <p:nvSpPr>
          <p:cNvPr id="30" name="step text 5"/>
          <p:cNvSpPr txBox="1"/>
          <p:nvPr/>
        </p:nvSpPr>
        <p:spPr>
          <a:xfrm>
            <a:off x="5998464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New version lands, no reset</a:t>
            </a:r>
            <a:endParaRPr lang="en-US" sz="1200" dirty="0"/>
          </a:p>
        </p:txBody>
      </p:sp>
      <p:sp>
        <p:nvSpPr>
          <p:cNvPr id="31" name="step circle 6"/>
          <p:cNvSpPr/>
          <p:nvPr/>
        </p:nvSpPr>
        <p:spPr>
          <a:xfrm>
            <a:off x="7863840" y="1737360"/>
            <a:ext cx="457200" cy="45720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2" name="step number 6"/>
          <p:cNvSpPr txBox="1"/>
          <p:nvPr/>
        </p:nvSpPr>
        <p:spPr>
          <a:xfrm>
            <a:off x="7863840" y="1737360"/>
            <a:ext cx="4572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chemeClr val="bg1"/>
                </a:solidFill>
              </a:rPr>
              <a:t>6</a:t>
            </a:r>
            <a:endParaRPr lang="en-US" sz="1400" dirty="0"/>
          </a:p>
        </p:txBody>
      </p:sp>
      <p:sp>
        <p:nvSpPr>
          <p:cNvPr id="33" name="step text 6"/>
          <p:cNvSpPr txBox="1"/>
          <p:nvPr/>
        </p:nvSpPr>
        <p:spPr>
          <a:xfrm>
            <a:off x="7406640" y="2331720"/>
            <a:ext cx="1371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dirty="0">
                <a:solidFill>
                  <a:schemeClr val="tx1"/>
                </a:solidFill>
              </a:rPr>
              <a:t>Version report</a:t>
            </a:r>
            <a:endParaRPr lang="en-US" sz="1200" dirty="0"/>
          </a:p>
        </p:txBody>
      </p:sp>
      <p:sp>
        <p:nvSpPr>
          <p:cNvPr id="34" name="label WHAT IT RUNS ON"/>
          <p:cNvSpPr txBox="1"/>
          <p:nvPr/>
        </p:nvSpPr>
        <p:spPr>
          <a:xfrm>
            <a:off x="457200" y="324612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WHAT IT RUNS ON</a:t>
            </a:r>
            <a:endParaRPr lang="en-US" sz="1000" dirty="0"/>
          </a:p>
        </p:txBody>
      </p:sp>
      <p:sp>
        <p:nvSpPr>
          <p:cNvPr id="35" name="chip One machine"/>
          <p:cNvSpPr/>
          <p:nvPr/>
        </p:nvSpPr>
        <p:spPr>
          <a:xfrm>
            <a:off x="457200" y="35661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6" name="chip text One machine"/>
          <p:cNvSpPr txBox="1"/>
          <p:nvPr/>
        </p:nvSpPr>
        <p:spPr>
          <a:xfrm>
            <a:off x="594360" y="356616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One machine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a single GB10 on the studio LAN</a:t>
            </a:r>
            <a:endParaRPr lang="en-US" sz="1300" dirty="0"/>
          </a:p>
        </p:txBody>
      </p:sp>
      <p:sp>
        <p:nvSpPr>
          <p:cNvPr id="37" name="chip One local model"/>
          <p:cNvSpPr/>
          <p:nvPr/>
        </p:nvSpPr>
        <p:spPr>
          <a:xfrm>
            <a:off x="2560320" y="35661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8" name="chip text One local model"/>
          <p:cNvSpPr txBox="1"/>
          <p:nvPr/>
        </p:nvSpPr>
        <p:spPr>
          <a:xfrm>
            <a:off x="2697480" y="356616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One local model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Ollama on loopback</a:t>
            </a:r>
            <a:endParaRPr lang="en-US" sz="1300" dirty="0"/>
          </a:p>
        </p:txBody>
      </p:sp>
      <p:sp>
        <p:nvSpPr>
          <p:cNvPr id="39" name="chip One real agent runtime"/>
          <p:cNvSpPr/>
          <p:nvPr/>
        </p:nvSpPr>
        <p:spPr>
          <a:xfrm>
            <a:off x="4663440" y="35661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0" name="chip text One real agent runtime"/>
          <p:cNvSpPr txBox="1"/>
          <p:nvPr/>
        </p:nvSpPr>
        <p:spPr>
          <a:xfrm>
            <a:off x="4800600" y="356616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One real agent runtime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OpenClaw with Beetle tools</a:t>
            </a:r>
            <a:endParaRPr lang="en-US" sz="1300" dirty="0"/>
          </a:p>
        </p:txBody>
      </p:sp>
      <p:sp>
        <p:nvSpPr>
          <p:cNvPr id="41" name="chip Zero cloud"/>
          <p:cNvSpPr/>
          <p:nvPr/>
        </p:nvSpPr>
        <p:spPr>
          <a:xfrm>
            <a:off x="6766560" y="3566160"/>
            <a:ext cx="1920240" cy="868680"/>
          </a:xfrm>
          <a:prstGeom prst="roundRect">
            <a:avLst>
              <a:gd name="adj" fmla="val 842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2" name="chip text Zero cloud"/>
          <p:cNvSpPr txBox="1"/>
          <p:nvPr/>
        </p:nvSpPr>
        <p:spPr>
          <a:xfrm>
            <a:off x="6903720" y="3566160"/>
            <a:ext cx="164592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300"/>
              </a:spcAft>
              <a:buNone/>
            </a:pPr>
            <a:r>
              <a:rPr lang="en-US" sz="1300" b="1" dirty="0">
                <a:solidFill>
                  <a:schemeClr val="tx1"/>
                </a:solidFill>
              </a:rPr>
              <a:t>Zero cloud</a:t>
            </a:r>
            <a:endParaRPr lang="en-US" sz="1300" dirty="0"/>
          </a:p>
          <a:p>
            <a:pPr indent="0" marL="0">
              <a:buNone/>
            </a:pPr>
            <a:r>
              <a:rPr lang="en-US" sz="1050" dirty="0">
                <a:solidFill>
                  <a:schemeClr val="tx2"/>
                </a:solidFill>
              </a:rPr>
              <a:t>no fallback exists</a:t>
            </a:r>
            <a:endParaRPr lang="en-US" sz="13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The working video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video placeholder frame"/>
          <p:cNvSpPr/>
          <p:nvPr/>
        </p:nvSpPr>
        <p:spPr>
          <a:xfrm>
            <a:off x="457200" y="1188720"/>
            <a:ext cx="4846320" cy="2726055"/>
          </a:xfrm>
          <a:prstGeom prst="roundRect">
            <a:avLst>
              <a:gd name="adj" fmla="val 2013"/>
            </a:avLst>
          </a:prstGeom>
          <a:solidFill>
            <a:schemeClr val="bg2"/>
          </a:solidFill>
          <a:ln w="19050">
            <a:solidFill>
              <a:schemeClr val="accent3"/>
            </a:solidFill>
            <a:prstDash val="dash"/>
          </a:ln>
        </p:spPr>
      </p:sp>
      <p:sp>
        <p:nvSpPr>
          <p:cNvPr id="16" name="play circle"/>
          <p:cNvSpPr/>
          <p:nvPr/>
        </p:nvSpPr>
        <p:spPr>
          <a:xfrm>
            <a:off x="2560320" y="2003107"/>
            <a:ext cx="640080" cy="640080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7" name="play triangle"/>
          <p:cNvSpPr/>
          <p:nvPr/>
        </p:nvSpPr>
        <p:spPr>
          <a:xfrm rot="5400000">
            <a:off x="2761488" y="2176844"/>
            <a:ext cx="274320" cy="292608"/>
          </a:xfrm>
          <a:prstGeom prst="triangle">
            <a:avLst/>
          </a:prstGeom>
          <a:solidFill>
            <a:schemeClr val="bg1"/>
          </a:solidFill>
          <a:ln w="6350">
            <a:solidFill>
              <a:schemeClr val="bg1"/>
            </a:solidFill>
            <a:prstDash val="solid"/>
          </a:ln>
        </p:spPr>
      </p:sp>
      <p:sp>
        <p:nvSpPr>
          <p:cNvPr id="18" name="video placeholder text"/>
          <p:cNvSpPr txBox="1"/>
          <p:nvPr/>
        </p:nvSpPr>
        <p:spPr>
          <a:xfrm>
            <a:off x="731520" y="2826067"/>
            <a:ext cx="42976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spcAft>
                <a:spcPts val="300"/>
              </a:spcAft>
              <a:buNone/>
            </a:pPr>
            <a:r>
              <a:rPr lang="en-US" sz="1400" b="1" dirty="0">
                <a:solidFill>
                  <a:schemeClr val="tx1"/>
                </a:solidFill>
              </a:rPr>
              <a:t>[VIDEO PLACEHOLDER]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Insert the rehearsal recording here (90 to 120 s). Not yet recorded at 13:40 CDT.</a:t>
            </a:r>
            <a:endParaRPr lang="en-US" sz="14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tx2"/>
                </a:solidFill>
              </a:rPr>
              <a:t>The caption names the agent mode used; any time compression is labelled on screen</a:t>
            </a:r>
            <a:endParaRPr lang="en-US" sz="1400" dirty="0"/>
          </a:p>
        </p:txBody>
      </p:sp>
      <p:sp>
        <p:nvSpPr>
          <p:cNvPr id="19" name="video summary"/>
          <p:cNvSpPr txBox="1"/>
          <p:nvPr/>
        </p:nvSpPr>
        <p:spPr>
          <a:xfrm>
            <a:off x="457200" y="4051935"/>
            <a:ext cx="48463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i="1" dirty="0">
                <a:solidFill>
                  <a:schemeClr val="tx2"/>
                </a:solidFill>
              </a:rPr>
              <a:t>Fresh world, two phones, a live edit, preserved progress, a conflicting edit caught by the validator, the repaired version committed.</a:t>
            </a:r>
            <a:endParaRPr lang="en-US" sz="1100" dirty="0"/>
          </a:p>
        </p:txBody>
      </p:sp>
      <p:sp>
        <p:nvSpPr>
          <p:cNvPr id="20" name="label ON-SCREEN CAPTIONS"/>
          <p:cNvSpPr txBox="1"/>
          <p:nvPr/>
        </p:nvSpPr>
        <p:spPr>
          <a:xfrm>
            <a:off x="5577840" y="1188720"/>
            <a:ext cx="31089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ON-SCREEN CAPTIONS</a:t>
            </a:r>
            <a:endParaRPr lang="en-US" sz="1000" dirty="0"/>
          </a:p>
        </p:txBody>
      </p:sp>
      <p:sp>
        <p:nvSpPr>
          <p:cNvPr id="21" name="caption list"/>
          <p:cNvSpPr txBox="1"/>
          <p:nvPr/>
        </p:nvSpPr>
        <p:spPr>
          <a:xfrm>
            <a:off x="5577840" y="1463040"/>
            <a:ext cx="3108960" cy="3108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0 to 6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Beetle. Change the game without stopping the game.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6 to 22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A local model composes the world. Validated by game code before it is published.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22 to 34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Two players join from their phones. Same screen, their phones only send controls.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34 to 58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Edits land live. No disconnect, no reset.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58 to 90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The validator refuses a world nobody can finish (DISCONNECTED_GOAL). The agent repairs it and commits only a passing version.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90 to 105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Measured on one GB10. Local model, local agent in [direct or OpenClaw] mode, no cloud.</a:t>
            </a:r>
            <a:endParaRPr lang="en-US" sz="1000" dirty="0"/>
          </a:p>
          <a:p>
            <a:pPr indent="0" marL="0">
              <a:buNone/>
            </a:pPr>
            <a:r>
              <a:rPr lang="en-US" sz="1000" b="1" dirty="0">
                <a:solidFill>
                  <a:schemeClr val="accent1"/>
                </a:solidFill>
              </a:rPr>
              <a:t>105 to 115 s  </a:t>
            </a:r>
            <a:pPr indent="0" marL="0">
              <a:spcAft>
                <a:spcPts val="500"/>
              </a:spcAft>
              <a:buNone/>
            </a:pPr>
            <a:r>
              <a:rPr lang="en-US" sz="1000" dirty="0">
                <a:solidFill>
                  <a:schemeClr val="tx1"/>
                </a:solidFill>
              </a:rPr>
              <a:t>Beetle</a:t>
            </a:r>
            <a:endParaRPr lang="en-US" sz="1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Agent architecture and validation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node Director"/>
          <p:cNvSpPr/>
          <p:nvPr/>
        </p:nvSpPr>
        <p:spPr>
          <a:xfrm>
            <a:off x="457200" y="1188720"/>
            <a:ext cx="137160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node title Director"/>
          <p:cNvSpPr txBox="1"/>
          <p:nvPr/>
        </p:nvSpPr>
        <p:spPr>
          <a:xfrm>
            <a:off x="457200" y="1188720"/>
            <a:ext cx="1371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Director</a:t>
            </a:r>
            <a:endParaRPr lang="en-US" sz="1150" dirty="0"/>
          </a:p>
        </p:txBody>
      </p:sp>
      <p:sp>
        <p:nvSpPr>
          <p:cNvPr id="17" name="node sub Director"/>
          <p:cNvSpPr txBox="1"/>
          <p:nvPr/>
        </p:nvSpPr>
        <p:spPr>
          <a:xfrm>
            <a:off x="365760" y="1901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brief or edit request</a:t>
            </a:r>
            <a:endParaRPr lang="en-US" sz="950" dirty="0"/>
          </a:p>
        </p:txBody>
      </p:sp>
      <p:sp>
        <p:nvSpPr>
          <p:cNvPr id="18" name="arrow"/>
          <p:cNvSpPr/>
          <p:nvPr/>
        </p:nvSpPr>
        <p:spPr>
          <a:xfrm>
            <a:off x="1874520" y="1508760"/>
            <a:ext cx="251460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19" name="node OpenClaw agent"/>
          <p:cNvSpPr/>
          <p:nvPr/>
        </p:nvSpPr>
        <p:spPr>
          <a:xfrm>
            <a:off x="2171700" y="1188720"/>
            <a:ext cx="137160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node title OpenClaw agent"/>
          <p:cNvSpPr txBox="1"/>
          <p:nvPr/>
        </p:nvSpPr>
        <p:spPr>
          <a:xfrm>
            <a:off x="2171700" y="1188720"/>
            <a:ext cx="1371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OpenClaw agent</a:t>
            </a:r>
            <a:endParaRPr lang="en-US" sz="1150" dirty="0"/>
          </a:p>
        </p:txBody>
      </p:sp>
      <p:sp>
        <p:nvSpPr>
          <p:cNvPr id="21" name="node sub OpenClaw agent"/>
          <p:cNvSpPr txBox="1"/>
          <p:nvPr/>
        </p:nvSpPr>
        <p:spPr>
          <a:xfrm>
            <a:off x="2080260" y="1901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reads state, proposes, repairs in a bounded budget</a:t>
            </a:r>
            <a:endParaRPr lang="en-US" sz="950" dirty="0"/>
          </a:p>
        </p:txBody>
      </p:sp>
      <p:sp>
        <p:nvSpPr>
          <p:cNvPr id="22" name="arrow"/>
          <p:cNvSpPr/>
          <p:nvPr/>
        </p:nvSpPr>
        <p:spPr>
          <a:xfrm>
            <a:off x="3589020" y="1508760"/>
            <a:ext cx="251460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3" name="node Beetle tools"/>
          <p:cNvSpPr/>
          <p:nvPr/>
        </p:nvSpPr>
        <p:spPr>
          <a:xfrm>
            <a:off x="3886200" y="1188720"/>
            <a:ext cx="137160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4" name="node title Beetle tools"/>
          <p:cNvSpPr txBox="1"/>
          <p:nvPr/>
        </p:nvSpPr>
        <p:spPr>
          <a:xfrm>
            <a:off x="3886200" y="1188720"/>
            <a:ext cx="1371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Beetle tools</a:t>
            </a:r>
            <a:endParaRPr lang="en-US" sz="1150" dirty="0"/>
          </a:p>
        </p:txBody>
      </p:sp>
      <p:sp>
        <p:nvSpPr>
          <p:cNvPr id="25" name="node sub Beetle tools"/>
          <p:cNvSpPr txBox="1"/>
          <p:nvPr/>
        </p:nvSpPr>
        <p:spPr>
          <a:xfrm>
            <a:off x="3794760" y="1901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schema-checked JSON only, nothing executed</a:t>
            </a:r>
            <a:endParaRPr lang="en-US" sz="950" dirty="0"/>
          </a:p>
        </p:txBody>
      </p:sp>
      <p:sp>
        <p:nvSpPr>
          <p:cNvPr id="26" name="arrow"/>
          <p:cNvSpPr/>
          <p:nvPr/>
        </p:nvSpPr>
        <p:spPr>
          <a:xfrm>
            <a:off x="5303520" y="1508760"/>
            <a:ext cx="251460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27" name="node Server validator and commit"/>
          <p:cNvSpPr/>
          <p:nvPr/>
        </p:nvSpPr>
        <p:spPr>
          <a:xfrm>
            <a:off x="5600700" y="1188720"/>
            <a:ext cx="1371600" cy="640080"/>
          </a:xfrm>
          <a:prstGeom prst="roundRect">
            <a:avLst>
              <a:gd name="adj" fmla="val 11429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28" name="node title Server validator and commit"/>
          <p:cNvSpPr txBox="1"/>
          <p:nvPr/>
        </p:nvSpPr>
        <p:spPr>
          <a:xfrm>
            <a:off x="5600700" y="1188720"/>
            <a:ext cx="1371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bg1"/>
                </a:solidFill>
              </a:rPr>
              <a:t>Server validator and commit</a:t>
            </a:r>
            <a:endParaRPr lang="en-US" sz="1150" dirty="0"/>
          </a:p>
        </p:txBody>
      </p:sp>
      <p:sp>
        <p:nvSpPr>
          <p:cNvPr id="29" name="node sub Server validator and commit"/>
          <p:cNvSpPr txBox="1"/>
          <p:nvPr/>
        </p:nvSpPr>
        <p:spPr>
          <a:xfrm>
            <a:off x="5509260" y="1901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deterministic game code, server-issued proof</a:t>
            </a:r>
            <a:endParaRPr lang="en-US" sz="950" dirty="0"/>
          </a:p>
        </p:txBody>
      </p:sp>
      <p:sp>
        <p:nvSpPr>
          <p:cNvPr id="30" name="arrow"/>
          <p:cNvSpPr/>
          <p:nvPr/>
        </p:nvSpPr>
        <p:spPr>
          <a:xfrm>
            <a:off x="7018020" y="1508760"/>
            <a:ext cx="251460" cy="914"/>
          </a:xfrm>
          <a:prstGeom prst="line">
            <a:avLst/>
          </a:prstGeom>
          <a:noFill/>
          <a:ln w="22225">
            <a:solidFill>
              <a:schemeClr val="accent3"/>
            </a:solidFill>
            <a:prstDash val="solid"/>
            <a:tailEnd type="triangle"/>
          </a:ln>
        </p:spPr>
      </p:sp>
      <p:sp>
        <p:nvSpPr>
          <p:cNvPr id="31" name="node Players"/>
          <p:cNvSpPr/>
          <p:nvPr/>
        </p:nvSpPr>
        <p:spPr>
          <a:xfrm>
            <a:off x="7315200" y="1188720"/>
            <a:ext cx="1371600" cy="640080"/>
          </a:xfrm>
          <a:prstGeom prst="roundRect">
            <a:avLst>
              <a:gd name="adj" fmla="val 1142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2" name="node title Players"/>
          <p:cNvSpPr txBox="1"/>
          <p:nvPr/>
        </p:nvSpPr>
        <p:spPr>
          <a:xfrm>
            <a:off x="7315200" y="1188720"/>
            <a:ext cx="1371600" cy="64008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chemeClr val="tx1"/>
                </a:solidFill>
              </a:rPr>
              <a:t>Players</a:t>
            </a:r>
            <a:endParaRPr lang="en-US" sz="1150" dirty="0"/>
          </a:p>
        </p:txBody>
      </p:sp>
      <p:sp>
        <p:nvSpPr>
          <p:cNvPr id="33" name="node sub Players"/>
          <p:cNvSpPr txBox="1"/>
          <p:nvPr/>
        </p:nvSpPr>
        <p:spPr>
          <a:xfrm>
            <a:off x="7223760" y="1901952"/>
            <a:ext cx="1554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50" dirty="0">
                <a:solidFill>
                  <a:schemeClr val="tx2"/>
                </a:solidFill>
              </a:rPr>
              <a:t>same session, same progress, new version</a:t>
            </a:r>
            <a:endParaRPr lang="en-US" sz="950" dirty="0"/>
          </a:p>
        </p:txBody>
      </p:sp>
      <p:sp>
        <p:nvSpPr>
          <p:cNvPr id="34" name="loop down"/>
          <p:cNvSpPr/>
          <p:nvPr/>
        </p:nvSpPr>
        <p:spPr>
          <a:xfrm>
            <a:off x="6286500" y="2468880"/>
            <a:ext cx="914" cy="1828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ysDash"/>
          </a:ln>
        </p:spPr>
      </p:sp>
      <p:sp>
        <p:nvSpPr>
          <p:cNvPr id="35" name="loop across"/>
          <p:cNvSpPr/>
          <p:nvPr/>
        </p:nvSpPr>
        <p:spPr>
          <a:xfrm>
            <a:off x="2857500" y="2651760"/>
            <a:ext cx="3429000" cy="914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ysDash"/>
          </a:ln>
        </p:spPr>
      </p:sp>
      <p:sp>
        <p:nvSpPr>
          <p:cNvPr id="36" name="arrow"/>
          <p:cNvSpPr/>
          <p:nvPr/>
        </p:nvSpPr>
        <p:spPr>
          <a:xfrm flipV="1">
            <a:off x="2857500" y="2468880"/>
            <a:ext cx="914" cy="182880"/>
          </a:xfrm>
          <a:prstGeom prst="line">
            <a:avLst/>
          </a:prstGeom>
          <a:noFill/>
          <a:ln w="15875">
            <a:solidFill>
              <a:schemeClr val="accent1"/>
            </a:solidFill>
            <a:prstDash val="solid"/>
            <a:tailEnd type="triangle"/>
          </a:ln>
        </p:spPr>
      </p:sp>
      <p:sp>
        <p:nvSpPr>
          <p:cNvPr id="37" name="loop caption"/>
          <p:cNvSpPr txBox="1"/>
          <p:nvPr/>
        </p:nvSpPr>
        <p:spPr>
          <a:xfrm>
            <a:off x="2994660" y="2697480"/>
            <a:ext cx="3154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i="1" dirty="0">
                <a:solidFill>
                  <a:schemeClr val="accent1"/>
                </a:solidFill>
              </a:rPr>
              <a:t>validation issues go back for repair, at most 2 attempts, then the request fails honestly</a:t>
            </a:r>
            <a:endParaRPr lang="en-US" sz="900" dirty="0"/>
          </a:p>
        </p:txBody>
      </p:sp>
      <p:sp>
        <p:nvSpPr>
          <p:cNvPr id="38" name="state card"/>
          <p:cNvSpPr/>
          <p:nvPr/>
        </p:nvSpPr>
        <p:spPr>
          <a:xfrm>
            <a:off x="457200" y="3017520"/>
            <a:ext cx="39776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9" name="label TWO KINDS OF STATE"/>
          <p:cNvSpPr txBox="1"/>
          <p:nvPr/>
        </p:nvSpPr>
        <p:spPr>
          <a:xfrm>
            <a:off x="640080" y="3154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TWO KINDS OF STATE</a:t>
            </a:r>
            <a:endParaRPr lang="en-US" sz="1000" dirty="0"/>
          </a:p>
        </p:txBody>
      </p:sp>
      <p:sp>
        <p:nvSpPr>
          <p:cNvPr id="40" name="state bullets"/>
          <p:cNvSpPr txBox="1"/>
          <p:nvPr/>
        </p:nvSpPr>
        <p:spPr>
          <a:xfrm>
            <a:off x="640080" y="3401568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WorldSpec is structure. It changes only when a transaction commits, one version per commit.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SessionState is players, relics, score. The simulation advances it; the agent never writes it.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Commit needs a server-issued proof.</a:t>
            </a:r>
            <a:endParaRPr lang="en-US" sz="1100" dirty="0"/>
          </a:p>
        </p:txBody>
      </p:sp>
      <p:sp>
        <p:nvSpPr>
          <p:cNvPr id="41" name="validation card"/>
          <p:cNvSpPr/>
          <p:nvPr/>
        </p:nvSpPr>
        <p:spPr>
          <a:xfrm>
            <a:off x="4709160" y="3017520"/>
            <a:ext cx="3977640" cy="1600200"/>
          </a:xfrm>
          <a:prstGeom prst="roundRect">
            <a:avLst>
              <a:gd name="adj" fmla="val 4571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2" name="label VALIDATION IS GAME CODE"/>
          <p:cNvSpPr txBox="1"/>
          <p:nvPr/>
        </p:nvSpPr>
        <p:spPr>
          <a:xfrm>
            <a:off x="4892040" y="3154680"/>
            <a:ext cx="3657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200" kern="0" dirty="0">
                <a:solidFill>
                  <a:schemeClr val="accent1"/>
                </a:solidFill>
              </a:rPr>
              <a:t>VALIDATION IS GAME CODE</a:t>
            </a:r>
            <a:endParaRPr lang="en-US" sz="1000" dirty="0"/>
          </a:p>
        </p:txBody>
      </p:sp>
      <p:sp>
        <p:nvSpPr>
          <p:cNvPr id="43" name="validation bullets"/>
          <p:cNvSpPr txBox="1"/>
          <p:nvPr/>
        </p:nvSpPr>
        <p:spPr>
          <a:xfrm>
            <a:off x="4892040" y="3401568"/>
            <a:ext cx="36576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Geometry, bridge sockets, walk field, reachability with the gate locked, occupied support at commit time.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An LLM saying valid is never approval.</a:t>
            </a:r>
            <a:endParaRPr lang="en-US" sz="1100" dirty="0"/>
          </a:p>
          <a:p>
            <a:pPr marL="152400" indent="-152400">
              <a:spcAft>
                <a:spcPts val="500"/>
              </a:spcAft>
              <a:buSzPct val="100000"/>
              <a:buChar char="•"/>
            </a:pPr>
            <a:r>
              <a:rPr lang="en-US" sz="1100" dirty="0">
                <a:solidFill>
                  <a:schemeClr val="tx1"/>
                </a:solidFill>
              </a:rPr>
              <a:t>Nothing from the model runs. Output is schema-checked JSON only.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Measured local-first results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result card MODEL"/>
          <p:cNvSpPr/>
          <p:nvPr/>
        </p:nvSpPr>
        <p:spPr>
          <a:xfrm>
            <a:off x="457200" y="1115568"/>
            <a:ext cx="26517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6" name="label MODEL"/>
          <p:cNvSpPr txBox="1"/>
          <p:nvPr/>
        </p:nvSpPr>
        <p:spPr>
          <a:xfrm>
            <a:off x="603504" y="1188720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MODEL</a:t>
            </a:r>
            <a:endParaRPr lang="en-US" sz="900" dirty="0"/>
          </a:p>
        </p:txBody>
      </p:sp>
      <p:sp>
        <p:nvSpPr>
          <p:cNvPr id="17" name="result value MODEL"/>
          <p:cNvSpPr txBox="1"/>
          <p:nvPr/>
        </p:nvSpPr>
        <p:spPr>
          <a:xfrm>
            <a:off x="603504" y="13624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qwen3.5:4b, Q4_K_M</a:t>
            </a:r>
            <a:endParaRPr lang="en-US" sz="1250" dirty="0"/>
          </a:p>
        </p:txBody>
      </p:sp>
      <p:sp>
        <p:nvSpPr>
          <p:cNvPr id="18" name="result sub MODEL"/>
          <p:cNvSpPr txBox="1"/>
          <p:nvPr/>
        </p:nvSpPr>
        <p:spPr>
          <a:xfrm>
            <a:off x="603504" y="1645920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chemeClr val="tx2"/>
                </a:solidFill>
              </a:rPr>
              <a:t>4.7B, 3.4 GB, Ollama 0.35.1 on loopback. qwen3.8:27b not benchmarked: pull failed once, re-downloading. docs/MODEL_SELECTION.md</a:t>
            </a:r>
            <a:endParaRPr lang="en-US" sz="750" dirty="0"/>
          </a:p>
        </p:txBody>
      </p:sp>
      <p:sp>
        <p:nvSpPr>
          <p:cNvPr id="19" name="result card BRIEF, WARM, QUIET GPU"/>
          <p:cNvSpPr/>
          <p:nvPr/>
        </p:nvSpPr>
        <p:spPr>
          <a:xfrm>
            <a:off x="3246120" y="1115568"/>
            <a:ext cx="26517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0" name="label BRIEF, WARM, QUIET GPU"/>
          <p:cNvSpPr txBox="1"/>
          <p:nvPr/>
        </p:nvSpPr>
        <p:spPr>
          <a:xfrm>
            <a:off x="3392424" y="1188720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BRIEF, WARM, QUIET GPU</a:t>
            </a:r>
            <a:endParaRPr lang="en-US" sz="900" dirty="0"/>
          </a:p>
        </p:txBody>
      </p:sp>
      <p:sp>
        <p:nvSpPr>
          <p:cNvPr id="21" name="result value BRIEF, WARM, QUIET GPU"/>
          <p:cNvSpPr txBox="1"/>
          <p:nvPr/>
        </p:nvSpPr>
        <p:spPr>
          <a:xfrm>
            <a:off x="3392424" y="13624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26.2 / 26.5 / 27.7 s</a:t>
            </a:r>
            <a:endParaRPr lang="en-US" sz="1250" dirty="0"/>
          </a:p>
        </p:txBody>
      </p:sp>
      <p:sp>
        <p:nvSpPr>
          <p:cNvPr id="22" name="result sub BRIEF, WARM, QUIET GPU"/>
          <p:cNvSpPr txBox="1"/>
          <p:nvPr/>
        </p:nvSpPr>
        <p:spPr>
          <a:xfrm>
            <a:off x="3392424" y="1645920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chemeClr val="tx2"/>
                </a:solidFill>
              </a:rPr>
              <a:t>min / p50 / max, 3 runs, first draft valid (bench-qwen3.5_4b-1791049348895.json). 10 s target not met. 14 s once after normalization (RESULTS.md run 3).</a:t>
            </a:r>
            <a:endParaRPr lang="en-US" sz="750" dirty="0"/>
          </a:p>
        </p:txBody>
      </p:sp>
      <p:sp>
        <p:nvSpPr>
          <p:cNvPr id="23" name="result card COLD / CONTENDED GPU"/>
          <p:cNvSpPr/>
          <p:nvPr/>
        </p:nvSpPr>
        <p:spPr>
          <a:xfrm>
            <a:off x="6035040" y="1115568"/>
            <a:ext cx="26517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4" name="label COLD / CONTENDED GPU"/>
          <p:cNvSpPr txBox="1"/>
          <p:nvPr/>
        </p:nvSpPr>
        <p:spPr>
          <a:xfrm>
            <a:off x="6181344" y="1188720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COLD / CONTENDED GPU</a:t>
            </a:r>
            <a:endParaRPr lang="en-US" sz="900" dirty="0"/>
          </a:p>
        </p:txBody>
      </p:sp>
      <p:sp>
        <p:nvSpPr>
          <p:cNvPr id="25" name="result value COLD / CONTENDED GPU"/>
          <p:cNvSpPr txBox="1"/>
          <p:nvPr/>
        </p:nvSpPr>
        <p:spPr>
          <a:xfrm>
            <a:off x="6181344" y="1362456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23.1 s load; 58 to 214 s</a:t>
            </a:r>
            <a:endParaRPr lang="en-US" sz="1250" dirty="0"/>
          </a:p>
        </p:txBody>
      </p:sp>
      <p:sp>
        <p:nvSpPr>
          <p:cNvPr id="26" name="result sub COLD / CONTENDED GPU"/>
          <p:cNvSpPr txBox="1"/>
          <p:nvPr/>
        </p:nvSpPr>
        <p:spPr>
          <a:xfrm>
            <a:off x="6181344" y="1645920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chemeClr val="tx2"/>
                </a:solidFill>
              </a:rPr>
              <a:t>cold: 23.1 s model load in a 54.4 s first draft (probe-run.log). Contended: drafts 58.8 to 214.1 s, one edit 45.1 s (bench-qwen3.5_4b-1791050596040.json).</a:t>
            </a:r>
            <a:endParaRPr lang="en-US" sz="750" dirty="0"/>
          </a:p>
        </p:txBody>
      </p:sp>
      <p:sp>
        <p:nvSpPr>
          <p:cNvPr id="27" name="result card EDIT TO COMMIT"/>
          <p:cNvSpPr/>
          <p:nvPr/>
        </p:nvSpPr>
        <p:spPr>
          <a:xfrm>
            <a:off x="457200" y="2157984"/>
            <a:ext cx="26517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8" name="label EDIT TO COMMIT"/>
          <p:cNvSpPr txBox="1"/>
          <p:nvPr/>
        </p:nvSpPr>
        <p:spPr>
          <a:xfrm>
            <a:off x="603504" y="2231136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EDIT TO COMMIT</a:t>
            </a:r>
            <a:endParaRPr lang="en-US" sz="900" dirty="0"/>
          </a:p>
        </p:txBody>
      </p:sp>
      <p:sp>
        <p:nvSpPr>
          <p:cNvPr id="29" name="result value EDIT TO COMMIT"/>
          <p:cNvSpPr txBox="1"/>
          <p:nvPr/>
        </p:nvSpPr>
        <p:spPr>
          <a:xfrm>
            <a:off x="603504" y="24048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2.0 / 8.0 / 14.0 s</a:t>
            </a:r>
            <a:endParaRPr lang="en-US" sz="1250" dirty="0"/>
          </a:p>
        </p:txBody>
      </p:sp>
      <p:sp>
        <p:nvSpPr>
          <p:cNvPr id="30" name="result sub EDIT TO COMMIT"/>
          <p:cNvSpPr txBox="1"/>
          <p:nvPr/>
        </p:nvSpPr>
        <p:spPr>
          <a:xfrm>
            <a:off x="603504" y="268833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chemeClr val="tx2"/>
                </a:solidFill>
              </a:rPr>
              <a:t>min / p50 / max, 6 edits, 5 of 6 committed; run 3 after normalization, quiet GPU, direct mode (run-1791052136845.json). Run 2 before: 2 of 6, 3.0 s each.</a:t>
            </a:r>
            <a:endParaRPr lang="en-US" sz="750" dirty="0"/>
          </a:p>
        </p:txBody>
      </p:sp>
      <p:sp>
        <p:nvSpPr>
          <p:cNvPr id="31" name="result card INVALID EDITS CAUGHT"/>
          <p:cNvSpPr/>
          <p:nvPr/>
        </p:nvSpPr>
        <p:spPr>
          <a:xfrm>
            <a:off x="3246120" y="2157984"/>
            <a:ext cx="26517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2" name="label INVALID EDITS CAUGHT"/>
          <p:cNvSpPr txBox="1"/>
          <p:nvPr/>
        </p:nvSpPr>
        <p:spPr>
          <a:xfrm>
            <a:off x="3392424" y="2231136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INVALID EDITS CAUGHT</a:t>
            </a:r>
            <a:endParaRPr lang="en-US" sz="900" dirty="0"/>
          </a:p>
        </p:txBody>
      </p:sp>
      <p:sp>
        <p:nvSpPr>
          <p:cNvPr id="33" name="result value INVALID EDITS CAUGHT"/>
          <p:cNvSpPr txBox="1"/>
          <p:nvPr/>
        </p:nvSpPr>
        <p:spPr>
          <a:xfrm>
            <a:off x="3392424" y="24048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6 of 12 refused</a:t>
            </a:r>
            <a:endParaRPr lang="en-US" sz="1250" dirty="0"/>
          </a:p>
        </p:txBody>
      </p:sp>
      <p:sp>
        <p:nvSpPr>
          <p:cNvPr id="34" name="result sub INVALID EDITS CAUGHT"/>
          <p:cNvSpPr txBox="1"/>
          <p:nvPr/>
        </p:nvSpPr>
        <p:spPr>
          <a:xfrm>
            <a:off x="3392424" y="268833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chemeClr val="tx2"/>
                </a:solidFill>
              </a:rPr>
              <a:t>runs 2 and 3 (RESULTS.md); repairs that then committed: 1 (run 3 E6); invalid worlds committed: 0. On garden5 a DISCONNECTED_GOAL refusal was repaired and committed in 3.0 s.</a:t>
            </a:r>
            <a:endParaRPr lang="en-US" sz="750" dirty="0"/>
          </a:p>
        </p:txBody>
      </p:sp>
      <p:sp>
        <p:nvSpPr>
          <p:cNvPr id="35" name="result card NORMALIZATION EFFECT"/>
          <p:cNvSpPr/>
          <p:nvPr/>
        </p:nvSpPr>
        <p:spPr>
          <a:xfrm>
            <a:off x="6035040" y="2157984"/>
            <a:ext cx="26517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36" name="label NORMALIZATION EFFECT"/>
          <p:cNvSpPr txBox="1"/>
          <p:nvPr/>
        </p:nvSpPr>
        <p:spPr>
          <a:xfrm>
            <a:off x="6181344" y="2231136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NORMALIZATION EFFECT</a:t>
            </a:r>
            <a:endParaRPr lang="en-US" sz="900" dirty="0"/>
          </a:p>
        </p:txBody>
      </p:sp>
      <p:sp>
        <p:nvSpPr>
          <p:cNvPr id="37" name="result value NORMALIZATION EFFECT"/>
          <p:cNvSpPr txBox="1"/>
          <p:nvPr/>
        </p:nvSpPr>
        <p:spPr>
          <a:xfrm>
            <a:off x="6181344" y="2404872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2 of 30 to 13 of 30</a:t>
            </a:r>
            <a:endParaRPr lang="en-US" sz="1250" dirty="0"/>
          </a:p>
        </p:txBody>
      </p:sp>
      <p:sp>
        <p:nvSpPr>
          <p:cNvPr id="38" name="result sub NORMALIZATION EFFECT"/>
          <p:cNvSpPr txBox="1"/>
          <p:nvPr/>
        </p:nvSpPr>
        <p:spPr>
          <a:xfrm>
            <a:off x="6181344" y="2688336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chemeClr val="tx2"/>
                </a:solidFill>
              </a:rPr>
              <a:t>corpus validity without vs with the deterministic normalizer (MODEL_FAILURE_MODES.md, corpus/summary.json). Live edits committed: 2 of 6 to 5 of 6.</a:t>
            </a:r>
            <a:endParaRPr lang="en-US" sz="750" dirty="0"/>
          </a:p>
        </p:txBody>
      </p:sp>
      <p:sp>
        <p:nvSpPr>
          <p:cNvPr id="39" name="result card LATENCY, LOOPBACK"/>
          <p:cNvSpPr/>
          <p:nvPr/>
        </p:nvSpPr>
        <p:spPr>
          <a:xfrm>
            <a:off x="457200" y="3200400"/>
            <a:ext cx="26517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0" name="label LATENCY, LOOPBACK"/>
          <p:cNvSpPr txBox="1"/>
          <p:nvPr/>
        </p:nvSpPr>
        <p:spPr>
          <a:xfrm>
            <a:off x="603504" y="3273552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LATENCY, LOOPBACK</a:t>
            </a:r>
            <a:endParaRPr lang="en-US" sz="900" dirty="0"/>
          </a:p>
        </p:txBody>
      </p:sp>
      <p:sp>
        <p:nvSpPr>
          <p:cNvPr id="41" name="result value LATENCY, LOOPBACK"/>
          <p:cNvSpPr txBox="1"/>
          <p:nvPr/>
        </p:nvSpPr>
        <p:spPr>
          <a:xfrm>
            <a:off x="603504" y="344728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0.48 ms RTT, 18.8 ms tick</a:t>
            </a:r>
            <a:endParaRPr lang="en-US" sz="1250" dirty="0"/>
          </a:p>
        </p:txBody>
      </p:sp>
      <p:sp>
        <p:nvSpPr>
          <p:cNvPr id="42" name="result sub LATENCY, LOOPBACK"/>
          <p:cNvSpPr txBox="1"/>
          <p:nvPr/>
        </p:nvSpPr>
        <p:spPr>
          <a:xfrm>
            <a:off x="603504" y="3730752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chemeClr val="tx2"/>
                </a:solidFill>
              </a:rPr>
              <a:t>p50, scripted controllers (p95 0.81 and 33.1 ms; LATENCY.md). Not input to photon: no phone, Wi-Fi, browser or display included.</a:t>
            </a:r>
            <a:endParaRPr lang="en-US" sz="750" dirty="0"/>
          </a:p>
        </p:txBody>
      </p:sp>
      <p:sp>
        <p:nvSpPr>
          <p:cNvPr id="43" name="result card SESSION CONTINUITY"/>
          <p:cNvSpPr/>
          <p:nvPr/>
        </p:nvSpPr>
        <p:spPr>
          <a:xfrm>
            <a:off x="3246120" y="3200400"/>
            <a:ext cx="26517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4" name="label SESSION CONTINUITY"/>
          <p:cNvSpPr txBox="1"/>
          <p:nvPr/>
        </p:nvSpPr>
        <p:spPr>
          <a:xfrm>
            <a:off x="3392424" y="3273552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SESSION CONTINUITY</a:t>
            </a:r>
            <a:endParaRPr lang="en-US" sz="900" dirty="0"/>
          </a:p>
        </p:txBody>
      </p:sp>
      <p:sp>
        <p:nvSpPr>
          <p:cNvPr id="45" name="result value SESSION CONTINUITY"/>
          <p:cNvSpPr txBox="1"/>
          <p:nvPr/>
        </p:nvSpPr>
        <p:spPr>
          <a:xfrm>
            <a:off x="3392424" y="344728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not measured live</a:t>
            </a:r>
            <a:endParaRPr lang="en-US" sz="1250" dirty="0"/>
          </a:p>
        </p:txBody>
      </p:sp>
      <p:sp>
        <p:nvSpPr>
          <p:cNvPr id="46" name="result sub SESSION CONTINUITY"/>
          <p:cNvSpPr txBox="1"/>
          <p:nvPr/>
        </p:nvSpPr>
        <p:spPr>
          <a:xfrm>
            <a:off x="3392424" y="3730752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chemeClr val="tx2"/>
                </a:solidFill>
              </a:rPr>
              <a:t>no player connected in runs 2 and 3. Preserved ids, relics, score and reconnect are covered by integration tests with real sockets (BUILD_STATUS.md 10, 12).</a:t>
            </a:r>
            <a:endParaRPr lang="en-US" sz="750" dirty="0"/>
          </a:p>
        </p:txBody>
      </p:sp>
      <p:sp>
        <p:nvSpPr>
          <p:cNvPr id="47" name="result card OFFLINE PROOF"/>
          <p:cNvSpPr/>
          <p:nvPr/>
        </p:nvSpPr>
        <p:spPr>
          <a:xfrm>
            <a:off x="6035040" y="3200400"/>
            <a:ext cx="2651760" cy="987552"/>
          </a:xfrm>
          <a:prstGeom prst="roundRect">
            <a:avLst>
              <a:gd name="adj" fmla="val 7407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48" name="label OFFLINE PROOF"/>
          <p:cNvSpPr txBox="1"/>
          <p:nvPr/>
        </p:nvSpPr>
        <p:spPr>
          <a:xfrm>
            <a:off x="6181344" y="3273552"/>
            <a:ext cx="2359152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b="1" spc="200" kern="0" dirty="0">
                <a:solidFill>
                  <a:schemeClr val="accent1"/>
                </a:solidFill>
              </a:rPr>
              <a:t>OFFLINE PROOF</a:t>
            </a:r>
            <a:endParaRPr lang="en-US" sz="900" dirty="0"/>
          </a:p>
        </p:txBody>
      </p:sp>
      <p:sp>
        <p:nvSpPr>
          <p:cNvPr id="49" name="result value OFFLINE PROOF"/>
          <p:cNvSpPr txBox="1"/>
          <p:nvPr/>
        </p:nvSpPr>
        <p:spPr>
          <a:xfrm>
            <a:off x="6181344" y="3447288"/>
            <a:ext cx="23591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chemeClr val="accent1"/>
                </a:solidFill>
              </a:rPr>
              <a:t>not run</a:t>
            </a:r>
            <a:endParaRPr lang="en-US" sz="1250" dirty="0"/>
          </a:p>
        </p:txBody>
      </p:sp>
      <p:sp>
        <p:nvSpPr>
          <p:cNvPr id="50" name="result sub OFFLINE PROOF"/>
          <p:cNvSpPr txBox="1"/>
          <p:nvPr/>
        </p:nvSpPr>
        <p:spPr>
          <a:xfrm>
            <a:off x="6181344" y="3730752"/>
            <a:ext cx="23591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750" dirty="0">
                <a:solidFill>
                  <a:schemeClr val="tx2"/>
                </a:solidFill>
              </a:rPr>
              <a:t>only a before record exists (data/offline-proof/1791049273707.json: egress not blocked, server not up). Procedure: docs/OFFLINE_PROOF.md. Nothing claimed.</a:t>
            </a:r>
            <a:endParaRPr lang="en-US" sz="750" dirty="0"/>
          </a:p>
        </p:txBody>
      </p:sp>
      <p:sp>
        <p:nvSpPr>
          <p:cNvPr id="51" name="sources note"/>
          <p:cNvSpPr txBox="1"/>
          <p:nvPr/>
        </p:nvSpPr>
        <p:spPr>
          <a:xfrm>
            <a:off x="457200" y="4261104"/>
            <a:ext cx="822960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chemeClr val="tx2"/>
                </a:solidFill>
              </a:rPr>
              <a:t>All timings are from the direct harness, labelled [direct] in every report, and each names its GPU state because the Ollama daemon was shared for most of the day. OpenClaw tool calls are proven against a fake server (packages/agent/SMOKE.md); the run against the real server times out before any model call and is being diagnosed.</a:t>
            </a:r>
            <a:endParaRPr lang="en-US" sz="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347472"/>
            <a:ext cx="67665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600" b="1" dirty="0">
                <a:solidFill>
                  <a:schemeClr val="tx1"/>
                </a:solidFill>
              </a:rPr>
              <a:t>Business hypothesis and next validation</a:t>
            </a:r>
            <a:endParaRPr lang="en-US" sz="2600" dirty="0"/>
          </a:p>
        </p:txBody>
      </p:sp>
      <p:sp>
        <p:nvSpPr>
          <p:cNvPr id="3" name="beetle leg"/>
          <p:cNvSpPr/>
          <p:nvPr/>
        </p:nvSpPr>
        <p:spPr>
          <a:xfrm flipH="1" flipV="1">
            <a:off x="7339395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4" name="beetle leg"/>
          <p:cNvSpPr/>
          <p:nvPr/>
        </p:nvSpPr>
        <p:spPr>
          <a:xfrm flipH="1">
            <a:off x="730790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5" name="beetle leg"/>
          <p:cNvSpPr/>
          <p:nvPr/>
        </p:nvSpPr>
        <p:spPr>
          <a:xfrm flipH="1">
            <a:off x="7332252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6" name="beetle leg"/>
          <p:cNvSpPr/>
          <p:nvPr/>
        </p:nvSpPr>
        <p:spPr>
          <a:xfrm flipV="1">
            <a:off x="7590562" y="493118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7" name="beetle leg"/>
          <p:cNvSpPr/>
          <p:nvPr/>
        </p:nvSpPr>
        <p:spPr>
          <a:xfrm>
            <a:off x="7614373" y="622158"/>
            <a:ext cx="92172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8" name="beetle leg"/>
          <p:cNvSpPr/>
          <p:nvPr/>
        </p:nvSpPr>
        <p:spPr>
          <a:xfrm>
            <a:off x="7597706" y="705112"/>
            <a:ext cx="84491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9" name="beetle antenna"/>
          <p:cNvSpPr/>
          <p:nvPr/>
        </p:nvSpPr>
        <p:spPr>
          <a:xfrm flipV="1">
            <a:off x="73958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0" name="beetle antenna"/>
          <p:cNvSpPr/>
          <p:nvPr/>
        </p:nvSpPr>
        <p:spPr>
          <a:xfrm>
            <a:off x="7557150" y="384048"/>
            <a:ext cx="61448" cy="46086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11" name="beetle head"/>
          <p:cNvSpPr/>
          <p:nvPr/>
        </p:nvSpPr>
        <p:spPr>
          <a:xfrm>
            <a:off x="7449617" y="414772"/>
            <a:ext cx="115214" cy="92172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2" name="beetle body"/>
          <p:cNvSpPr/>
          <p:nvPr/>
        </p:nvSpPr>
        <p:spPr>
          <a:xfrm>
            <a:off x="7388169" y="483900"/>
            <a:ext cx="238110" cy="27651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13" name="beetle split"/>
          <p:cNvSpPr/>
          <p:nvPr/>
        </p:nvSpPr>
        <p:spPr>
          <a:xfrm>
            <a:off x="7507224" y="517082"/>
            <a:ext cx="914" cy="2212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14" name="wordmark"/>
          <p:cNvSpPr txBox="1"/>
          <p:nvPr/>
        </p:nvSpPr>
        <p:spPr>
          <a:xfrm>
            <a:off x="7772400" y="384048"/>
            <a:ext cx="1591056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15" name="column HYPOTHESIS"/>
          <p:cNvSpPr/>
          <p:nvPr/>
        </p:nvSpPr>
        <p:spPr>
          <a:xfrm>
            <a:off x="457200" y="1188720"/>
            <a:ext cx="2651760" cy="2880360"/>
          </a:xfrm>
          <a:prstGeom prst="roundRect">
            <a:avLst>
              <a:gd name="adj" fmla="val 2759"/>
            </a:avLst>
          </a:prstGeom>
          <a:solidFill>
            <a:schemeClr val="accent1"/>
          </a:solidFill>
          <a:ln w="9525">
            <a:solidFill>
              <a:schemeClr val="accent1"/>
            </a:solidFill>
            <a:prstDash val="solid"/>
          </a:ln>
        </p:spPr>
      </p:sp>
      <p:sp>
        <p:nvSpPr>
          <p:cNvPr id="16" name="column label HYPOTHESIS"/>
          <p:cNvSpPr txBox="1"/>
          <p:nvPr/>
        </p:nvSpPr>
        <p:spPr>
          <a:xfrm>
            <a:off x="640080" y="1353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bg1"/>
                </a:solidFill>
              </a:rPr>
              <a:t>HYPOTHESIS</a:t>
            </a:r>
            <a:endParaRPr lang="en-US" sz="1100" dirty="0"/>
          </a:p>
        </p:txBody>
      </p:sp>
      <p:sp>
        <p:nvSpPr>
          <p:cNvPr id="17" name="column body HYPOTHESIS"/>
          <p:cNvSpPr txBox="1"/>
          <p:nvPr/>
        </p:nvSpPr>
        <p:spPr>
          <a:xfrm>
            <a:off x="640080" y="1691640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</a:rPr>
              <a:t>Studios will pay for faster prototype iteration that keeps playtests running.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bg1"/>
                </a:solidFill>
              </a:rPr>
              <a:t>Their data stays on their machines, which matters to studios with unreleased IP.</a:t>
            </a:r>
            <a:endParaRPr lang="en-US" sz="1250" dirty="0"/>
          </a:p>
        </p:txBody>
      </p:sp>
      <p:sp>
        <p:nvSpPr>
          <p:cNvPr id="18" name="column NOT CLAIMED"/>
          <p:cNvSpPr/>
          <p:nvPr/>
        </p:nvSpPr>
        <p:spPr>
          <a:xfrm>
            <a:off x="3246120" y="1188720"/>
            <a:ext cx="2651760" cy="28803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19" name="column label NOT CLAIMED"/>
          <p:cNvSpPr txBox="1"/>
          <p:nvPr/>
        </p:nvSpPr>
        <p:spPr>
          <a:xfrm>
            <a:off x="3429000" y="1353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NOT CLAIMED</a:t>
            </a:r>
            <a:endParaRPr lang="en-US" sz="1100" dirty="0"/>
          </a:p>
        </p:txBody>
      </p:sp>
      <p:sp>
        <p:nvSpPr>
          <p:cNvPr id="20" name="column body NOT CLAIMED"/>
          <p:cNvSpPr txBox="1"/>
          <p:nvPr/>
        </p:nvSpPr>
        <p:spPr>
          <a:xfrm>
            <a:off x="3429000" y="1691640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Market size.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Pricing.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Customer traction.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Speed-up percentages without a measured baseline.</a:t>
            </a:r>
            <a:endParaRPr lang="en-US" sz="1250" dirty="0"/>
          </a:p>
        </p:txBody>
      </p:sp>
      <p:sp>
        <p:nvSpPr>
          <p:cNvPr id="21" name="column NEXT VALIDATION"/>
          <p:cNvSpPr/>
          <p:nvPr/>
        </p:nvSpPr>
        <p:spPr>
          <a:xfrm>
            <a:off x="6035040" y="1188720"/>
            <a:ext cx="2651760" cy="2880360"/>
          </a:xfrm>
          <a:prstGeom prst="roundRect">
            <a:avLst>
              <a:gd name="adj" fmla="val 2759"/>
            </a:avLst>
          </a:prstGeom>
          <a:solidFill>
            <a:schemeClr val="bg2"/>
          </a:solidFill>
          <a:ln w="9525">
            <a:solidFill>
              <a:schemeClr val="accent4"/>
            </a:solidFill>
            <a:prstDash val="solid"/>
          </a:ln>
        </p:spPr>
      </p:sp>
      <p:sp>
        <p:nvSpPr>
          <p:cNvPr id="22" name="column label NEXT VALIDATION"/>
          <p:cNvSpPr txBox="1"/>
          <p:nvPr/>
        </p:nvSpPr>
        <p:spPr>
          <a:xfrm>
            <a:off x="6217920" y="1353312"/>
            <a:ext cx="2286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chemeClr val="accent1"/>
                </a:solidFill>
              </a:rPr>
              <a:t>NEXT VALIDATION</a:t>
            </a:r>
            <a:endParaRPr lang="en-US" sz="1100" dirty="0"/>
          </a:p>
        </p:txBody>
      </p:sp>
      <p:sp>
        <p:nvSpPr>
          <p:cNvPr id="23" name="column body NEXT VALIDATION"/>
          <p:cNvSpPr txBox="1"/>
          <p:nvPr/>
        </p:nvSpPr>
        <p:spPr>
          <a:xfrm>
            <a:off x="6217920" y="1691640"/>
            <a:ext cx="2286000" cy="2240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Time a conventional edit-rebuild-regather loop with the same designers and the same change list.</a:t>
            </a:r>
            <a:endParaRPr lang="en-US" sz="1250" dirty="0"/>
          </a:p>
          <a:p>
            <a:pPr marL="152400" indent="-152400">
              <a:spcAft>
                <a:spcPts val="700"/>
              </a:spcAft>
              <a:buSzPct val="100000"/>
              <a:buChar char="•"/>
            </a:pPr>
            <a:r>
              <a:rPr lang="en-US" sz="1250" dirty="0">
                <a:solidFill>
                  <a:schemeClr val="tx1"/>
                </a:solidFill>
              </a:rPr>
              <a:t>Compare it against Beetle's measured edit-to-commit times.</a:t>
            </a:r>
            <a:endParaRPr lang="en-US" sz="1250" dirty="0"/>
          </a:p>
        </p:txBody>
      </p:sp>
      <p:sp>
        <p:nvSpPr>
          <p:cNvPr id="24" name="beetle leg"/>
          <p:cNvSpPr/>
          <p:nvPr/>
        </p:nvSpPr>
        <p:spPr>
          <a:xfrm flipH="1" flipV="1">
            <a:off x="483123" y="4323100"/>
            <a:ext cx="90526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5" name="beetle leg"/>
          <p:cNvSpPr/>
          <p:nvPr/>
        </p:nvSpPr>
        <p:spPr>
          <a:xfrm flipH="1">
            <a:off x="449382" y="4461358"/>
            <a:ext cx="98755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6" name="beetle leg"/>
          <p:cNvSpPr/>
          <p:nvPr/>
        </p:nvSpPr>
        <p:spPr>
          <a:xfrm flipH="1">
            <a:off x="475470" y="4550237"/>
            <a:ext cx="90526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7" name="beetle leg"/>
          <p:cNvSpPr/>
          <p:nvPr/>
        </p:nvSpPr>
        <p:spPr>
          <a:xfrm flipV="1">
            <a:off x="752231" y="4323100"/>
            <a:ext cx="90526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8" name="beetle leg"/>
          <p:cNvSpPr/>
          <p:nvPr/>
        </p:nvSpPr>
        <p:spPr>
          <a:xfrm>
            <a:off x="777743" y="4461358"/>
            <a:ext cx="98755" cy="914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29" name="beetle leg"/>
          <p:cNvSpPr/>
          <p:nvPr/>
        </p:nvSpPr>
        <p:spPr>
          <a:xfrm>
            <a:off x="759885" y="4550237"/>
            <a:ext cx="90526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30" name="beetle antenna"/>
          <p:cNvSpPr/>
          <p:nvPr/>
        </p:nvSpPr>
        <p:spPr>
          <a:xfrm flipV="1">
            <a:off x="543611" y="4206240"/>
            <a:ext cx="65837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31" name="beetle antenna"/>
          <p:cNvSpPr/>
          <p:nvPr/>
        </p:nvSpPr>
        <p:spPr>
          <a:xfrm>
            <a:off x="716432" y="4206240"/>
            <a:ext cx="65837" cy="49378"/>
          </a:xfrm>
          <a:prstGeom prst="line">
            <a:avLst/>
          </a:prstGeom>
          <a:noFill/>
          <a:ln w="15875">
            <a:solidFill>
              <a:schemeClr val="tx1"/>
            </a:solidFill>
            <a:prstDash val="solid"/>
          </a:ln>
        </p:spPr>
      </p:sp>
      <p:sp>
        <p:nvSpPr>
          <p:cNvPr id="32" name="beetle head"/>
          <p:cNvSpPr/>
          <p:nvPr/>
        </p:nvSpPr>
        <p:spPr>
          <a:xfrm>
            <a:off x="601218" y="4239158"/>
            <a:ext cx="123444" cy="98755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3" name="beetle body"/>
          <p:cNvSpPr/>
          <p:nvPr/>
        </p:nvSpPr>
        <p:spPr>
          <a:xfrm>
            <a:off x="535381" y="4313225"/>
            <a:ext cx="255118" cy="296266"/>
          </a:xfrm>
          <a:prstGeom prst="ellipse">
            <a:avLst/>
          </a:prstGeom>
          <a:solidFill>
            <a:schemeClr val="accent1"/>
          </a:solidFill>
          <a:ln w="6350">
            <a:solidFill>
              <a:schemeClr val="accent1"/>
            </a:solidFill>
            <a:prstDash val="solid"/>
          </a:ln>
        </p:spPr>
      </p:sp>
      <p:sp>
        <p:nvSpPr>
          <p:cNvPr id="34" name="beetle split"/>
          <p:cNvSpPr/>
          <p:nvPr/>
        </p:nvSpPr>
        <p:spPr>
          <a:xfrm>
            <a:off x="662940" y="4348777"/>
            <a:ext cx="914" cy="237012"/>
          </a:xfrm>
          <a:prstGeom prst="line">
            <a:avLst/>
          </a:prstGeom>
          <a:noFill/>
          <a:ln w="19050">
            <a:solidFill>
              <a:schemeClr val="bg1"/>
            </a:solidFill>
            <a:prstDash val="solid"/>
          </a:ln>
        </p:spPr>
      </p:sp>
      <p:sp>
        <p:nvSpPr>
          <p:cNvPr id="35" name="wordmark"/>
          <p:cNvSpPr txBox="1"/>
          <p:nvPr/>
        </p:nvSpPr>
        <p:spPr>
          <a:xfrm>
            <a:off x="941832" y="4206240"/>
            <a:ext cx="1591056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spc="400" kern="0" dirty="0">
                <a:solidFill>
                  <a:schemeClr val="tx1"/>
                </a:solidFill>
              </a:rPr>
              <a:t>BEETLE</a:t>
            </a:r>
            <a:endParaRPr lang="en-US" sz="1600" dirty="0"/>
          </a:p>
        </p:txBody>
      </p:sp>
      <p:sp>
        <p:nvSpPr>
          <p:cNvPr id="36" name="closing line"/>
          <p:cNvSpPr txBox="1"/>
          <p:nvPr/>
        </p:nvSpPr>
        <p:spPr>
          <a:xfrm>
            <a:off x="2651760" y="4206240"/>
            <a:ext cx="603504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i="1" dirty="0">
                <a:solidFill>
                  <a:schemeClr val="tx2"/>
                </a:solidFill>
              </a:rPr>
              <a:t>Change the game without stopping the game.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321040" y="4754880"/>
            <a:ext cx="365760" cy="2286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900">
                <a:solidFill>
                  <a:srgbClr val="BDB3A2"/>
                </a:solidFill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Beetle Deep Garden">
  <a:themeElements>
    <a:clrScheme name="Beetle Deep Garden">
      <a:dk1>
        <a:srgbClr val="EDE7DB"/>
      </a:dk1>
      <a:lt1>
        <a:srgbClr val="0E3534"/>
      </a:lt1>
      <a:dk2>
        <a:srgbClr val="BDB3A2"/>
      </a:dk2>
      <a:lt2>
        <a:srgbClr val="1B4A48"/>
      </a:lt2>
      <a:accent1>
        <a:srgbClr val="E8A33D"/>
      </a:accent1>
      <a:accent2>
        <a:srgbClr val="D8402B"/>
      </a:accent2>
      <a:accent3>
        <a:srgbClr val="7FB5B1"/>
      </a:accent3>
      <a:accent4>
        <a:srgbClr val="2E6B68"/>
      </a:accent4>
      <a:accent5>
        <a:srgbClr val="3F8582"/>
      </a:accent5>
      <a:accent6>
        <a:srgbClr val="C9A15A"/>
      </a:accent6>
      <a:hlink>
        <a:srgbClr val="E8A33D"/>
      </a:hlink>
      <a:folHlink>
        <a:srgbClr val="7FB5B1"/>
      </a:folHlink>
    </a:clrScheme>
    <a:fontScheme name="Beetle Deep Garden">
      <a:majorFont>
        <a:latin typeface="Arial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rial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Beetle pitch</dc:title>
  <dc:subject>PptxGenJS Presentation</dc:subject>
  <dc:creator>Beetle team</dc:creator>
  <cp:lastModifiedBy>Beetle team</cp:lastModifiedBy>
  <cp:revision>1</cp:revision>
  <dcterms:created xsi:type="dcterms:W3CDTF">2026-10-03T18:39:44Z</dcterms:created>
  <dcterms:modified xsi:type="dcterms:W3CDTF">2026-10-03T18:39:44Z</dcterms:modified>
</cp:coreProperties>
</file>