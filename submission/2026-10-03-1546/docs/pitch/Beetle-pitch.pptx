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etle pitch" id="{1a24690c-802f-7b5c-bc4e-7519a5cbf1b5}">
          <p14:sldIdLst>
            <p14:sldId id="256"/>
            <p14:sldId id="257"/>
            <p14:sldId id="258"/>
            <p14:sldId id="259"/>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user is a technical designer at a small studio. Each stop-edit-rebuild-regather cycle throws away the live playtest. Beetle's promise is to change the game without stopping the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steps: any request, mapped to the closest mode and biome and named; the world starts where the players are (the brief builds the zone around the spawn); it grows as they move, every extension a small patch validated before it lands; then keep changing it while they play. Read two rows of the mode table, not all five. Say plainly: the library is bounded and growing; the model never writes rules, it picks from the engine. Streaming is measured: in the acceptance runs (contended GPU) 4 of 6 automatic extensions committed in 10.6 to 65.9 s, and one quiet-GPU run committed in 9.5 s (slide 5). The spawn-zone brief time is not measured. Mode briefs measured 14:25 to 14:42 CDT, 18 of 18 sensible modes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recording here. Captions follow docs/STORYBOARD.md; the mode caption is set to whichever agent mode was green at recording time. Rehearsal timings: brief 14 s on a quiet GPU, edits 2 to 14 s, DISCONNECTED_GOAL refused and repaired in 3.0 s. Shots that cannot be produced honestly are cut, not faked. Optional shot 'the world grows' (docs/STORYBOARD.md 6c): a player walks toward an edge, 'Beetle is building ahead' appears and the new island assembles; measured 10.6 to 65.9 s request to commit on a contended GPU (docs/ACCEPTANCE.md) and 9.5 s once on a quiet GPU (docs/RESULTS.md), not yet rehearsed on camera, so it is shown only from a real take, never compressed without a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director or the frontier trigger, OpenClaw agent, the mapping step (closest mode and biome, parameters from the brief, named in the summary), Beetle tools, server validator and commit, players. Streaming uses the same path: when a player walks within 4 m of an island rim with no crossing beyond, Beetle opens an extension request itself, the agent proposes add_island (1 to 2 islands, each bridged from an anchor), and the same validator decides; growth stops at 24 islands and 48 bridges, and the director can switch it off. Structured output means only a listed mode, a listed biome and in-range parameters can come out of the model. Only the server decides validity; the model only proposes 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cards. Say out loud: the 10 s brief target is not met; a valid brief takes 24 to 28 s warm on a quiet GPU, 14 s was seen once after normalization, 33.4 s through OpenClaw. Edits commit in 2 to 14 s, and 8.0 s with two players moving and nothing reset. Game modes from one prompt: the mode was sensible on 18 of 18 briefs and the exact mode was missed twice; committed mode briefs took 13 to 44 s and the failures were geometry, never the mode rule; mode and biome edits on a running world took 3.0 s. Phones and the offline proof are covered by tests or procedure but not yet measured live. Streaming: the frontier trigger opens the request within 0.3 s; the model is the slow part. Acceptance runs on a contended GPU: 4 of 6 extensions committed in 10.6 to 65.9 s, one failed schema validation, one hit the 80 s model timeout, and each failure left the world untouched; run 3 passed 21 of 21 with player, relic and score kept and the player walking onto both new islands. Quiet GPU, once: 9.5 s. No spawn-zone build time is quoted. The 27b was never benchmarked.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hypothesis, say plainly what we do not claim, and name the one comparison that would test it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0E353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6766560" cy="68580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r>
              <a:rPr lang="en-US" sz="2600" b="1" dirty="0">
                <a:solidFill>
                  <a:schemeClr val="tx1"/>
                </a:solidFill>
              </a:rPr>
              <a:t>Slide title</a:t>
            </a:r>
            <a:endParaRPr lang="en-US" sz="2600" dirty="0"/>
          </a:p>
        </p:txBody>
      </p:sp>
      <p:sp>
        <p:nvSpPr>
          <p:cNvPr id="3" name="footer"/>
          <p:cNvSpPr txBox="1"/>
          <p:nvPr/>
        </p:nvSpPr>
        <p:spPr>
          <a:xfrm>
            <a:off x="457200" y="4754880"/>
            <a:ext cx="6400800" cy="228600"/>
          </a:xfrm>
          <a:prstGeom prst="rect">
            <a:avLst/>
          </a:prstGeom>
          <a:noFill/>
          <a:ln/>
        </p:spPr>
        <p:txBody>
          <a:bodyPr wrap="square" lIns="0" tIns="0" rIns="0" bIns="0" rtlCol="0" anchor="ctr"/>
          <a:lstStyle/>
          <a:p>
            <a:pPr indent="0" marL="0">
              <a:buNone/>
            </a:pPr>
            <a:r>
              <a:rPr lang="en-US" sz="900" dirty="0">
                <a:solidFill>
                  <a:schemeClr val="tx2"/>
                </a:solidFill>
              </a:rPr>
              <a:t>Beetle. Local-first prototyping teammate for small game studios.</a:t>
            </a:r>
            <a:endParaRPr lang="en-US" sz="9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BDB3A2"/>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BDB3A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6766560" cy="685800"/>
          </a:xfrm>
          <a:prstGeom prst="rect">
            <a:avLst/>
          </a:prstGeom>
          <a:noFill/>
          <a:ln/>
        </p:spPr>
        <p:txBody>
          <a:bodyPr wrap="square" lIns="0" tIns="0" rIns="0" bIns="0" rtlCol="0" anchor="ctr"/>
          <a:lstStyle/>
          <a:p>
            <a:pPr algn="l" indent="0" marL="0">
              <a:buNone/>
            </a:pPr>
            <a:r>
              <a:rPr lang="en-US" sz="2600" b="1" dirty="0">
                <a:solidFill>
                  <a:schemeClr val="tx1"/>
                </a:solidFill>
              </a:rPr>
              <a:t>Every edit stops the playtest</a:t>
            </a:r>
            <a:endParaRPr lang="en-US" sz="2600" dirty="0"/>
          </a:p>
        </p:txBody>
      </p:sp>
      <p:sp>
        <p:nvSpPr>
          <p:cNvPr id="3" name="beetle leg"/>
          <p:cNvSpPr/>
          <p:nvPr/>
        </p:nvSpPr>
        <p:spPr>
          <a:xfrm flipH="1" flipV="1">
            <a:off x="7339395" y="493118"/>
            <a:ext cx="84491" cy="46086"/>
          </a:xfrm>
          <a:prstGeom prst="line">
            <a:avLst/>
          </a:prstGeom>
          <a:noFill/>
          <a:ln w="15875">
            <a:solidFill>
              <a:schemeClr val="tx1"/>
            </a:solidFill>
            <a:prstDash val="solid"/>
          </a:ln>
        </p:spPr>
      </p:sp>
      <p:sp>
        <p:nvSpPr>
          <p:cNvPr id="4" name="beetle leg"/>
          <p:cNvSpPr/>
          <p:nvPr/>
        </p:nvSpPr>
        <p:spPr>
          <a:xfrm flipH="1">
            <a:off x="7307903" y="622158"/>
            <a:ext cx="92172" cy="914"/>
          </a:xfrm>
          <a:prstGeom prst="line">
            <a:avLst/>
          </a:prstGeom>
          <a:noFill/>
          <a:ln w="15875">
            <a:solidFill>
              <a:schemeClr val="tx1"/>
            </a:solidFill>
            <a:prstDash val="solid"/>
          </a:ln>
        </p:spPr>
      </p:sp>
      <p:sp>
        <p:nvSpPr>
          <p:cNvPr id="5" name="beetle leg"/>
          <p:cNvSpPr/>
          <p:nvPr/>
        </p:nvSpPr>
        <p:spPr>
          <a:xfrm flipH="1">
            <a:off x="7332252" y="705112"/>
            <a:ext cx="84491" cy="46086"/>
          </a:xfrm>
          <a:prstGeom prst="line">
            <a:avLst/>
          </a:prstGeom>
          <a:noFill/>
          <a:ln w="15875">
            <a:solidFill>
              <a:schemeClr val="tx1"/>
            </a:solidFill>
            <a:prstDash val="solid"/>
          </a:ln>
        </p:spPr>
      </p:sp>
      <p:sp>
        <p:nvSpPr>
          <p:cNvPr id="6" name="beetle leg"/>
          <p:cNvSpPr/>
          <p:nvPr/>
        </p:nvSpPr>
        <p:spPr>
          <a:xfrm flipV="1">
            <a:off x="7590562" y="493118"/>
            <a:ext cx="84491" cy="46086"/>
          </a:xfrm>
          <a:prstGeom prst="line">
            <a:avLst/>
          </a:prstGeom>
          <a:noFill/>
          <a:ln w="15875">
            <a:solidFill>
              <a:schemeClr val="tx1"/>
            </a:solidFill>
            <a:prstDash val="solid"/>
          </a:ln>
        </p:spPr>
      </p:sp>
      <p:sp>
        <p:nvSpPr>
          <p:cNvPr id="7" name="beetle leg"/>
          <p:cNvSpPr/>
          <p:nvPr/>
        </p:nvSpPr>
        <p:spPr>
          <a:xfrm>
            <a:off x="7614373" y="622158"/>
            <a:ext cx="92172" cy="914"/>
          </a:xfrm>
          <a:prstGeom prst="line">
            <a:avLst/>
          </a:prstGeom>
          <a:noFill/>
          <a:ln w="15875">
            <a:solidFill>
              <a:schemeClr val="tx1"/>
            </a:solidFill>
            <a:prstDash val="solid"/>
          </a:ln>
        </p:spPr>
      </p:sp>
      <p:sp>
        <p:nvSpPr>
          <p:cNvPr id="8" name="beetle leg"/>
          <p:cNvSpPr/>
          <p:nvPr/>
        </p:nvSpPr>
        <p:spPr>
          <a:xfrm>
            <a:off x="7597706" y="705112"/>
            <a:ext cx="84491" cy="46086"/>
          </a:xfrm>
          <a:prstGeom prst="line">
            <a:avLst/>
          </a:prstGeom>
          <a:noFill/>
          <a:ln w="15875">
            <a:solidFill>
              <a:schemeClr val="tx1"/>
            </a:solidFill>
            <a:prstDash val="solid"/>
          </a:ln>
        </p:spPr>
      </p:sp>
      <p:sp>
        <p:nvSpPr>
          <p:cNvPr id="9" name="beetle antenna"/>
          <p:cNvSpPr/>
          <p:nvPr/>
        </p:nvSpPr>
        <p:spPr>
          <a:xfrm flipV="1">
            <a:off x="7395850" y="384048"/>
            <a:ext cx="61448" cy="46086"/>
          </a:xfrm>
          <a:prstGeom prst="line">
            <a:avLst/>
          </a:prstGeom>
          <a:noFill/>
          <a:ln w="15875">
            <a:solidFill>
              <a:schemeClr val="tx1"/>
            </a:solidFill>
            <a:prstDash val="solid"/>
          </a:ln>
        </p:spPr>
      </p:sp>
      <p:sp>
        <p:nvSpPr>
          <p:cNvPr id="10" name="beetle antenna"/>
          <p:cNvSpPr/>
          <p:nvPr/>
        </p:nvSpPr>
        <p:spPr>
          <a:xfrm>
            <a:off x="7557150" y="384048"/>
            <a:ext cx="61448" cy="46086"/>
          </a:xfrm>
          <a:prstGeom prst="line">
            <a:avLst/>
          </a:prstGeom>
          <a:noFill/>
          <a:ln w="15875">
            <a:solidFill>
              <a:schemeClr val="tx1"/>
            </a:solidFill>
            <a:prstDash val="solid"/>
          </a:ln>
        </p:spPr>
      </p:sp>
      <p:sp>
        <p:nvSpPr>
          <p:cNvPr id="11" name="beetle head"/>
          <p:cNvSpPr/>
          <p:nvPr/>
        </p:nvSpPr>
        <p:spPr>
          <a:xfrm>
            <a:off x="7449617" y="414772"/>
            <a:ext cx="115214" cy="92172"/>
          </a:xfrm>
          <a:prstGeom prst="ellipse">
            <a:avLst/>
          </a:prstGeom>
          <a:solidFill>
            <a:schemeClr val="accent1"/>
          </a:solidFill>
          <a:ln w="6350">
            <a:solidFill>
              <a:schemeClr val="accent1"/>
            </a:solidFill>
            <a:prstDash val="solid"/>
          </a:ln>
        </p:spPr>
      </p:sp>
      <p:sp>
        <p:nvSpPr>
          <p:cNvPr id="12" name="beetle body"/>
          <p:cNvSpPr/>
          <p:nvPr/>
        </p:nvSpPr>
        <p:spPr>
          <a:xfrm>
            <a:off x="7388169" y="483900"/>
            <a:ext cx="238110" cy="276515"/>
          </a:xfrm>
          <a:prstGeom prst="ellipse">
            <a:avLst/>
          </a:prstGeom>
          <a:solidFill>
            <a:schemeClr val="accent1"/>
          </a:solidFill>
          <a:ln w="6350">
            <a:solidFill>
              <a:schemeClr val="accent1"/>
            </a:solidFill>
            <a:prstDash val="solid"/>
          </a:ln>
        </p:spPr>
      </p:sp>
      <p:sp>
        <p:nvSpPr>
          <p:cNvPr id="13" name="beetle split"/>
          <p:cNvSpPr/>
          <p:nvPr/>
        </p:nvSpPr>
        <p:spPr>
          <a:xfrm>
            <a:off x="7507224" y="517082"/>
            <a:ext cx="914" cy="221212"/>
          </a:xfrm>
          <a:prstGeom prst="line">
            <a:avLst/>
          </a:prstGeom>
          <a:noFill/>
          <a:ln w="19050">
            <a:solidFill>
              <a:schemeClr val="bg1"/>
            </a:solidFill>
            <a:prstDash val="solid"/>
          </a:ln>
        </p:spPr>
      </p:sp>
      <p:sp>
        <p:nvSpPr>
          <p:cNvPr id="14" name="wordmark"/>
          <p:cNvSpPr txBox="1"/>
          <p:nvPr/>
        </p:nvSpPr>
        <p:spPr>
          <a:xfrm>
            <a:off x="7772400" y="384048"/>
            <a:ext cx="1591056" cy="384048"/>
          </a:xfrm>
          <a:prstGeom prst="rect">
            <a:avLst/>
          </a:prstGeom>
          <a:noFill/>
          <a:ln/>
        </p:spPr>
        <p:txBody>
          <a:bodyPr wrap="square" lIns="0" tIns="0" rIns="0" bIns="0" rtlCol="0" anchor="ctr"/>
          <a:lstStyle/>
          <a:p>
            <a:pPr indent="0" marL="0">
              <a:buNone/>
            </a:pPr>
            <a:r>
              <a:rPr lang="en-US" sz="1600" b="1" spc="400" kern="0" dirty="0">
                <a:solidFill>
                  <a:schemeClr val="tx1"/>
                </a:solidFill>
              </a:rPr>
              <a:t>BEETLE</a:t>
            </a:r>
            <a:endParaRPr lang="en-US" sz="1600" dirty="0"/>
          </a:p>
        </p:txBody>
      </p:sp>
      <p:sp>
        <p:nvSpPr>
          <p:cNvPr id="15" name="label THE USER"/>
          <p:cNvSpPr txBox="1"/>
          <p:nvPr/>
        </p:nvSpPr>
        <p:spPr>
          <a:xfrm>
            <a:off x="457200" y="1188720"/>
            <a:ext cx="402336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THE USER</a:t>
            </a:r>
            <a:endParaRPr lang="en-US" sz="1000" dirty="0"/>
          </a:p>
        </p:txBody>
      </p:sp>
      <p:sp>
        <p:nvSpPr>
          <p:cNvPr id="16" name="body text"/>
          <p:cNvSpPr txBox="1"/>
          <p:nvPr/>
        </p:nvSpPr>
        <p:spPr>
          <a:xfrm>
            <a:off x="457200" y="1444752"/>
            <a:ext cx="4023360" cy="685800"/>
          </a:xfrm>
          <a:prstGeom prst="rect">
            <a:avLst/>
          </a:prstGeom>
          <a:noFill/>
          <a:ln/>
        </p:spPr>
        <p:txBody>
          <a:bodyPr wrap="square" lIns="0" tIns="0" rIns="0" bIns="0" rtlCol="0" anchor="t"/>
          <a:lstStyle/>
          <a:p>
            <a:pPr indent="0" marL="0">
              <a:buNone/>
            </a:pPr>
            <a:r>
              <a:rPr lang="en-US" sz="1300" dirty="0">
                <a:solidFill>
                  <a:schemeClr val="tx1"/>
                </a:solidFill>
              </a:rPr>
              <a:t>Technical designers at small studios iterate on playable prototypes with real playtesters in the room.</a:t>
            </a:r>
            <a:endParaRPr lang="en-US" sz="1300" dirty="0"/>
          </a:p>
        </p:txBody>
      </p:sp>
      <p:sp>
        <p:nvSpPr>
          <p:cNvPr id="17" name="label THE COST"/>
          <p:cNvSpPr txBox="1"/>
          <p:nvPr/>
        </p:nvSpPr>
        <p:spPr>
          <a:xfrm>
            <a:off x="457200" y="2240280"/>
            <a:ext cx="402336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THE COST</a:t>
            </a:r>
            <a:endParaRPr lang="en-US" sz="1000" dirty="0"/>
          </a:p>
        </p:txBody>
      </p:sp>
      <p:sp>
        <p:nvSpPr>
          <p:cNvPr id="18" name="body text"/>
          <p:cNvSpPr txBox="1"/>
          <p:nvPr/>
        </p:nvSpPr>
        <p:spPr>
          <a:xfrm>
            <a:off x="457200" y="2496312"/>
            <a:ext cx="4023360" cy="640080"/>
          </a:xfrm>
          <a:prstGeom prst="rect">
            <a:avLst/>
          </a:prstGeom>
          <a:noFill/>
          <a:ln/>
        </p:spPr>
        <p:txBody>
          <a:bodyPr wrap="square" lIns="0" tIns="0" rIns="0" bIns="0" rtlCol="0" anchor="t"/>
          <a:lstStyle/>
          <a:p>
            <a:pPr indent="0" marL="0">
              <a:buNone/>
            </a:pPr>
            <a:r>
              <a:rPr lang="en-US" sz="1300" dirty="0">
                <a:solidFill>
                  <a:schemeClr val="tx1"/>
                </a:solidFill>
              </a:rPr>
              <a:t>Every stop costs the thing they are trying to observe: how people actually play.</a:t>
            </a:r>
            <a:endParaRPr lang="en-US" sz="1300" dirty="0"/>
          </a:p>
        </p:txBody>
      </p:sp>
      <p:sp>
        <p:nvSpPr>
          <p:cNvPr id="19" name="promise card"/>
          <p:cNvSpPr/>
          <p:nvPr/>
        </p:nvSpPr>
        <p:spPr>
          <a:xfrm>
            <a:off x="457200" y="3337560"/>
            <a:ext cx="4023360" cy="1051560"/>
          </a:xfrm>
          <a:prstGeom prst="roundRect">
            <a:avLst>
              <a:gd name="adj" fmla="val 6957"/>
            </a:avLst>
          </a:prstGeom>
          <a:solidFill>
            <a:schemeClr val="accent1"/>
          </a:solidFill>
          <a:ln w="6350">
            <a:solidFill>
              <a:schemeClr val="accent1"/>
            </a:solidFill>
            <a:prstDash val="solid"/>
          </a:ln>
        </p:spPr>
      </p:sp>
      <p:sp>
        <p:nvSpPr>
          <p:cNvPr id="20" name="promise text"/>
          <p:cNvSpPr txBox="1"/>
          <p:nvPr/>
        </p:nvSpPr>
        <p:spPr>
          <a:xfrm>
            <a:off x="685800" y="3456432"/>
            <a:ext cx="3611880" cy="822960"/>
          </a:xfrm>
          <a:prstGeom prst="rect">
            <a:avLst/>
          </a:prstGeom>
          <a:noFill/>
          <a:ln/>
        </p:spPr>
        <p:txBody>
          <a:bodyPr wrap="square" lIns="0" tIns="0" rIns="0" bIns="0" rtlCol="0" anchor="ctr"/>
          <a:lstStyle/>
          <a:p>
            <a:pPr indent="0" marL="0">
              <a:spcAft>
                <a:spcPts val="400"/>
              </a:spcAft>
              <a:buNone/>
            </a:pPr>
            <a:r>
              <a:rPr lang="en-US" sz="1100" b="1" spc="200" kern="0" dirty="0">
                <a:solidFill>
                  <a:schemeClr val="bg1"/>
                </a:solidFill>
              </a:rPr>
              <a:t>Beetle's promise</a:t>
            </a:r>
            <a:endParaRPr lang="en-US" sz="1100" dirty="0"/>
          </a:p>
          <a:p>
            <a:pPr indent="0" marL="0">
              <a:buNone/>
            </a:pPr>
            <a:r>
              <a:rPr lang="en-US" sz="1800" b="1" dirty="0">
                <a:solidFill>
                  <a:schemeClr val="bg1"/>
                </a:solidFill>
              </a:rPr>
              <a:t>Change the game without stopping the game.</a:t>
            </a:r>
            <a:endParaRPr lang="en-US" sz="1100" dirty="0"/>
          </a:p>
        </p:txBody>
      </p:sp>
      <p:sp>
        <p:nvSpPr>
          <p:cNvPr id="21" name="label TODAY&amp;apos;S LOOP"/>
          <p:cNvSpPr txBox="1"/>
          <p:nvPr/>
        </p:nvSpPr>
        <p:spPr>
          <a:xfrm>
            <a:off x="5029200" y="1188720"/>
            <a:ext cx="36576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TODAY'S LOOP</a:t>
            </a:r>
            <a:endParaRPr lang="en-US" sz="1000" dirty="0"/>
          </a:p>
        </p:txBody>
      </p:sp>
      <p:sp>
        <p:nvSpPr>
          <p:cNvPr id="22" name="loop chip Stop the session"/>
          <p:cNvSpPr/>
          <p:nvPr/>
        </p:nvSpPr>
        <p:spPr>
          <a:xfrm>
            <a:off x="5029200" y="1508760"/>
            <a:ext cx="1508760" cy="566928"/>
          </a:xfrm>
          <a:prstGeom prst="roundRect">
            <a:avLst>
              <a:gd name="adj" fmla="val 12903"/>
            </a:avLst>
          </a:prstGeom>
          <a:solidFill>
            <a:schemeClr val="accent2"/>
          </a:solidFill>
          <a:ln w="9525">
            <a:solidFill>
              <a:schemeClr val="accent2"/>
            </a:solidFill>
            <a:prstDash val="solid"/>
          </a:ln>
        </p:spPr>
      </p:sp>
      <p:sp>
        <p:nvSpPr>
          <p:cNvPr id="23" name="loop chip text Stop the session"/>
          <p:cNvSpPr txBox="1"/>
          <p:nvPr/>
        </p:nvSpPr>
        <p:spPr>
          <a:xfrm>
            <a:off x="5029200" y="1508760"/>
            <a:ext cx="1508760" cy="566928"/>
          </a:xfrm>
          <a:prstGeom prst="rect">
            <a:avLst/>
          </a:prstGeom>
          <a:noFill/>
          <a:ln/>
        </p:spPr>
        <p:txBody>
          <a:bodyPr wrap="square" lIns="635" tIns="635" rIns="635" bIns="635" rtlCol="0" anchor="ctr"/>
          <a:lstStyle/>
          <a:p>
            <a:pPr algn="ctr" indent="0" marL="0">
              <a:buNone/>
            </a:pPr>
            <a:r>
              <a:rPr lang="en-US" sz="1200" b="1" dirty="0">
                <a:solidFill>
                  <a:schemeClr val="tx1"/>
                </a:solidFill>
              </a:rPr>
              <a:t>Stop the session</a:t>
            </a:r>
            <a:endParaRPr lang="en-US" sz="1200" dirty="0"/>
          </a:p>
        </p:txBody>
      </p:sp>
      <p:sp>
        <p:nvSpPr>
          <p:cNvPr id="24" name="loop chip Edit the prototype"/>
          <p:cNvSpPr/>
          <p:nvPr/>
        </p:nvSpPr>
        <p:spPr>
          <a:xfrm>
            <a:off x="7315200" y="1508760"/>
            <a:ext cx="1508760" cy="566928"/>
          </a:xfrm>
          <a:prstGeom prst="roundRect">
            <a:avLst>
              <a:gd name="adj" fmla="val 12903"/>
            </a:avLst>
          </a:prstGeom>
          <a:solidFill>
            <a:schemeClr val="bg2"/>
          </a:solidFill>
          <a:ln w="9525">
            <a:solidFill>
              <a:schemeClr val="accent4"/>
            </a:solidFill>
            <a:prstDash val="solid"/>
          </a:ln>
        </p:spPr>
      </p:sp>
      <p:sp>
        <p:nvSpPr>
          <p:cNvPr id="25" name="loop chip text Edit the prototype"/>
          <p:cNvSpPr txBox="1"/>
          <p:nvPr/>
        </p:nvSpPr>
        <p:spPr>
          <a:xfrm>
            <a:off x="7315200" y="1508760"/>
            <a:ext cx="1508760" cy="566928"/>
          </a:xfrm>
          <a:prstGeom prst="rect">
            <a:avLst/>
          </a:prstGeom>
          <a:noFill/>
          <a:ln/>
        </p:spPr>
        <p:txBody>
          <a:bodyPr wrap="square" lIns="635" tIns="635" rIns="635" bIns="635" rtlCol="0" anchor="ctr"/>
          <a:lstStyle/>
          <a:p>
            <a:pPr algn="ctr" indent="0" marL="0">
              <a:buNone/>
            </a:pPr>
            <a:r>
              <a:rPr lang="en-US" sz="1200" dirty="0">
                <a:solidFill>
                  <a:schemeClr val="tx1"/>
                </a:solidFill>
              </a:rPr>
              <a:t>Edit the prototype</a:t>
            </a:r>
            <a:endParaRPr lang="en-US" sz="1200" dirty="0"/>
          </a:p>
        </p:txBody>
      </p:sp>
      <p:sp>
        <p:nvSpPr>
          <p:cNvPr id="26" name="loop chip Rebuild"/>
          <p:cNvSpPr/>
          <p:nvPr/>
        </p:nvSpPr>
        <p:spPr>
          <a:xfrm>
            <a:off x="7315200" y="2990088"/>
            <a:ext cx="1508760" cy="566928"/>
          </a:xfrm>
          <a:prstGeom prst="roundRect">
            <a:avLst>
              <a:gd name="adj" fmla="val 12903"/>
            </a:avLst>
          </a:prstGeom>
          <a:solidFill>
            <a:schemeClr val="bg2"/>
          </a:solidFill>
          <a:ln w="9525">
            <a:solidFill>
              <a:schemeClr val="accent4"/>
            </a:solidFill>
            <a:prstDash val="solid"/>
          </a:ln>
        </p:spPr>
      </p:sp>
      <p:sp>
        <p:nvSpPr>
          <p:cNvPr id="27" name="loop chip text Rebuild"/>
          <p:cNvSpPr txBox="1"/>
          <p:nvPr/>
        </p:nvSpPr>
        <p:spPr>
          <a:xfrm>
            <a:off x="7315200" y="2990088"/>
            <a:ext cx="1508760" cy="566928"/>
          </a:xfrm>
          <a:prstGeom prst="rect">
            <a:avLst/>
          </a:prstGeom>
          <a:noFill/>
          <a:ln/>
        </p:spPr>
        <p:txBody>
          <a:bodyPr wrap="square" lIns="635" tIns="635" rIns="635" bIns="635" rtlCol="0" anchor="ctr"/>
          <a:lstStyle/>
          <a:p>
            <a:pPr algn="ctr" indent="0" marL="0">
              <a:buNone/>
            </a:pPr>
            <a:r>
              <a:rPr lang="en-US" sz="1200" dirty="0">
                <a:solidFill>
                  <a:schemeClr val="tx1"/>
                </a:solidFill>
              </a:rPr>
              <a:t>Rebuild</a:t>
            </a:r>
            <a:endParaRPr lang="en-US" sz="1200" dirty="0"/>
          </a:p>
        </p:txBody>
      </p:sp>
      <p:sp>
        <p:nvSpPr>
          <p:cNvPr id="28" name="loop chip Re-gather playtesters"/>
          <p:cNvSpPr/>
          <p:nvPr/>
        </p:nvSpPr>
        <p:spPr>
          <a:xfrm>
            <a:off x="5029200" y="2990088"/>
            <a:ext cx="1508760" cy="566928"/>
          </a:xfrm>
          <a:prstGeom prst="roundRect">
            <a:avLst>
              <a:gd name="adj" fmla="val 12903"/>
            </a:avLst>
          </a:prstGeom>
          <a:solidFill>
            <a:schemeClr val="bg2"/>
          </a:solidFill>
          <a:ln w="9525">
            <a:solidFill>
              <a:schemeClr val="accent4"/>
            </a:solidFill>
            <a:prstDash val="solid"/>
          </a:ln>
        </p:spPr>
      </p:sp>
      <p:sp>
        <p:nvSpPr>
          <p:cNvPr id="29" name="loop chip text Re-gather playtesters"/>
          <p:cNvSpPr txBox="1"/>
          <p:nvPr/>
        </p:nvSpPr>
        <p:spPr>
          <a:xfrm>
            <a:off x="5029200" y="2990088"/>
            <a:ext cx="1508760" cy="566928"/>
          </a:xfrm>
          <a:prstGeom prst="rect">
            <a:avLst/>
          </a:prstGeom>
          <a:noFill/>
          <a:ln/>
        </p:spPr>
        <p:txBody>
          <a:bodyPr wrap="square" lIns="635" tIns="635" rIns="635" bIns="635" rtlCol="0" anchor="ctr"/>
          <a:lstStyle/>
          <a:p>
            <a:pPr algn="ctr" indent="0" marL="0">
              <a:buNone/>
            </a:pPr>
            <a:r>
              <a:rPr lang="en-US" sz="1200" dirty="0">
                <a:solidFill>
                  <a:schemeClr val="tx1"/>
                </a:solidFill>
              </a:rPr>
              <a:t>Re-gather playtesters</a:t>
            </a:r>
            <a:endParaRPr lang="en-US" sz="1200" dirty="0"/>
          </a:p>
        </p:txBody>
      </p:sp>
      <p:sp>
        <p:nvSpPr>
          <p:cNvPr id="30" name="arrow"/>
          <p:cNvSpPr/>
          <p:nvPr/>
        </p:nvSpPr>
        <p:spPr>
          <a:xfrm>
            <a:off x="6611112" y="1792224"/>
            <a:ext cx="630936" cy="914"/>
          </a:xfrm>
          <a:prstGeom prst="line">
            <a:avLst/>
          </a:prstGeom>
          <a:noFill/>
          <a:ln w="19050">
            <a:solidFill>
              <a:schemeClr val="accent3"/>
            </a:solidFill>
            <a:prstDash val="solid"/>
            <a:tailEnd type="triangle"/>
          </a:ln>
        </p:spPr>
      </p:sp>
      <p:sp>
        <p:nvSpPr>
          <p:cNvPr id="31" name="arrow"/>
          <p:cNvSpPr/>
          <p:nvPr/>
        </p:nvSpPr>
        <p:spPr>
          <a:xfrm>
            <a:off x="8069580" y="2148840"/>
            <a:ext cx="914" cy="768096"/>
          </a:xfrm>
          <a:prstGeom prst="line">
            <a:avLst/>
          </a:prstGeom>
          <a:noFill/>
          <a:ln w="19050">
            <a:solidFill>
              <a:schemeClr val="accent3"/>
            </a:solidFill>
            <a:prstDash val="solid"/>
            <a:tailEnd type="triangle"/>
          </a:ln>
        </p:spPr>
      </p:sp>
      <p:sp>
        <p:nvSpPr>
          <p:cNvPr id="32" name="arrow"/>
          <p:cNvSpPr/>
          <p:nvPr/>
        </p:nvSpPr>
        <p:spPr>
          <a:xfrm flipH="1">
            <a:off x="6611112" y="3273552"/>
            <a:ext cx="630936" cy="914"/>
          </a:xfrm>
          <a:prstGeom prst="line">
            <a:avLst/>
          </a:prstGeom>
          <a:noFill/>
          <a:ln w="19050">
            <a:solidFill>
              <a:schemeClr val="accent3"/>
            </a:solidFill>
            <a:prstDash val="solid"/>
            <a:tailEnd type="triangle"/>
          </a:ln>
        </p:spPr>
      </p:sp>
      <p:sp>
        <p:nvSpPr>
          <p:cNvPr id="33" name="arrow"/>
          <p:cNvSpPr/>
          <p:nvPr/>
        </p:nvSpPr>
        <p:spPr>
          <a:xfrm flipV="1">
            <a:off x="5783580" y="2148840"/>
            <a:ext cx="914" cy="768096"/>
          </a:xfrm>
          <a:prstGeom prst="line">
            <a:avLst/>
          </a:prstGeom>
          <a:noFill/>
          <a:ln w="19050">
            <a:solidFill>
              <a:schemeClr val="accent3"/>
            </a:solidFill>
            <a:prstDash val="solid"/>
            <a:tailEnd type="triangle"/>
          </a:ln>
        </p:spPr>
      </p:sp>
      <p:sp>
        <p:nvSpPr>
          <p:cNvPr id="34" name="loop caption"/>
          <p:cNvSpPr txBox="1"/>
          <p:nvPr/>
        </p:nvSpPr>
        <p:spPr>
          <a:xfrm>
            <a:off x="5029200" y="3703320"/>
            <a:ext cx="3657600" cy="685800"/>
          </a:xfrm>
          <a:prstGeom prst="rect">
            <a:avLst/>
          </a:prstGeom>
          <a:noFill/>
          <a:ln/>
        </p:spPr>
        <p:txBody>
          <a:bodyPr wrap="square" lIns="0" tIns="0" rIns="0" bIns="0" rtlCol="0" anchor="ctr"/>
          <a:lstStyle/>
          <a:p>
            <a:pPr indent="0" marL="0">
              <a:buNone/>
            </a:pPr>
            <a:r>
              <a:rPr lang="en-US" sz="1100" i="1" dirty="0">
                <a:solidFill>
                  <a:schemeClr val="tx2"/>
                </a:solidFill>
              </a:rPr>
              <a:t>Each turn of the loop loses the live playtest you were trying to watch.</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BDB3A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6766560" cy="685800"/>
          </a:xfrm>
          <a:prstGeom prst="rect">
            <a:avLst/>
          </a:prstGeom>
          <a:noFill/>
          <a:ln/>
        </p:spPr>
        <p:txBody>
          <a:bodyPr wrap="square" lIns="0" tIns="0" rIns="0" bIns="0" rtlCol="0" anchor="ctr"/>
          <a:lstStyle/>
          <a:p>
            <a:pPr algn="l" indent="0" marL="0">
              <a:buNone/>
            </a:pPr>
            <a:r>
              <a:rPr lang="en-US" sz="2600" b="1" dirty="0">
                <a:solidFill>
                  <a:schemeClr val="tx1"/>
                </a:solidFill>
              </a:rPr>
              <a:t>Any game, one prompt, then keep changing it while they play</a:t>
            </a:r>
            <a:endParaRPr lang="en-US" sz="2600" dirty="0"/>
          </a:p>
        </p:txBody>
      </p:sp>
      <p:sp>
        <p:nvSpPr>
          <p:cNvPr id="3" name="beetle leg"/>
          <p:cNvSpPr/>
          <p:nvPr/>
        </p:nvSpPr>
        <p:spPr>
          <a:xfrm flipH="1" flipV="1">
            <a:off x="7339395" y="493118"/>
            <a:ext cx="84491" cy="46086"/>
          </a:xfrm>
          <a:prstGeom prst="line">
            <a:avLst/>
          </a:prstGeom>
          <a:noFill/>
          <a:ln w="15875">
            <a:solidFill>
              <a:schemeClr val="tx1"/>
            </a:solidFill>
            <a:prstDash val="solid"/>
          </a:ln>
        </p:spPr>
      </p:sp>
      <p:sp>
        <p:nvSpPr>
          <p:cNvPr id="4" name="beetle leg"/>
          <p:cNvSpPr/>
          <p:nvPr/>
        </p:nvSpPr>
        <p:spPr>
          <a:xfrm flipH="1">
            <a:off x="7307903" y="622158"/>
            <a:ext cx="92172" cy="914"/>
          </a:xfrm>
          <a:prstGeom prst="line">
            <a:avLst/>
          </a:prstGeom>
          <a:noFill/>
          <a:ln w="15875">
            <a:solidFill>
              <a:schemeClr val="tx1"/>
            </a:solidFill>
            <a:prstDash val="solid"/>
          </a:ln>
        </p:spPr>
      </p:sp>
      <p:sp>
        <p:nvSpPr>
          <p:cNvPr id="5" name="beetle leg"/>
          <p:cNvSpPr/>
          <p:nvPr/>
        </p:nvSpPr>
        <p:spPr>
          <a:xfrm flipH="1">
            <a:off x="7332252" y="705112"/>
            <a:ext cx="84491" cy="46086"/>
          </a:xfrm>
          <a:prstGeom prst="line">
            <a:avLst/>
          </a:prstGeom>
          <a:noFill/>
          <a:ln w="15875">
            <a:solidFill>
              <a:schemeClr val="tx1"/>
            </a:solidFill>
            <a:prstDash val="solid"/>
          </a:ln>
        </p:spPr>
      </p:sp>
      <p:sp>
        <p:nvSpPr>
          <p:cNvPr id="6" name="beetle leg"/>
          <p:cNvSpPr/>
          <p:nvPr/>
        </p:nvSpPr>
        <p:spPr>
          <a:xfrm flipV="1">
            <a:off x="7590562" y="493118"/>
            <a:ext cx="84491" cy="46086"/>
          </a:xfrm>
          <a:prstGeom prst="line">
            <a:avLst/>
          </a:prstGeom>
          <a:noFill/>
          <a:ln w="15875">
            <a:solidFill>
              <a:schemeClr val="tx1"/>
            </a:solidFill>
            <a:prstDash val="solid"/>
          </a:ln>
        </p:spPr>
      </p:sp>
      <p:sp>
        <p:nvSpPr>
          <p:cNvPr id="7" name="beetle leg"/>
          <p:cNvSpPr/>
          <p:nvPr/>
        </p:nvSpPr>
        <p:spPr>
          <a:xfrm>
            <a:off x="7614373" y="622158"/>
            <a:ext cx="92172" cy="914"/>
          </a:xfrm>
          <a:prstGeom prst="line">
            <a:avLst/>
          </a:prstGeom>
          <a:noFill/>
          <a:ln w="15875">
            <a:solidFill>
              <a:schemeClr val="tx1"/>
            </a:solidFill>
            <a:prstDash val="solid"/>
          </a:ln>
        </p:spPr>
      </p:sp>
      <p:sp>
        <p:nvSpPr>
          <p:cNvPr id="8" name="beetle leg"/>
          <p:cNvSpPr/>
          <p:nvPr/>
        </p:nvSpPr>
        <p:spPr>
          <a:xfrm>
            <a:off x="7597706" y="705112"/>
            <a:ext cx="84491" cy="46086"/>
          </a:xfrm>
          <a:prstGeom prst="line">
            <a:avLst/>
          </a:prstGeom>
          <a:noFill/>
          <a:ln w="15875">
            <a:solidFill>
              <a:schemeClr val="tx1"/>
            </a:solidFill>
            <a:prstDash val="solid"/>
          </a:ln>
        </p:spPr>
      </p:sp>
      <p:sp>
        <p:nvSpPr>
          <p:cNvPr id="9" name="beetle antenna"/>
          <p:cNvSpPr/>
          <p:nvPr/>
        </p:nvSpPr>
        <p:spPr>
          <a:xfrm flipV="1">
            <a:off x="7395850" y="384048"/>
            <a:ext cx="61448" cy="46086"/>
          </a:xfrm>
          <a:prstGeom prst="line">
            <a:avLst/>
          </a:prstGeom>
          <a:noFill/>
          <a:ln w="15875">
            <a:solidFill>
              <a:schemeClr val="tx1"/>
            </a:solidFill>
            <a:prstDash val="solid"/>
          </a:ln>
        </p:spPr>
      </p:sp>
      <p:sp>
        <p:nvSpPr>
          <p:cNvPr id="10" name="beetle antenna"/>
          <p:cNvSpPr/>
          <p:nvPr/>
        </p:nvSpPr>
        <p:spPr>
          <a:xfrm>
            <a:off x="7557150" y="384048"/>
            <a:ext cx="61448" cy="46086"/>
          </a:xfrm>
          <a:prstGeom prst="line">
            <a:avLst/>
          </a:prstGeom>
          <a:noFill/>
          <a:ln w="15875">
            <a:solidFill>
              <a:schemeClr val="tx1"/>
            </a:solidFill>
            <a:prstDash val="solid"/>
          </a:ln>
        </p:spPr>
      </p:sp>
      <p:sp>
        <p:nvSpPr>
          <p:cNvPr id="11" name="beetle head"/>
          <p:cNvSpPr/>
          <p:nvPr/>
        </p:nvSpPr>
        <p:spPr>
          <a:xfrm>
            <a:off x="7449617" y="414772"/>
            <a:ext cx="115214" cy="92172"/>
          </a:xfrm>
          <a:prstGeom prst="ellipse">
            <a:avLst/>
          </a:prstGeom>
          <a:solidFill>
            <a:schemeClr val="accent1"/>
          </a:solidFill>
          <a:ln w="6350">
            <a:solidFill>
              <a:schemeClr val="accent1"/>
            </a:solidFill>
            <a:prstDash val="solid"/>
          </a:ln>
        </p:spPr>
      </p:sp>
      <p:sp>
        <p:nvSpPr>
          <p:cNvPr id="12" name="beetle body"/>
          <p:cNvSpPr/>
          <p:nvPr/>
        </p:nvSpPr>
        <p:spPr>
          <a:xfrm>
            <a:off x="7388169" y="483900"/>
            <a:ext cx="238110" cy="276515"/>
          </a:xfrm>
          <a:prstGeom prst="ellipse">
            <a:avLst/>
          </a:prstGeom>
          <a:solidFill>
            <a:schemeClr val="accent1"/>
          </a:solidFill>
          <a:ln w="6350">
            <a:solidFill>
              <a:schemeClr val="accent1"/>
            </a:solidFill>
            <a:prstDash val="solid"/>
          </a:ln>
        </p:spPr>
      </p:sp>
      <p:sp>
        <p:nvSpPr>
          <p:cNvPr id="13" name="beetle split"/>
          <p:cNvSpPr/>
          <p:nvPr/>
        </p:nvSpPr>
        <p:spPr>
          <a:xfrm>
            <a:off x="7507224" y="517082"/>
            <a:ext cx="914" cy="221212"/>
          </a:xfrm>
          <a:prstGeom prst="line">
            <a:avLst/>
          </a:prstGeom>
          <a:noFill/>
          <a:ln w="19050">
            <a:solidFill>
              <a:schemeClr val="bg1"/>
            </a:solidFill>
            <a:prstDash val="solid"/>
          </a:ln>
        </p:spPr>
      </p:sp>
      <p:sp>
        <p:nvSpPr>
          <p:cNvPr id="14" name="wordmark"/>
          <p:cNvSpPr txBox="1"/>
          <p:nvPr/>
        </p:nvSpPr>
        <p:spPr>
          <a:xfrm>
            <a:off x="7772400" y="384048"/>
            <a:ext cx="1591056" cy="384048"/>
          </a:xfrm>
          <a:prstGeom prst="rect">
            <a:avLst/>
          </a:prstGeom>
          <a:noFill/>
          <a:ln/>
        </p:spPr>
        <p:txBody>
          <a:bodyPr wrap="square" lIns="0" tIns="0" rIns="0" bIns="0" rtlCol="0" anchor="ctr"/>
          <a:lstStyle/>
          <a:p>
            <a:pPr indent="0" marL="0">
              <a:buNone/>
            </a:pPr>
            <a:r>
              <a:rPr lang="en-US" sz="1600" b="1" spc="400" kern="0" dirty="0">
                <a:solidFill>
                  <a:schemeClr val="tx1"/>
                </a:solidFill>
              </a:rPr>
              <a:t>BEETLE</a:t>
            </a:r>
            <a:endParaRPr lang="en-US" sz="1600" dirty="0"/>
          </a:p>
        </p:txBody>
      </p:sp>
      <p:sp>
        <p:nvSpPr>
          <p:cNvPr id="15" name="workflow spine"/>
          <p:cNvSpPr/>
          <p:nvPr/>
        </p:nvSpPr>
        <p:spPr>
          <a:xfrm>
            <a:off x="1051560" y="1325880"/>
            <a:ext cx="7040880" cy="914"/>
          </a:xfrm>
          <a:prstGeom prst="line">
            <a:avLst/>
          </a:prstGeom>
          <a:noFill/>
          <a:ln w="25400">
            <a:solidFill>
              <a:schemeClr val="accent4"/>
            </a:solidFill>
            <a:prstDash val="solid"/>
          </a:ln>
        </p:spPr>
      </p:sp>
      <p:sp>
        <p:nvSpPr>
          <p:cNvPr id="16" name="step circle 1"/>
          <p:cNvSpPr/>
          <p:nvPr/>
        </p:nvSpPr>
        <p:spPr>
          <a:xfrm>
            <a:off x="850392" y="1124712"/>
            <a:ext cx="402336" cy="402336"/>
          </a:xfrm>
          <a:prstGeom prst="ellipse">
            <a:avLst/>
          </a:prstGeom>
          <a:solidFill>
            <a:schemeClr val="accent1"/>
          </a:solidFill>
          <a:ln w="6350">
            <a:solidFill>
              <a:schemeClr val="accent1"/>
            </a:solidFill>
            <a:prstDash val="solid"/>
          </a:ln>
        </p:spPr>
      </p:sp>
      <p:sp>
        <p:nvSpPr>
          <p:cNvPr id="17" name="step number 1"/>
          <p:cNvSpPr txBox="1"/>
          <p:nvPr/>
        </p:nvSpPr>
        <p:spPr>
          <a:xfrm>
            <a:off x="850392" y="1124712"/>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8" name="step text 1"/>
          <p:cNvSpPr txBox="1"/>
          <p:nvPr/>
        </p:nvSpPr>
        <p:spPr>
          <a:xfrm>
            <a:off x="228600" y="1600200"/>
            <a:ext cx="1645920" cy="685800"/>
          </a:xfrm>
          <a:prstGeom prst="rect">
            <a:avLst/>
          </a:prstGeom>
          <a:noFill/>
          <a:ln/>
        </p:spPr>
        <p:txBody>
          <a:bodyPr wrap="square" lIns="0" tIns="0" rIns="0" bIns="0" rtlCol="0" anchor="t"/>
          <a:lstStyle/>
          <a:p>
            <a:pPr algn="ctr" indent="0" marL="0">
              <a:spcAft>
                <a:spcPts val="200"/>
              </a:spcAft>
              <a:buNone/>
            </a:pPr>
            <a:r>
              <a:rPr lang="en-US" sz="1100" b="1" dirty="0">
                <a:solidFill>
                  <a:schemeClr val="tx1"/>
                </a:solidFill>
              </a:rPr>
              <a:t>Any game request</a:t>
            </a:r>
            <a:endParaRPr lang="en-US" sz="1100" dirty="0"/>
          </a:p>
          <a:p>
            <a:pPr algn="ctr" indent="0" marL="0">
              <a:buNone/>
            </a:pPr>
            <a:r>
              <a:rPr lang="en-US" sz="900" dirty="0">
                <a:solidFill>
                  <a:schemeClr val="tx2"/>
                </a:solidFill>
              </a:rPr>
              <a:t>"king of the hill on a frozen arena, hold ten seconds"</a:t>
            </a:r>
            <a:endParaRPr lang="en-US" sz="1100" dirty="0"/>
          </a:p>
        </p:txBody>
      </p:sp>
      <p:sp>
        <p:nvSpPr>
          <p:cNvPr id="19" name="step circle 2"/>
          <p:cNvSpPr/>
          <p:nvPr/>
        </p:nvSpPr>
        <p:spPr>
          <a:xfrm>
            <a:off x="2610612" y="1124712"/>
            <a:ext cx="402336" cy="402336"/>
          </a:xfrm>
          <a:prstGeom prst="ellipse">
            <a:avLst/>
          </a:prstGeom>
          <a:solidFill>
            <a:schemeClr val="accent1"/>
          </a:solidFill>
          <a:ln w="6350">
            <a:solidFill>
              <a:schemeClr val="accent1"/>
            </a:solidFill>
            <a:prstDash val="solid"/>
          </a:ln>
        </p:spPr>
      </p:sp>
      <p:sp>
        <p:nvSpPr>
          <p:cNvPr id="20" name="step number 2"/>
          <p:cNvSpPr txBox="1"/>
          <p:nvPr/>
        </p:nvSpPr>
        <p:spPr>
          <a:xfrm>
            <a:off x="2610612" y="1124712"/>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1" name="step text 2"/>
          <p:cNvSpPr txBox="1"/>
          <p:nvPr/>
        </p:nvSpPr>
        <p:spPr>
          <a:xfrm>
            <a:off x="1988820" y="1600200"/>
            <a:ext cx="1645920" cy="685800"/>
          </a:xfrm>
          <a:prstGeom prst="rect">
            <a:avLst/>
          </a:prstGeom>
          <a:noFill/>
          <a:ln/>
        </p:spPr>
        <p:txBody>
          <a:bodyPr wrap="square" lIns="0" tIns="0" rIns="0" bIns="0" rtlCol="0" anchor="t"/>
          <a:lstStyle/>
          <a:p>
            <a:pPr algn="ctr" indent="0" marL="0">
              <a:spcAft>
                <a:spcPts val="200"/>
              </a:spcAft>
              <a:buNone/>
            </a:pPr>
            <a:r>
              <a:rPr lang="en-US" sz="1100" b="1" dirty="0">
                <a:solidFill>
                  <a:schemeClr val="tx1"/>
                </a:solidFill>
              </a:rPr>
              <a:t>Mapped to the closest mode and biome</a:t>
            </a:r>
            <a:endParaRPr lang="en-US" sz="1100" dirty="0"/>
          </a:p>
          <a:p>
            <a:pPr algn="ctr" indent="0" marL="0">
              <a:buNone/>
            </a:pPr>
            <a:r>
              <a:rPr lang="en-US" sz="900" dirty="0">
                <a:solidFill>
                  <a:schemeClr val="tx2"/>
                </a:solidFill>
              </a:rPr>
              <a:t>the agent fills the parameters and says which it chose</a:t>
            </a:r>
            <a:endParaRPr lang="en-US" sz="1100" dirty="0"/>
          </a:p>
        </p:txBody>
      </p:sp>
      <p:sp>
        <p:nvSpPr>
          <p:cNvPr id="22" name="step circle 3"/>
          <p:cNvSpPr/>
          <p:nvPr/>
        </p:nvSpPr>
        <p:spPr>
          <a:xfrm>
            <a:off x="4370832" y="1124712"/>
            <a:ext cx="402336" cy="402336"/>
          </a:xfrm>
          <a:prstGeom prst="ellipse">
            <a:avLst/>
          </a:prstGeom>
          <a:solidFill>
            <a:schemeClr val="accent1"/>
          </a:solidFill>
          <a:ln w="6350">
            <a:solidFill>
              <a:schemeClr val="accent1"/>
            </a:solidFill>
            <a:prstDash val="solid"/>
          </a:ln>
        </p:spPr>
      </p:sp>
      <p:sp>
        <p:nvSpPr>
          <p:cNvPr id="23" name="step number 3"/>
          <p:cNvSpPr txBox="1"/>
          <p:nvPr/>
        </p:nvSpPr>
        <p:spPr>
          <a:xfrm>
            <a:off x="4370832" y="1124712"/>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step text 3"/>
          <p:cNvSpPr txBox="1"/>
          <p:nvPr/>
        </p:nvSpPr>
        <p:spPr>
          <a:xfrm>
            <a:off x="3749040" y="1600200"/>
            <a:ext cx="1645920" cy="685800"/>
          </a:xfrm>
          <a:prstGeom prst="rect">
            <a:avLst/>
          </a:prstGeom>
          <a:noFill/>
          <a:ln/>
        </p:spPr>
        <p:txBody>
          <a:bodyPr wrap="square" lIns="0" tIns="0" rIns="0" bIns="0" rtlCol="0" anchor="t"/>
          <a:lstStyle/>
          <a:p>
            <a:pPr algn="ctr" indent="0" marL="0">
              <a:spcAft>
                <a:spcPts val="200"/>
              </a:spcAft>
              <a:buNone/>
            </a:pPr>
            <a:r>
              <a:rPr lang="en-US" sz="1100" b="1" dirty="0">
                <a:solidFill>
                  <a:schemeClr val="tx1"/>
                </a:solidFill>
              </a:rPr>
              <a:t>Starts where the players are</a:t>
            </a:r>
            <a:endParaRPr lang="en-US" sz="1100" dirty="0"/>
          </a:p>
          <a:p>
            <a:pPr algn="ctr" indent="0" marL="0">
              <a:buNone/>
            </a:pPr>
            <a:r>
              <a:rPr lang="en-US" sz="900" dirty="0">
                <a:solidFill>
                  <a:schemeClr val="tx2"/>
                </a:solidFill>
              </a:rPr>
              <a:t>the brief builds the spawn zone</a:t>
            </a:r>
            <a:endParaRPr lang="en-US" sz="1100" dirty="0"/>
          </a:p>
        </p:txBody>
      </p:sp>
      <p:sp>
        <p:nvSpPr>
          <p:cNvPr id="25" name="step circle 4"/>
          <p:cNvSpPr/>
          <p:nvPr/>
        </p:nvSpPr>
        <p:spPr>
          <a:xfrm>
            <a:off x="6131052" y="1124712"/>
            <a:ext cx="402336" cy="402336"/>
          </a:xfrm>
          <a:prstGeom prst="ellipse">
            <a:avLst/>
          </a:prstGeom>
          <a:solidFill>
            <a:schemeClr val="accent1"/>
          </a:solidFill>
          <a:ln w="6350">
            <a:solidFill>
              <a:schemeClr val="accent1"/>
            </a:solidFill>
            <a:prstDash val="solid"/>
          </a:ln>
        </p:spPr>
      </p:sp>
      <p:sp>
        <p:nvSpPr>
          <p:cNvPr id="26" name="step number 4"/>
          <p:cNvSpPr txBox="1"/>
          <p:nvPr/>
        </p:nvSpPr>
        <p:spPr>
          <a:xfrm>
            <a:off x="6131052" y="1124712"/>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7" name="step text 4"/>
          <p:cNvSpPr txBox="1"/>
          <p:nvPr/>
        </p:nvSpPr>
        <p:spPr>
          <a:xfrm>
            <a:off x="5509260" y="1600200"/>
            <a:ext cx="1645920" cy="685800"/>
          </a:xfrm>
          <a:prstGeom prst="rect">
            <a:avLst/>
          </a:prstGeom>
          <a:noFill/>
          <a:ln/>
        </p:spPr>
        <p:txBody>
          <a:bodyPr wrap="square" lIns="0" tIns="0" rIns="0" bIns="0" rtlCol="0" anchor="t"/>
          <a:lstStyle/>
          <a:p>
            <a:pPr algn="ctr" indent="0" marL="0">
              <a:spcAft>
                <a:spcPts val="200"/>
              </a:spcAft>
              <a:buNone/>
            </a:pPr>
            <a:r>
              <a:rPr lang="en-US" sz="1100" b="1" dirty="0">
                <a:solidFill>
                  <a:schemeClr val="tx1"/>
                </a:solidFill>
              </a:rPr>
              <a:t>Grows as they move</a:t>
            </a:r>
            <a:endParaRPr lang="en-US" sz="1100" dirty="0"/>
          </a:p>
          <a:p>
            <a:pPr algn="ctr" indent="0" marL="0">
              <a:buNone/>
            </a:pPr>
            <a:r>
              <a:rPr lang="en-US" sz="900" dirty="0">
                <a:solidFill>
                  <a:schemeClr val="tx2"/>
                </a:solidFill>
              </a:rPr>
              <a:t>every extension a small patch, validated before it lands</a:t>
            </a:r>
            <a:endParaRPr lang="en-US" sz="1100" dirty="0"/>
          </a:p>
        </p:txBody>
      </p:sp>
      <p:sp>
        <p:nvSpPr>
          <p:cNvPr id="28" name="step circle 5"/>
          <p:cNvSpPr/>
          <p:nvPr/>
        </p:nvSpPr>
        <p:spPr>
          <a:xfrm>
            <a:off x="7891272" y="1124712"/>
            <a:ext cx="402336" cy="402336"/>
          </a:xfrm>
          <a:prstGeom prst="ellipse">
            <a:avLst/>
          </a:prstGeom>
          <a:solidFill>
            <a:schemeClr val="accent1"/>
          </a:solidFill>
          <a:ln w="6350">
            <a:solidFill>
              <a:schemeClr val="accent1"/>
            </a:solidFill>
            <a:prstDash val="solid"/>
          </a:ln>
        </p:spPr>
      </p:sp>
      <p:sp>
        <p:nvSpPr>
          <p:cNvPr id="29" name="step number 5"/>
          <p:cNvSpPr txBox="1"/>
          <p:nvPr/>
        </p:nvSpPr>
        <p:spPr>
          <a:xfrm>
            <a:off x="7891272" y="1124712"/>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0" name="step text 5"/>
          <p:cNvSpPr txBox="1"/>
          <p:nvPr/>
        </p:nvSpPr>
        <p:spPr>
          <a:xfrm>
            <a:off x="7269480" y="1600200"/>
            <a:ext cx="1645920" cy="685800"/>
          </a:xfrm>
          <a:prstGeom prst="rect">
            <a:avLst/>
          </a:prstGeom>
          <a:noFill/>
          <a:ln/>
        </p:spPr>
        <p:txBody>
          <a:bodyPr wrap="square" lIns="0" tIns="0" rIns="0" bIns="0" rtlCol="0" anchor="t"/>
          <a:lstStyle/>
          <a:p>
            <a:pPr algn="ctr" indent="0" marL="0">
              <a:spcAft>
                <a:spcPts val="200"/>
              </a:spcAft>
              <a:buNone/>
            </a:pPr>
            <a:r>
              <a:rPr lang="en-US" sz="1100" b="1" dirty="0">
                <a:solidFill>
                  <a:schemeClr val="tx1"/>
                </a:solidFill>
              </a:rPr>
              <a:t>Keep changing it while they play</a:t>
            </a:r>
            <a:endParaRPr lang="en-US" sz="1100" dirty="0"/>
          </a:p>
          <a:p>
            <a:pPr algn="ctr" indent="0" marL="0">
              <a:buNone/>
            </a:pPr>
            <a:r>
              <a:rPr lang="en-US" sz="900" dirty="0">
                <a:solidFill>
                  <a:schemeClr val="tx2"/>
                </a:solidFill>
              </a:rPr>
              <a:t>mode, biome, speed, bridges, hazard; no reset</a:t>
            </a:r>
            <a:endParaRPr lang="en-US" sz="1100" dirty="0"/>
          </a:p>
        </p:txBody>
      </p:sp>
      <p:sp>
        <p:nvSpPr>
          <p:cNvPr id="31" name="label MODE LIBRARY (ENGINE MECHANICS, NOT MODEL-WRITTEN RULES)"/>
          <p:cNvSpPr txBox="1"/>
          <p:nvPr/>
        </p:nvSpPr>
        <p:spPr>
          <a:xfrm>
            <a:off x="457200" y="2258568"/>
            <a:ext cx="5943600" cy="182880"/>
          </a:xfrm>
          <a:prstGeom prst="rect">
            <a:avLst/>
          </a:prstGeom>
          <a:noFill/>
          <a:ln/>
        </p:spPr>
        <p:txBody>
          <a:bodyPr wrap="square" lIns="0" tIns="0" rIns="0" bIns="0" rtlCol="0" anchor="ctr"/>
          <a:lstStyle/>
          <a:p>
            <a:pPr indent="0" marL="0">
              <a:buNone/>
            </a:pPr>
            <a:r>
              <a:rPr lang="en-US" sz="900" b="1" spc="200" kern="0" dirty="0">
                <a:solidFill>
                  <a:schemeClr val="accent1"/>
                </a:solidFill>
              </a:rPr>
              <a:t>MODE LIBRARY (ENGINE MECHANICS, NOT MODEL-WRITTEN RULES)</a:t>
            </a:r>
            <a:endParaRPr lang="en-US" sz="900" dirty="0"/>
          </a:p>
        </p:txBody>
      </p:sp>
      <p:graphicFrame>
        <p:nvGraphicFramePr>
          <p:cNvPr id="3" name="mode library table"/>
          <p:cNvGraphicFramePr>
            <a:graphicFrameLocks noGrp="1"/>
          </p:cNvGraphicFramePr>
          <p:nvPr>
            <p:extLst>
              <p:ext uri="{D42A27DB-BD31-4B8C-83A1-F6EECF244321}">
                <p14:modId xmlns:p14="http://schemas.microsoft.com/office/powerpoint/2010/main" val="1579011935"/>
              </p:ext>
            </p:extLst>
          </p:nvPr>
        </p:nvGraphicFramePr>
        <p:xfrm>
          <a:off x="457200" y="2432304"/>
          <a:ext cx="8229600" cy="914400"/>
        </p:xfrm>
        <a:graphic>
          <a:graphicData uri="http://schemas.openxmlformats.org/drawingml/2006/table">
            <a:tbl>
              <a:tblPr/>
              <a:tblGrid>
                <a:gridCol w="1188720"/>
                <a:gridCol w="2651760"/>
                <a:gridCol w="2377440"/>
                <a:gridCol w="2011680"/>
              </a:tblGrid>
              <a:tr h="228600">
                <a:tc>
                  <a:txBody>
                    <a:bodyPr/>
                    <a:lstStyle/>
                    <a:p>
                      <a:pPr indent="0" marL="0">
                        <a:buNone/>
                      </a:pPr>
                      <a:r>
                        <a:rPr lang="en-US" sz="850" b="1" dirty="0">
                          <a:solidFill>
                            <a:srgbClr val="E8A33D"/>
                          </a:solidFill>
                          <a:latin typeface="Arial" pitchFamily="34" charset="0"/>
                          <a:ea typeface="Arial" pitchFamily="34" charset="-122"/>
                          <a:cs typeface="Arial" pitchFamily="34" charset="-120"/>
                        </a:rPr>
                        <a:t>Mode</a:t>
                      </a:r>
                      <a:endParaRPr lang="en-US" sz="850" dirty="0">
                        <a:latin typeface="Arial" charset="0"/>
                        <a:ea typeface="Arial" charset="0"/>
                        <a:cs typeface="Arial" charset="0"/>
                      </a:endParaRPr>
                    </a:p>
                  </a:txBody>
                  <a:tcPr marL="27432" marR="27432" marT="27432" marB="27432" anchor="ctr">
                    <a:lnL w="6350" cap="flat" cmpd="sng" algn="ctr">
                      <a:solidFill>
                        <a:srgbClr val="2E6B68"/>
                      </a:solidFill>
                      <a:prstDash val="solid"/>
                      <a:round/>
                      <a:headEnd type="none" w="med" len="med"/>
                      <a:tailEnd type="none" w="med" len="med"/>
                    </a:lnL>
                    <a:lnR w="6350" cap="flat" cmpd="sng" algn="ctr">
                      <a:solidFill>
                        <a:srgbClr val="2E6B68"/>
                      </a:solidFill>
                      <a:prstDash val="solid"/>
                      <a:round/>
                      <a:headEnd type="none" w="med" len="med"/>
                      <a:tailEnd type="none" w="med" len="med"/>
                    </a:lnR>
                    <a:lnT w="6350" cap="flat" cmpd="sng" algn="ctr">
                      <a:solidFill>
                        <a:srgbClr val="2E6B68"/>
                      </a:solidFill>
                      <a:prstDash val="solid"/>
                      <a:round/>
                      <a:headEnd type="none" w="med" len="med"/>
                      <a:tailEnd type="none" w="med" len="med"/>
                    </a:lnT>
                    <a:lnB w="6350" cap="flat" cmpd="sng" algn="ctr">
                      <a:solidFill>
                        <a:srgbClr val="2E6B68"/>
                      </a:solidFill>
                      <a:prstDash val="solid"/>
                      <a:round/>
                      <a:headEnd type="none" w="med" len="med"/>
                      <a:tailEnd type="none" w="med" len="med"/>
                    </a:lnB>
                    <a:solidFill>
                      <a:srgbClr val="1B4A48"/>
                    </a:solidFill>
                  </a:tcPr>
                </a:tc>
                <a:tc>
                  <a:txBody>
                    <a:bodyPr/>
                    <a:lstStyle/>
                    <a:p>
                      <a:pPr indent="0" marL="0">
                        <a:buNone/>
                      </a:pPr>
                      <a:r>
                        <a:rPr lang="en-US" sz="850" b="1" dirty="0">
                          <a:solidFill>
                            <a:srgbClr val="E8A33D"/>
                          </a:solidFill>
                          <a:latin typeface="Arial" pitchFamily="34" charset="0"/>
                          <a:ea typeface="Arial" pitchFamily="34" charset="-122"/>
                          <a:cs typeface="Arial" pitchFamily="34" charset="-120"/>
                        </a:rPr>
                        <a:t>What players do</a:t>
                      </a:r>
                      <a:endParaRPr lang="en-US" sz="850" dirty="0">
                        <a:latin typeface="Arial" charset="0"/>
                        <a:ea typeface="Arial" charset="0"/>
                        <a:cs typeface="Arial" charset="0"/>
                      </a:endParaRPr>
                    </a:p>
                  </a:txBody>
                  <a:tcPr marL="27432" marR="27432" marT="27432" marB="27432" anchor="ctr">
                    <a:lnL w="6350" cap="flat" cmpd="sng" algn="ctr">
                      <a:solidFill>
                        <a:srgbClr val="2E6B68"/>
                      </a:solidFill>
                      <a:prstDash val="solid"/>
                      <a:round/>
                      <a:headEnd type="none" w="med" len="med"/>
                      <a:tailEnd type="none" w="med" len="med"/>
                    </a:lnL>
                    <a:lnR w="6350" cap="flat" cmpd="sng" algn="ctr">
                      <a:solidFill>
                        <a:srgbClr val="2E6B68"/>
                      </a:solidFill>
                      <a:prstDash val="solid"/>
                      <a:round/>
                      <a:headEnd type="none" w="med" len="med"/>
                      <a:tailEnd type="none" w="med" len="med"/>
                    </a:lnR>
                    <a:lnT w="6350" cap="flat" cmpd="sng" algn="ctr">
                      <a:solidFill>
                        <a:srgbClr val="2E6B68"/>
                      </a:solidFill>
                      <a:prstDash val="solid"/>
                      <a:round/>
                      <a:headEnd type="none" w="med" len="med"/>
                      <a:tailEnd type="none" w="med" len="med"/>
                    </a:lnT>
                    <a:lnB w="6350" cap="flat" cmpd="sng" algn="ctr">
                      <a:solidFill>
                        <a:srgbClr val="2E6B68"/>
                      </a:solidFill>
                      <a:prstDash val="solid"/>
                      <a:round/>
                      <a:headEnd type="none" w="med" len="med"/>
                      <a:tailEnd type="none" w="med" len="med"/>
                    </a:lnB>
                    <a:solidFill>
                      <a:srgbClr val="1B4A48"/>
                    </a:solidFill>
                  </a:tcPr>
                </a:tc>
                <a:tc>
                  <a:txBody>
                    <a:bodyPr/>
                    <a:lstStyle/>
                    <a:p>
                      <a:pPr indent="0" marL="0">
                        <a:buNone/>
                      </a:pPr>
                      <a:r>
                        <a:rPr lang="en-US" sz="850" b="1" dirty="0">
                          <a:solidFill>
                            <a:srgbClr val="E8A33D"/>
                          </a:solidFill>
                          <a:latin typeface="Arial" pitchFamily="34" charset="0"/>
                          <a:ea typeface="Arial" pitchFamily="34" charset="-122"/>
                          <a:cs typeface="Arial" pitchFamily="34" charset="-120"/>
                        </a:rPr>
                        <a:t>Win condition</a:t>
                      </a:r>
                      <a:endParaRPr lang="en-US" sz="850" dirty="0">
                        <a:latin typeface="Arial" charset="0"/>
                        <a:ea typeface="Arial" charset="0"/>
                        <a:cs typeface="Arial" charset="0"/>
                      </a:endParaRPr>
                    </a:p>
                  </a:txBody>
                  <a:tcPr marL="27432" marR="27432" marT="27432" marB="27432" anchor="ctr">
                    <a:lnL w="6350" cap="flat" cmpd="sng" algn="ctr">
                      <a:solidFill>
                        <a:srgbClr val="2E6B68"/>
                      </a:solidFill>
                      <a:prstDash val="solid"/>
                      <a:round/>
                      <a:headEnd type="none" w="med" len="med"/>
                      <a:tailEnd type="none" w="med" len="med"/>
                    </a:lnL>
                    <a:lnR w="6350" cap="flat" cmpd="sng" algn="ctr">
                      <a:solidFill>
                        <a:srgbClr val="2E6B68"/>
                      </a:solidFill>
                      <a:prstDash val="solid"/>
                      <a:round/>
                      <a:headEnd type="none" w="med" len="med"/>
                      <a:tailEnd type="none" w="med" len="med"/>
                    </a:lnR>
                    <a:lnT w="6350" cap="flat" cmpd="sng" algn="ctr">
                      <a:solidFill>
                        <a:srgbClr val="2E6B68"/>
                      </a:solidFill>
                      <a:prstDash val="solid"/>
                      <a:round/>
                      <a:headEnd type="none" w="med" len="med"/>
                      <a:tailEnd type="none" w="med" len="med"/>
                    </a:lnT>
                    <a:lnB w="6350" cap="flat" cmpd="sng" algn="ctr">
                      <a:solidFill>
                        <a:srgbClr val="2E6B68"/>
                      </a:solidFill>
                      <a:prstDash val="solid"/>
                      <a:round/>
                      <a:headEnd type="none" w="med" len="med"/>
                      <a:tailEnd type="none" w="med" len="med"/>
                    </a:lnB>
                    <a:solidFill>
                      <a:srgbClr val="1B4A48"/>
                    </a:solidFill>
                  </a:tcPr>
                </a:tc>
                <a:tc>
                  <a:txBody>
                    <a:bodyPr/>
                    <a:lstStyle/>
                    <a:p>
                      <a:pPr indent="0" marL="0">
                        <a:buNone/>
                      </a:pPr>
                      <a:r>
                        <a:rPr lang="en-US" sz="850" b="1" dirty="0">
                          <a:solidFill>
                            <a:srgbClr val="E8A33D"/>
                          </a:solidFill>
                          <a:latin typeface="Arial" pitchFamily="34" charset="0"/>
                          <a:ea typeface="Arial" pitchFamily="34" charset="-122"/>
                          <a:cs typeface="Arial" pitchFamily="34" charset="-120"/>
                        </a:rPr>
                        <a:t>Parameters (contract ranges)</a:t>
                      </a:r>
                      <a:endParaRPr lang="en-US" sz="850" dirty="0">
                        <a:latin typeface="Arial" charset="0"/>
                        <a:ea typeface="Arial" charset="0"/>
                        <a:cs typeface="Arial" charset="0"/>
                      </a:endParaRPr>
                    </a:p>
                  </a:txBody>
                  <a:tcPr marL="27432" marR="27432" marT="27432" marB="27432" anchor="ctr">
                    <a:lnL w="6350" cap="flat" cmpd="sng" algn="ctr">
                      <a:solidFill>
                        <a:srgbClr val="2E6B68"/>
                      </a:solidFill>
                      <a:prstDash val="solid"/>
                      <a:round/>
                      <a:headEnd type="none" w="med" len="med"/>
                      <a:tailEnd type="none" w="med" len="med"/>
                    </a:lnL>
                    <a:lnR w="6350" cap="flat" cmpd="sng" algn="ctr">
                      <a:solidFill>
                        <a:srgbClr val="2E6B68"/>
                      </a:solidFill>
                      <a:prstDash val="solid"/>
                      <a:round/>
                      <a:headEnd type="none" w="med" len="med"/>
                      <a:tailEnd type="none" w="med" len="med"/>
                    </a:lnR>
                    <a:lnT w="6350" cap="flat" cmpd="sng" algn="ctr">
                      <a:solidFill>
                        <a:srgbClr val="2E6B68"/>
                      </a:solidFill>
                      <a:prstDash val="solid"/>
                      <a:round/>
                      <a:headEnd type="none" w="med" len="med"/>
                      <a:tailEnd type="none" w="med" len="med"/>
                    </a:lnT>
                    <a:lnB w="6350" cap="flat" cmpd="sng" algn="ctr">
                      <a:solidFill>
                        <a:srgbClr val="2E6B68"/>
                      </a:solidFill>
                      <a:prstDash val="solid"/>
                      <a:round/>
                      <a:headEnd type="none" w="med" len="med"/>
                      <a:tailEnd type="none" w="med" len="med"/>
                    </a:lnB>
                    <a:solidFill>
                      <a:srgbClr val="1B4A48"/>
                    </a:solidFill>
                  </a:tcPr>
                </a:tc>
              </a:tr>
              <a:tr h="228600">
                <a:tc>
                  <a:txBody>
                    <a:bodyPr/>
                    <a:lstStyle/>
                    <a:p>
                      <a:pPr indent="0" marL="0">
                        <a:buNone/>
                      </a:pPr>
                      <a:r>
                        <a:rPr lang="en-US" sz="800" b="1" dirty="0">
                          <a:solidFill>
                            <a:srgbClr val="EDE7DB"/>
                          </a:solidFill>
                          <a:latin typeface="Arial" pitchFamily="34" charset="0"/>
                          <a:ea typeface="Arial" pitchFamily="34" charset="-122"/>
                          <a:cs typeface="Arial" pitchFamily="34" charset="-120"/>
                        </a:rPr>
                        <a:t>relic_hunt</a:t>
                      </a:r>
                      <a:endParaRPr lang="en-US" sz="800" dirty="0">
                        <a:latin typeface="Arial" charset="0"/>
                        <a:ea typeface="Arial" charset="0"/>
                        <a:cs typeface="Arial" charset="0"/>
                      </a:endParaRPr>
                    </a:p>
                  </a:txBody>
                  <a:tcPr marL="27432" marR="27432" marT="27432" marB="27432" anchor="ctr">
                    <a:lnL w="6350" cap="flat" cmpd="sng" algn="ctr">
                      <a:solidFill>
                        <a:srgbClr val="2E6B68"/>
                      </a:solidFill>
                      <a:prstDash val="solid"/>
                      <a:round/>
                      <a:headEnd type="none" w="med" len="med"/>
                      <a:tailEnd type="none" w="med" len="med"/>
                    </a:lnL>
                    <a:lnR w="6350" cap="flat" cmpd="sng" algn="ctr">
                      <a:solidFill>
                        <a:srgbClr val="2E6B68"/>
                      </a:solidFill>
                      <a:prstDash val="solid"/>
                      <a:round/>
                      <a:headEnd type="none" w="med" len="med"/>
                      <a:tailEnd type="none" w="med" len="med"/>
                    </a:lnR>
                    <a:lnT w="6350" cap="flat" cmpd="sng" algn="ctr">
                      <a:solidFill>
                        <a:srgbClr val="2E6B68"/>
                      </a:solidFill>
                      <a:prstDash val="solid"/>
                      <a:round/>
                      <a:headEnd type="none" w="med" len="med"/>
                      <a:tailEnd type="none" w="med" len="med"/>
                    </a:lnT>
                    <a:lnB w="6350" cap="flat" cmpd="sng" algn="ctr">
                      <a:solidFill>
                        <a:srgbClr val="2E6B68"/>
                      </a:solidFill>
                      <a:prstDash val="solid"/>
                      <a:round/>
                      <a:headEnd type="none" w="med" len="med"/>
                      <a:tailEnd type="none" w="med" len="med"/>
                    </a:lnB>
                    <a:solidFill>
                      <a:srgbClr val="1B4A48"/>
                    </a:solidFill>
                  </a:tcPr>
                </a:tc>
                <a:tc>
                  <a:txBody>
                    <a:bodyPr/>
                    <a:lstStyle/>
                    <a:p>
                      <a:pPr indent="0" marL="0">
                        <a:buNone/>
                      </a:pPr>
                      <a:r>
                        <a:rPr lang="en-US" sz="800" dirty="0">
                          <a:solidFill>
                            <a:srgbClr val="BDB3A2"/>
                          </a:solidFill>
                          <a:latin typeface="Arial" pitchFamily="34" charset="0"/>
                          <a:ea typeface="Arial" pitchFamily="34" charset="-122"/>
                          <a:cs typeface="Arial" pitchFamily="34" charset="-120"/>
                        </a:rPr>
                        <a:t>collect relics over the bridges, enter the gate</a:t>
                      </a:r>
                      <a:endParaRPr lang="en-US" sz="800" dirty="0">
                        <a:latin typeface="Arial" charset="0"/>
                        <a:ea typeface="Arial" charset="0"/>
                        <a:cs typeface="Arial" charset="0"/>
                      </a:endParaRPr>
                    </a:p>
                  </a:txBody>
                  <a:tcPr marL="27432" marR="27432" marT="27432" marB="27432" anchor="ctr">
                    <a:lnL w="6350" cap="flat" cmpd="sng" algn="ctr">
                      <a:solidFill>
                        <a:srgbClr val="2E6B68"/>
                      </a:solidFill>
                      <a:prstDash val="solid"/>
                      <a:round/>
                      <a:headEnd type="none" w="med" len="med"/>
                      <a:tailEnd type="none" w="med" len="med"/>
                    </a:lnL>
                    <a:lnR w="6350" cap="flat" cmpd="sng" algn="ctr">
                      <a:solidFill>
                        <a:srgbClr val="2E6B68"/>
                      </a:solidFill>
                      <a:prstDash val="solid"/>
                      <a:round/>
                      <a:headEnd type="none" w="med" len="med"/>
                      <a:tailEnd type="none" w="med" len="med"/>
                    </a:lnR>
                    <a:lnT w="6350" cap="flat" cmpd="sng" algn="ctr">
                      <a:solidFill>
                        <a:srgbClr val="2E6B68"/>
                      </a:solidFill>
                      <a:prstDash val="solid"/>
                      <a:round/>
                      <a:headEnd type="none" w="med" len="med"/>
                      <a:tailEnd type="none" w="med" len="med"/>
                    </a:lnT>
                    <a:lnB w="6350" cap="flat" cmpd="sng" algn="ctr">
                      <a:solidFill>
                        <a:srgbClr val="2E6B68"/>
                      </a:solidFill>
                      <a:prstDash val="solid"/>
                      <a:round/>
                      <a:headEnd type="none" w="med" len="med"/>
                      <a:tailEnd type="none" w="med" len="med"/>
                    </a:lnB>
                    <a:solidFill>
                      <a:srgbClr val="1B4A48"/>
                    </a:solidFill>
                  </a:tcPr>
                </a:tc>
                <a:tc>
                  <a:txBody>
                    <a:bodyPr/>
                    <a:lstStyle/>
                    <a:p>
                      <a:pPr indent="0" marL="0">
                        <a:buNone/>
                      </a:pPr>
                      <a:r>
                        <a:rPr lang="en-US" sz="800" dirty="0">
                          <a:solidFill>
                            <a:srgbClr val="BDB3A2"/>
                          </a:solidFill>
                          <a:latin typeface="Arial" pitchFamily="34" charset="0"/>
                          <a:ea typeface="Arial" pitchFamily="34" charset="-122"/>
                          <a:cs typeface="Arial" pitchFamily="34" charset="-120"/>
                        </a:rPr>
                        <a:t>gate unlocks after relicsRequired relics; a player reaches it</a:t>
                      </a:r>
                      <a:endParaRPr lang="en-US" sz="800" dirty="0">
                        <a:latin typeface="Arial" charset="0"/>
                        <a:ea typeface="Arial" charset="0"/>
                        <a:cs typeface="Arial" charset="0"/>
                      </a:endParaRPr>
                    </a:p>
                  </a:txBody>
                  <a:tcPr marL="27432" marR="27432" marT="27432" marB="27432" anchor="ctr">
                    <a:lnL w="6350" cap="flat" cmpd="sng" algn="ctr">
                      <a:solidFill>
                        <a:srgbClr val="2E6B68"/>
                      </a:solidFill>
                      <a:prstDash val="solid"/>
                      <a:round/>
                      <a:headEnd type="none" w="med" len="med"/>
                      <a:tailEnd type="none" w="med" len="med"/>
                    </a:lnL>
                    <a:lnR w="6350" cap="flat" cmpd="sng" algn="ctr">
                      <a:solidFill>
                        <a:srgbClr val="2E6B68"/>
                      </a:solidFill>
                      <a:prstDash val="solid"/>
                      <a:round/>
                      <a:headEnd type="none" w="med" len="med"/>
                      <a:tailEnd type="none" w="med" len="med"/>
                    </a:lnR>
                    <a:lnT w="6350" cap="flat" cmpd="sng" algn="ctr">
                      <a:solidFill>
                        <a:srgbClr val="2E6B68"/>
                      </a:solidFill>
                      <a:prstDash val="solid"/>
                      <a:round/>
                      <a:headEnd type="none" w="med" len="med"/>
                      <a:tailEnd type="none" w="med" len="med"/>
                    </a:lnT>
                    <a:lnB w="6350" cap="flat" cmpd="sng" algn="ctr">
                      <a:solidFill>
                        <a:srgbClr val="2E6B68"/>
                      </a:solidFill>
                      <a:prstDash val="solid"/>
                      <a:round/>
                      <a:headEnd type="none" w="med" len="med"/>
                      <a:tailEnd type="none" w="med" len="med"/>
                    </a:lnB>
                    <a:solidFill>
                      <a:srgbClr val="1B4A48"/>
                    </a:solidFill>
                  </a:tcPr>
                </a:tc>
                <a:tc>
                  <a:txBody>
                    <a:bodyPr/>
                    <a:lstStyle/>
                    <a:p>
                      <a:pPr indent="0" marL="0">
                        <a:buNone/>
                      </a:pPr>
                      <a:r>
                        <a:rPr lang="en-US" sz="800" dirty="0">
                          <a:solidFill>
                            <a:srgbClr val="BDB3A2"/>
                          </a:solidFill>
                          <a:latin typeface="Arial" pitchFamily="34" charset="0"/>
                          <a:ea typeface="Arial" pitchFamily="34" charset="-122"/>
                          <a:cs typeface="Arial" pitchFamily="34" charset="-120"/>
                        </a:rPr>
                        <a:t>relicsRequired 1 to 3 (default all)</a:t>
                      </a:r>
                      <a:endParaRPr lang="en-US" sz="800" dirty="0">
                        <a:latin typeface="Arial" charset="0"/>
                        <a:ea typeface="Arial" charset="0"/>
                        <a:cs typeface="Arial" charset="0"/>
                      </a:endParaRPr>
                    </a:p>
                  </a:txBody>
                  <a:tcPr marL="27432" marR="27432" marT="27432" marB="27432" anchor="ctr">
                    <a:lnL w="6350" cap="flat" cmpd="sng" algn="ctr">
                      <a:solidFill>
                        <a:srgbClr val="2E6B68"/>
                      </a:solidFill>
                      <a:prstDash val="solid"/>
                      <a:round/>
                      <a:headEnd type="none" w="med" len="med"/>
                      <a:tailEnd type="none" w="med" len="med"/>
                    </a:lnL>
                    <a:lnR w="6350" cap="flat" cmpd="sng" algn="ctr">
                      <a:solidFill>
                        <a:srgbClr val="2E6B68"/>
                      </a:solidFill>
                      <a:prstDash val="solid"/>
                      <a:round/>
                      <a:headEnd type="none" w="med" len="med"/>
                      <a:tailEnd type="none" w="med" len="med"/>
                    </a:lnR>
                    <a:lnT w="6350" cap="flat" cmpd="sng" algn="ctr">
                      <a:solidFill>
                        <a:srgbClr val="2E6B68"/>
                      </a:solidFill>
                      <a:prstDash val="solid"/>
                      <a:round/>
                      <a:headEnd type="none" w="med" len="med"/>
                      <a:tailEnd type="none" w="med" len="med"/>
                    </a:lnT>
                    <a:lnB w="6350" cap="flat" cmpd="sng" algn="ctr">
                      <a:solidFill>
                        <a:srgbClr val="2E6B68"/>
                      </a:solidFill>
                      <a:prstDash val="solid"/>
                      <a:round/>
                      <a:headEnd type="none" w="med" len="med"/>
                      <a:tailEnd type="none" w="med" len="med"/>
                    </a:lnB>
                    <a:solidFill>
                      <a:srgbClr val="1B4A48"/>
                    </a:solidFill>
                  </a:tcPr>
                </a:tc>
              </a:tr>
              <a:tr h="228600">
                <a:tc>
                  <a:txBody>
                    <a:bodyPr/>
                    <a:lstStyle/>
                    <a:p>
                      <a:pPr indent="0" marL="0">
                        <a:buNone/>
                      </a:pPr>
                      <a:r>
                        <a:rPr lang="en-US" sz="800" b="1" dirty="0">
                          <a:solidFill>
                            <a:srgbClr val="EDE7DB"/>
                          </a:solidFill>
                          <a:latin typeface="Arial" pitchFamily="34" charset="0"/>
                          <a:ea typeface="Arial" pitchFamily="34" charset="-122"/>
                          <a:cs typeface="Arial" pitchFamily="34" charset="-120"/>
                        </a:rPr>
                        <a:t>time_trial</a:t>
                      </a:r>
                      <a:endParaRPr lang="en-US" sz="800" dirty="0">
                        <a:latin typeface="Arial" charset="0"/>
                        <a:ea typeface="Arial" charset="0"/>
                        <a:cs typeface="Arial" charset="0"/>
                      </a:endParaRPr>
                    </a:p>
                  </a:txBody>
                  <a:tcPr marL="27432" marR="27432" marT="27432" marB="27432" anchor="ctr">
                    <a:lnL w="6350" cap="flat" cmpd="sng" algn="ctr">
                      <a:solidFill>
                        <a:srgbClr val="2E6B68"/>
                      </a:solidFill>
                      <a:prstDash val="solid"/>
                      <a:round/>
                      <a:headEnd type="none" w="med" len="med"/>
                      <a:tailEnd type="none" w="med" len="med"/>
                    </a:lnL>
                    <a:lnR w="6350" cap="flat" cmpd="sng" algn="ctr">
                      <a:solidFill>
                        <a:srgbClr val="2E6B68"/>
                      </a:solidFill>
                      <a:prstDash val="solid"/>
                      <a:round/>
                      <a:headEnd type="none" w="med" len="med"/>
                      <a:tailEnd type="none" w="med" len="med"/>
                    </a:lnR>
                    <a:lnT w="6350" cap="flat" cmpd="sng" algn="ctr">
                      <a:solidFill>
                        <a:srgbClr val="2E6B68"/>
                      </a:solidFill>
                      <a:prstDash val="solid"/>
                      <a:round/>
                      <a:headEnd type="none" w="med" len="med"/>
                      <a:tailEnd type="none" w="med" len="med"/>
                    </a:lnT>
                    <a:lnB w="6350" cap="flat" cmpd="sng" algn="ctr">
                      <a:solidFill>
                        <a:srgbClr val="2E6B68"/>
                      </a:solidFill>
                      <a:prstDash val="solid"/>
                      <a:round/>
                      <a:headEnd type="none" w="med" len="med"/>
                      <a:tailEnd type="none" w="med" len="med"/>
                    </a:lnB>
                    <a:solidFill>
                      <a:srgbClr val="1B4A48"/>
                    </a:solidFill>
                  </a:tcPr>
                </a:tc>
                <a:tc>
                  <a:txBody>
                    <a:bodyPr/>
                    <a:lstStyle/>
                    <a:p>
                      <a:pPr indent="0" marL="0">
                        <a:buNone/>
                      </a:pPr>
                      <a:r>
                        <a:rPr lang="en-US" sz="800" dirty="0">
                          <a:solidFill>
                            <a:srgbClr val="BDB3A2"/>
                          </a:solidFill>
                          <a:latin typeface="Arial" pitchFamily="34" charset="0"/>
                          <a:ea typeface="Arial" pitchFamily="34" charset="-122"/>
                          <a:cs typeface="Arial" pitchFamily="34" charset="-120"/>
                        </a:rPr>
                        <a:t>the same relic hunt against a clock</a:t>
                      </a:r>
                      <a:endParaRPr lang="en-US" sz="800" dirty="0">
                        <a:latin typeface="Arial" charset="0"/>
                        <a:ea typeface="Arial" charset="0"/>
                        <a:cs typeface="Arial" charset="0"/>
                      </a:endParaRPr>
                    </a:p>
                  </a:txBody>
                  <a:tcPr marL="27432" marR="27432" marT="27432" marB="27432" anchor="ctr">
                    <a:lnL w="6350" cap="flat" cmpd="sng" algn="ctr">
                      <a:solidFill>
                        <a:srgbClr val="2E6B68"/>
                      </a:solidFill>
                      <a:prstDash val="solid"/>
                      <a:round/>
                      <a:headEnd type="none" w="med" len="med"/>
                      <a:tailEnd type="none" w="med" len="med"/>
                    </a:lnL>
                    <a:lnR w="6350" cap="flat" cmpd="sng" algn="ctr">
                      <a:solidFill>
                        <a:srgbClr val="2E6B68"/>
                      </a:solidFill>
                      <a:prstDash val="solid"/>
                      <a:round/>
                      <a:headEnd type="none" w="med" len="med"/>
                      <a:tailEnd type="none" w="med" len="med"/>
                    </a:lnR>
                    <a:lnT w="6350" cap="flat" cmpd="sng" algn="ctr">
                      <a:solidFill>
                        <a:srgbClr val="2E6B68"/>
                      </a:solidFill>
                      <a:prstDash val="solid"/>
                      <a:round/>
                      <a:headEnd type="none" w="med" len="med"/>
                      <a:tailEnd type="none" w="med" len="med"/>
                    </a:lnT>
                    <a:lnB w="6350" cap="flat" cmpd="sng" algn="ctr">
                      <a:solidFill>
                        <a:srgbClr val="2E6B68"/>
                      </a:solidFill>
                      <a:prstDash val="solid"/>
                      <a:round/>
                      <a:headEnd type="none" w="med" len="med"/>
                      <a:tailEnd type="none" w="med" len="med"/>
                    </a:lnB>
                    <a:solidFill>
                      <a:srgbClr val="1B4A48"/>
                    </a:solidFill>
                  </a:tcPr>
                </a:tc>
                <a:tc>
                  <a:txBody>
                    <a:bodyPr/>
                    <a:lstStyle/>
                    <a:p>
                      <a:pPr indent="0" marL="0">
                        <a:buNone/>
                      </a:pPr>
                      <a:r>
                        <a:rPr lang="en-US" sz="800" dirty="0">
                          <a:solidFill>
                            <a:srgbClr val="BDB3A2"/>
                          </a:solidFill>
                          <a:latin typeface="Arial" pitchFamily="34" charset="0"/>
                          <a:ea typeface="Arial" pitchFamily="34" charset="-122"/>
                          <a:cs typeface="Arial" pitchFamily="34" charset="-120"/>
                        </a:rPr>
                        <a:t>finish before timeLimitSec; lost when it expires</a:t>
                      </a:r>
                      <a:endParaRPr lang="en-US" sz="800" dirty="0">
                        <a:latin typeface="Arial" charset="0"/>
                        <a:ea typeface="Arial" charset="0"/>
                        <a:cs typeface="Arial" charset="0"/>
                      </a:endParaRPr>
                    </a:p>
                  </a:txBody>
                  <a:tcPr marL="27432" marR="27432" marT="27432" marB="27432" anchor="ctr">
                    <a:lnL w="6350" cap="flat" cmpd="sng" algn="ctr">
                      <a:solidFill>
                        <a:srgbClr val="2E6B68"/>
                      </a:solidFill>
                      <a:prstDash val="solid"/>
                      <a:round/>
                      <a:headEnd type="none" w="med" len="med"/>
                      <a:tailEnd type="none" w="med" len="med"/>
                    </a:lnL>
                    <a:lnR w="6350" cap="flat" cmpd="sng" algn="ctr">
                      <a:solidFill>
                        <a:srgbClr val="2E6B68"/>
                      </a:solidFill>
                      <a:prstDash val="solid"/>
                      <a:round/>
                      <a:headEnd type="none" w="med" len="med"/>
                      <a:tailEnd type="none" w="med" len="med"/>
                    </a:lnR>
                    <a:lnT w="6350" cap="flat" cmpd="sng" algn="ctr">
                      <a:solidFill>
                        <a:srgbClr val="2E6B68"/>
                      </a:solidFill>
                      <a:prstDash val="solid"/>
                      <a:round/>
                      <a:headEnd type="none" w="med" len="med"/>
                      <a:tailEnd type="none" w="med" len="med"/>
                    </a:lnT>
                    <a:lnB w="6350" cap="flat" cmpd="sng" algn="ctr">
                      <a:solidFill>
                        <a:srgbClr val="2E6B68"/>
                      </a:solidFill>
                      <a:prstDash val="solid"/>
                      <a:round/>
                      <a:headEnd type="none" w="med" len="med"/>
                      <a:tailEnd type="none" w="med" len="med"/>
                    </a:lnB>
                    <a:solidFill>
                      <a:srgbClr val="1B4A48"/>
                    </a:solidFill>
                  </a:tcPr>
                </a:tc>
                <a:tc>
                  <a:txBody>
                    <a:bodyPr/>
                    <a:lstStyle/>
                    <a:p>
                      <a:pPr indent="0" marL="0">
                        <a:buNone/>
                      </a:pPr>
                      <a:r>
                        <a:rPr lang="en-US" sz="800" dirty="0">
                          <a:solidFill>
                            <a:srgbClr val="BDB3A2"/>
                          </a:solidFill>
                          <a:latin typeface="Arial" pitchFamily="34" charset="0"/>
                          <a:ea typeface="Arial" pitchFamily="34" charset="-122"/>
                          <a:cs typeface="Arial" pitchFamily="34" charset="-120"/>
                        </a:rPr>
                        <a:t>timeLimitSec 20 to 600 s (default 120)</a:t>
                      </a:r>
                      <a:endParaRPr lang="en-US" sz="800" dirty="0">
                        <a:latin typeface="Arial" charset="0"/>
                        <a:ea typeface="Arial" charset="0"/>
                        <a:cs typeface="Arial" charset="0"/>
                      </a:endParaRPr>
                    </a:p>
                  </a:txBody>
                  <a:tcPr marL="27432" marR="27432" marT="27432" marB="27432" anchor="ctr">
                    <a:lnL w="6350" cap="flat" cmpd="sng" algn="ctr">
                      <a:solidFill>
                        <a:srgbClr val="2E6B68"/>
                      </a:solidFill>
                      <a:prstDash val="solid"/>
                      <a:round/>
                      <a:headEnd type="none" w="med" len="med"/>
                      <a:tailEnd type="none" w="med" len="med"/>
                    </a:lnL>
                    <a:lnR w="6350" cap="flat" cmpd="sng" algn="ctr">
                      <a:solidFill>
                        <a:srgbClr val="2E6B68"/>
                      </a:solidFill>
                      <a:prstDash val="solid"/>
                      <a:round/>
                      <a:headEnd type="none" w="med" len="med"/>
                      <a:tailEnd type="none" w="med" len="med"/>
                    </a:lnR>
                    <a:lnT w="6350" cap="flat" cmpd="sng" algn="ctr">
                      <a:solidFill>
                        <a:srgbClr val="2E6B68"/>
                      </a:solidFill>
                      <a:prstDash val="solid"/>
                      <a:round/>
                      <a:headEnd type="none" w="med" len="med"/>
                      <a:tailEnd type="none" w="med" len="med"/>
                    </a:lnT>
                    <a:lnB w="6350" cap="flat" cmpd="sng" algn="ctr">
                      <a:solidFill>
                        <a:srgbClr val="2E6B68"/>
                      </a:solidFill>
                      <a:prstDash val="solid"/>
                      <a:round/>
                      <a:headEnd type="none" w="med" len="med"/>
                      <a:tailEnd type="none" w="med" len="med"/>
                    </a:lnB>
                    <a:solidFill>
                      <a:srgbClr val="1B4A48"/>
                    </a:solidFill>
                  </a:tcPr>
                </a:tc>
              </a:tr>
              <a:tr h="228600">
                <a:tc>
                  <a:txBody>
                    <a:bodyPr/>
                    <a:lstStyle/>
                    <a:p>
                      <a:pPr indent="0" marL="0">
                        <a:buNone/>
                      </a:pPr>
                      <a:r>
                        <a:rPr lang="en-US" sz="800" b="1" dirty="0">
                          <a:solidFill>
                            <a:srgbClr val="EDE7DB"/>
                          </a:solidFill>
                          <a:latin typeface="Arial" pitchFamily="34" charset="0"/>
                          <a:ea typeface="Arial" pitchFamily="34" charset="-122"/>
                          <a:cs typeface="Arial" pitchFamily="34" charset="-120"/>
                        </a:rPr>
                        <a:t>king_of_the_hill</a:t>
                      </a:r>
                      <a:endParaRPr lang="en-US" sz="800" dirty="0">
                        <a:latin typeface="Arial" charset="0"/>
                        <a:ea typeface="Arial" charset="0"/>
                        <a:cs typeface="Arial" charset="0"/>
                      </a:endParaRPr>
                    </a:p>
                  </a:txBody>
                  <a:tcPr marL="27432" marR="27432" marT="27432" marB="27432" anchor="ctr">
                    <a:lnL w="6350" cap="flat" cmpd="sng" algn="ctr">
                      <a:solidFill>
                        <a:srgbClr val="2E6B68"/>
                      </a:solidFill>
                      <a:prstDash val="solid"/>
                      <a:round/>
                      <a:headEnd type="none" w="med" len="med"/>
                      <a:tailEnd type="none" w="med" len="med"/>
                    </a:lnL>
                    <a:lnR w="6350" cap="flat" cmpd="sng" algn="ctr">
                      <a:solidFill>
                        <a:srgbClr val="2E6B68"/>
                      </a:solidFill>
                      <a:prstDash val="solid"/>
                      <a:round/>
                      <a:headEnd type="none" w="med" len="med"/>
                      <a:tailEnd type="none" w="med" len="med"/>
                    </a:lnR>
                    <a:lnT w="6350" cap="flat" cmpd="sng" algn="ctr">
                      <a:solidFill>
                        <a:srgbClr val="2E6B68"/>
                      </a:solidFill>
                      <a:prstDash val="solid"/>
                      <a:round/>
                      <a:headEnd type="none" w="med" len="med"/>
                      <a:tailEnd type="none" w="med" len="med"/>
                    </a:lnT>
                    <a:lnB w="6350" cap="flat" cmpd="sng" algn="ctr">
                      <a:solidFill>
                        <a:srgbClr val="2E6B68"/>
                      </a:solidFill>
                      <a:prstDash val="solid"/>
                      <a:round/>
                      <a:headEnd type="none" w="med" len="med"/>
                      <a:tailEnd type="none" w="med" len="med"/>
                    </a:lnB>
                    <a:solidFill>
                      <a:srgbClr val="1B4A48"/>
                    </a:solidFill>
                  </a:tcPr>
                </a:tc>
                <a:tc>
                  <a:txBody>
                    <a:bodyPr/>
                    <a:lstStyle/>
                    <a:p>
                      <a:pPr indent="0" marL="0">
                        <a:buNone/>
                      </a:pPr>
                      <a:r>
                        <a:rPr lang="en-US" sz="800" dirty="0">
                          <a:solidFill>
                            <a:srgbClr val="BDB3A2"/>
                          </a:solidFill>
                          <a:latin typeface="Arial" pitchFamily="34" charset="0"/>
                          <a:ea typeface="Arial" pitchFamily="34" charset="-122"/>
                          <a:cs typeface="Arial" pitchFamily="34" charset="-120"/>
                        </a:rPr>
                        <a:t>reach the gate island (the hill) and stand in its zone</a:t>
                      </a:r>
                      <a:endParaRPr lang="en-US" sz="800" dirty="0">
                        <a:latin typeface="Arial" charset="0"/>
                        <a:ea typeface="Arial" charset="0"/>
                        <a:cs typeface="Arial" charset="0"/>
                      </a:endParaRPr>
                    </a:p>
                  </a:txBody>
                  <a:tcPr marL="27432" marR="27432" marT="27432" marB="27432" anchor="ctr">
                    <a:lnL w="6350" cap="flat" cmpd="sng" algn="ctr">
                      <a:solidFill>
                        <a:srgbClr val="2E6B68"/>
                      </a:solidFill>
                      <a:prstDash val="solid"/>
                      <a:round/>
                      <a:headEnd type="none" w="med" len="med"/>
                      <a:tailEnd type="none" w="med" len="med"/>
                    </a:lnL>
                    <a:lnR w="6350" cap="flat" cmpd="sng" algn="ctr">
                      <a:solidFill>
                        <a:srgbClr val="2E6B68"/>
                      </a:solidFill>
                      <a:prstDash val="solid"/>
                      <a:round/>
                      <a:headEnd type="none" w="med" len="med"/>
                      <a:tailEnd type="none" w="med" len="med"/>
                    </a:lnR>
                    <a:lnT w="6350" cap="flat" cmpd="sng" algn="ctr">
                      <a:solidFill>
                        <a:srgbClr val="2E6B68"/>
                      </a:solidFill>
                      <a:prstDash val="solid"/>
                      <a:round/>
                      <a:headEnd type="none" w="med" len="med"/>
                      <a:tailEnd type="none" w="med" len="med"/>
                    </a:lnT>
                    <a:lnB w="6350" cap="flat" cmpd="sng" algn="ctr">
                      <a:solidFill>
                        <a:srgbClr val="2E6B68"/>
                      </a:solidFill>
                      <a:prstDash val="solid"/>
                      <a:round/>
                      <a:headEnd type="none" w="med" len="med"/>
                      <a:tailEnd type="none" w="med" len="med"/>
                    </a:lnB>
                    <a:solidFill>
                      <a:srgbClr val="1B4A48"/>
                    </a:solidFill>
                  </a:tcPr>
                </a:tc>
                <a:tc>
                  <a:txBody>
                    <a:bodyPr/>
                    <a:lstStyle/>
                    <a:p>
                      <a:pPr indent="0" marL="0">
                        <a:buNone/>
                      </a:pPr>
                      <a:r>
                        <a:rPr lang="en-US" sz="800" dirty="0">
                          <a:solidFill>
                            <a:srgbClr val="BDB3A2"/>
                          </a:solidFill>
                          <a:latin typeface="Arial" pitchFamily="34" charset="0"/>
                          <a:ea typeface="Arial" pitchFamily="34" charset="-122"/>
                          <a:cs typeface="Arial" pitchFamily="34" charset="-120"/>
                        </a:rPr>
                        <a:t>first player whose held time reaches holdSeconds</a:t>
                      </a:r>
                      <a:endParaRPr lang="en-US" sz="800" dirty="0">
                        <a:latin typeface="Arial" charset="0"/>
                        <a:ea typeface="Arial" charset="0"/>
                        <a:cs typeface="Arial" charset="0"/>
                      </a:endParaRPr>
                    </a:p>
                  </a:txBody>
                  <a:tcPr marL="27432" marR="27432" marT="27432" marB="27432" anchor="ctr">
                    <a:lnL w="6350" cap="flat" cmpd="sng" algn="ctr">
                      <a:solidFill>
                        <a:srgbClr val="2E6B68"/>
                      </a:solidFill>
                      <a:prstDash val="solid"/>
                      <a:round/>
                      <a:headEnd type="none" w="med" len="med"/>
                      <a:tailEnd type="none" w="med" len="med"/>
                    </a:lnL>
                    <a:lnR w="6350" cap="flat" cmpd="sng" algn="ctr">
                      <a:solidFill>
                        <a:srgbClr val="2E6B68"/>
                      </a:solidFill>
                      <a:prstDash val="solid"/>
                      <a:round/>
                      <a:headEnd type="none" w="med" len="med"/>
                      <a:tailEnd type="none" w="med" len="med"/>
                    </a:lnR>
                    <a:lnT w="6350" cap="flat" cmpd="sng" algn="ctr">
                      <a:solidFill>
                        <a:srgbClr val="2E6B68"/>
                      </a:solidFill>
                      <a:prstDash val="solid"/>
                      <a:round/>
                      <a:headEnd type="none" w="med" len="med"/>
                      <a:tailEnd type="none" w="med" len="med"/>
                    </a:lnT>
                    <a:lnB w="6350" cap="flat" cmpd="sng" algn="ctr">
                      <a:solidFill>
                        <a:srgbClr val="2E6B68"/>
                      </a:solidFill>
                      <a:prstDash val="solid"/>
                      <a:round/>
                      <a:headEnd type="none" w="med" len="med"/>
                      <a:tailEnd type="none" w="med" len="med"/>
                    </a:lnB>
                    <a:solidFill>
                      <a:srgbClr val="1B4A48"/>
                    </a:solidFill>
                  </a:tcPr>
                </a:tc>
                <a:tc>
                  <a:txBody>
                    <a:bodyPr/>
                    <a:lstStyle/>
                    <a:p>
                      <a:pPr indent="0" marL="0">
                        <a:buNone/>
                      </a:pPr>
                      <a:r>
                        <a:rPr lang="en-US" sz="800" dirty="0">
                          <a:solidFill>
                            <a:srgbClr val="BDB3A2"/>
                          </a:solidFill>
                          <a:latin typeface="Arial" pitchFamily="34" charset="0"/>
                          <a:ea typeface="Arial" pitchFamily="34" charset="-122"/>
                          <a:cs typeface="Arial" pitchFamily="34" charset="-120"/>
                        </a:rPr>
                        <a:t>holdSeconds 3 to 60 s (default 10)</a:t>
                      </a:r>
                      <a:endParaRPr lang="en-US" sz="800" dirty="0">
                        <a:latin typeface="Arial" charset="0"/>
                        <a:ea typeface="Arial" charset="0"/>
                        <a:cs typeface="Arial" charset="0"/>
                      </a:endParaRPr>
                    </a:p>
                  </a:txBody>
                  <a:tcPr marL="27432" marR="27432" marT="27432" marB="27432" anchor="ctr">
                    <a:lnL w="6350" cap="flat" cmpd="sng" algn="ctr">
                      <a:solidFill>
                        <a:srgbClr val="2E6B68"/>
                      </a:solidFill>
                      <a:prstDash val="solid"/>
                      <a:round/>
                      <a:headEnd type="none" w="med" len="med"/>
                      <a:tailEnd type="none" w="med" len="med"/>
                    </a:lnL>
                    <a:lnR w="6350" cap="flat" cmpd="sng" algn="ctr">
                      <a:solidFill>
                        <a:srgbClr val="2E6B68"/>
                      </a:solidFill>
                      <a:prstDash val="solid"/>
                      <a:round/>
                      <a:headEnd type="none" w="med" len="med"/>
                      <a:tailEnd type="none" w="med" len="med"/>
                    </a:lnR>
                    <a:lnT w="6350" cap="flat" cmpd="sng" algn="ctr">
                      <a:solidFill>
                        <a:srgbClr val="2E6B68"/>
                      </a:solidFill>
                      <a:prstDash val="solid"/>
                      <a:round/>
                      <a:headEnd type="none" w="med" len="med"/>
                      <a:tailEnd type="none" w="med" len="med"/>
                    </a:lnT>
                    <a:lnB w="6350" cap="flat" cmpd="sng" algn="ctr">
                      <a:solidFill>
                        <a:srgbClr val="2E6B68"/>
                      </a:solidFill>
                      <a:prstDash val="solid"/>
                      <a:round/>
                      <a:headEnd type="none" w="med" len="med"/>
                      <a:tailEnd type="none" w="med" len="med"/>
                    </a:lnB>
                    <a:solidFill>
                      <a:srgbClr val="1B4A48"/>
                    </a:solidFill>
                  </a:tcPr>
                </a:tc>
              </a:tr>
              <a:tr h="228600">
                <a:tc>
                  <a:txBody>
                    <a:bodyPr/>
                    <a:lstStyle/>
                    <a:p>
                      <a:pPr indent="0" marL="0">
                        <a:buNone/>
                      </a:pPr>
                      <a:r>
                        <a:rPr lang="en-US" sz="800" b="1" dirty="0">
                          <a:solidFill>
                            <a:srgbClr val="EDE7DB"/>
                          </a:solidFill>
                          <a:latin typeface="Arial" pitchFamily="34" charset="0"/>
                          <a:ea typeface="Arial" pitchFamily="34" charset="-122"/>
                          <a:cs typeface="Arial" pitchFamily="34" charset="-120"/>
                        </a:rPr>
                        <a:t>checkpoint_race</a:t>
                      </a:r>
                      <a:endParaRPr lang="en-US" sz="800" dirty="0">
                        <a:latin typeface="Arial" charset="0"/>
                        <a:ea typeface="Arial" charset="0"/>
                        <a:cs typeface="Arial" charset="0"/>
                      </a:endParaRPr>
                    </a:p>
                  </a:txBody>
                  <a:tcPr marL="27432" marR="27432" marT="27432" marB="27432" anchor="ctr">
                    <a:lnL w="6350" cap="flat" cmpd="sng" algn="ctr">
                      <a:solidFill>
                        <a:srgbClr val="2E6B68"/>
                      </a:solidFill>
                      <a:prstDash val="solid"/>
                      <a:round/>
                      <a:headEnd type="none" w="med" len="med"/>
                      <a:tailEnd type="none" w="med" len="med"/>
                    </a:lnL>
                    <a:lnR w="6350" cap="flat" cmpd="sng" algn="ctr">
                      <a:solidFill>
                        <a:srgbClr val="2E6B68"/>
                      </a:solidFill>
                      <a:prstDash val="solid"/>
                      <a:round/>
                      <a:headEnd type="none" w="med" len="med"/>
                      <a:tailEnd type="none" w="med" len="med"/>
                    </a:lnR>
                    <a:lnT w="6350" cap="flat" cmpd="sng" algn="ctr">
                      <a:solidFill>
                        <a:srgbClr val="2E6B68"/>
                      </a:solidFill>
                      <a:prstDash val="solid"/>
                      <a:round/>
                      <a:headEnd type="none" w="med" len="med"/>
                      <a:tailEnd type="none" w="med" len="med"/>
                    </a:lnT>
                    <a:lnB w="6350" cap="flat" cmpd="sng" algn="ctr">
                      <a:solidFill>
                        <a:srgbClr val="2E6B68"/>
                      </a:solidFill>
                      <a:prstDash val="solid"/>
                      <a:round/>
                      <a:headEnd type="none" w="med" len="med"/>
                      <a:tailEnd type="none" w="med" len="med"/>
                    </a:lnB>
                    <a:solidFill>
                      <a:srgbClr val="1B4A48"/>
                    </a:solidFill>
                  </a:tcPr>
                </a:tc>
                <a:tc>
                  <a:txBody>
                    <a:bodyPr/>
                    <a:lstStyle/>
                    <a:p>
                      <a:pPr indent="0" marL="0">
                        <a:buNone/>
                      </a:pPr>
                      <a:r>
                        <a:rPr lang="en-US" sz="800" dirty="0">
                          <a:solidFill>
                            <a:srgbClr val="BDB3A2"/>
                          </a:solidFill>
                          <a:latin typeface="Arial" pitchFamily="34" charset="0"/>
                          <a:ea typeface="Arial" pitchFamily="34" charset="-122"/>
                          <a:cs typeface="Arial" pitchFamily="34" charset="-120"/>
                        </a:rPr>
                        <a:t>reach the relics as checkpoints, in order, then the gate</a:t>
                      </a:r>
                      <a:endParaRPr lang="en-US" sz="800" dirty="0">
                        <a:latin typeface="Arial" charset="0"/>
                        <a:ea typeface="Arial" charset="0"/>
                        <a:cs typeface="Arial" charset="0"/>
                      </a:endParaRPr>
                    </a:p>
                  </a:txBody>
                  <a:tcPr marL="27432" marR="27432" marT="27432" marB="27432" anchor="ctr">
                    <a:lnL w="6350" cap="flat" cmpd="sng" algn="ctr">
                      <a:solidFill>
                        <a:srgbClr val="2E6B68"/>
                      </a:solidFill>
                      <a:prstDash val="solid"/>
                      <a:round/>
                      <a:headEnd type="none" w="med" len="med"/>
                      <a:tailEnd type="none" w="med" len="med"/>
                    </a:lnL>
                    <a:lnR w="6350" cap="flat" cmpd="sng" algn="ctr">
                      <a:solidFill>
                        <a:srgbClr val="2E6B68"/>
                      </a:solidFill>
                      <a:prstDash val="solid"/>
                      <a:round/>
                      <a:headEnd type="none" w="med" len="med"/>
                      <a:tailEnd type="none" w="med" len="med"/>
                    </a:lnR>
                    <a:lnT w="6350" cap="flat" cmpd="sng" algn="ctr">
                      <a:solidFill>
                        <a:srgbClr val="2E6B68"/>
                      </a:solidFill>
                      <a:prstDash val="solid"/>
                      <a:round/>
                      <a:headEnd type="none" w="med" len="med"/>
                      <a:tailEnd type="none" w="med" len="med"/>
                    </a:lnT>
                    <a:lnB w="6350" cap="flat" cmpd="sng" algn="ctr">
                      <a:solidFill>
                        <a:srgbClr val="2E6B68"/>
                      </a:solidFill>
                      <a:prstDash val="solid"/>
                      <a:round/>
                      <a:headEnd type="none" w="med" len="med"/>
                      <a:tailEnd type="none" w="med" len="med"/>
                    </a:lnB>
                    <a:solidFill>
                      <a:srgbClr val="1B4A48"/>
                    </a:solidFill>
                  </a:tcPr>
                </a:tc>
                <a:tc>
                  <a:txBody>
                    <a:bodyPr/>
                    <a:lstStyle/>
                    <a:p>
                      <a:pPr indent="0" marL="0">
                        <a:buNone/>
                      </a:pPr>
                      <a:r>
                        <a:rPr lang="en-US" sz="800" dirty="0">
                          <a:solidFill>
                            <a:srgbClr val="BDB3A2"/>
                          </a:solidFill>
                          <a:latin typeface="Arial" pitchFamily="34" charset="0"/>
                          <a:ea typeface="Arial" pitchFamily="34" charset="-122"/>
                          <a:cs typeface="Arial" pitchFamily="34" charset="-120"/>
                        </a:rPr>
                        <a:t>every checkpoint, then the gate</a:t>
                      </a:r>
                      <a:endParaRPr lang="en-US" sz="800" dirty="0">
                        <a:latin typeface="Arial" charset="0"/>
                        <a:ea typeface="Arial" charset="0"/>
                        <a:cs typeface="Arial" charset="0"/>
                      </a:endParaRPr>
                    </a:p>
                  </a:txBody>
                  <a:tcPr marL="27432" marR="27432" marT="27432" marB="27432" anchor="ctr">
                    <a:lnL w="6350" cap="flat" cmpd="sng" algn="ctr">
                      <a:solidFill>
                        <a:srgbClr val="2E6B68"/>
                      </a:solidFill>
                      <a:prstDash val="solid"/>
                      <a:round/>
                      <a:headEnd type="none" w="med" len="med"/>
                      <a:tailEnd type="none" w="med" len="med"/>
                    </a:lnL>
                    <a:lnR w="6350" cap="flat" cmpd="sng" algn="ctr">
                      <a:solidFill>
                        <a:srgbClr val="2E6B68"/>
                      </a:solidFill>
                      <a:prstDash val="solid"/>
                      <a:round/>
                      <a:headEnd type="none" w="med" len="med"/>
                      <a:tailEnd type="none" w="med" len="med"/>
                    </a:lnR>
                    <a:lnT w="6350" cap="flat" cmpd="sng" algn="ctr">
                      <a:solidFill>
                        <a:srgbClr val="2E6B68"/>
                      </a:solidFill>
                      <a:prstDash val="solid"/>
                      <a:round/>
                      <a:headEnd type="none" w="med" len="med"/>
                      <a:tailEnd type="none" w="med" len="med"/>
                    </a:lnT>
                    <a:lnB w="6350" cap="flat" cmpd="sng" algn="ctr">
                      <a:solidFill>
                        <a:srgbClr val="2E6B68"/>
                      </a:solidFill>
                      <a:prstDash val="solid"/>
                      <a:round/>
                      <a:headEnd type="none" w="med" len="med"/>
                      <a:tailEnd type="none" w="med" len="med"/>
                    </a:lnB>
                    <a:solidFill>
                      <a:srgbClr val="1B4A48"/>
                    </a:solidFill>
                  </a:tcPr>
                </a:tc>
                <a:tc>
                  <a:txBody>
                    <a:bodyPr/>
                    <a:lstStyle/>
                    <a:p>
                      <a:pPr indent="0" marL="0">
                        <a:buNone/>
                      </a:pPr>
                      <a:r>
                        <a:rPr lang="en-US" sz="800" dirty="0">
                          <a:solidFill>
                            <a:srgbClr val="BDB3A2"/>
                          </a:solidFill>
                          <a:latin typeface="Arial" pitchFamily="34" charset="0"/>
                          <a:ea typeface="Arial" pitchFamily="34" charset="-122"/>
                          <a:cs typeface="Arial" pitchFamily="34" charset="-120"/>
                        </a:rPr>
                        <a:t>orderedCheckpoints; at least 2 relics</a:t>
                      </a:r>
                      <a:endParaRPr lang="en-US" sz="800" dirty="0">
                        <a:latin typeface="Arial" charset="0"/>
                        <a:ea typeface="Arial" charset="0"/>
                        <a:cs typeface="Arial" charset="0"/>
                      </a:endParaRPr>
                    </a:p>
                  </a:txBody>
                  <a:tcPr marL="27432" marR="27432" marT="27432" marB="27432" anchor="ctr">
                    <a:lnL w="6350" cap="flat" cmpd="sng" algn="ctr">
                      <a:solidFill>
                        <a:srgbClr val="2E6B68"/>
                      </a:solidFill>
                      <a:prstDash val="solid"/>
                      <a:round/>
                      <a:headEnd type="none" w="med" len="med"/>
                      <a:tailEnd type="none" w="med" len="med"/>
                    </a:lnL>
                    <a:lnR w="6350" cap="flat" cmpd="sng" algn="ctr">
                      <a:solidFill>
                        <a:srgbClr val="2E6B68"/>
                      </a:solidFill>
                      <a:prstDash val="solid"/>
                      <a:round/>
                      <a:headEnd type="none" w="med" len="med"/>
                      <a:tailEnd type="none" w="med" len="med"/>
                    </a:lnR>
                    <a:lnT w="6350" cap="flat" cmpd="sng" algn="ctr">
                      <a:solidFill>
                        <a:srgbClr val="2E6B68"/>
                      </a:solidFill>
                      <a:prstDash val="solid"/>
                      <a:round/>
                      <a:headEnd type="none" w="med" len="med"/>
                      <a:tailEnd type="none" w="med" len="med"/>
                    </a:lnT>
                    <a:lnB w="6350" cap="flat" cmpd="sng" algn="ctr">
                      <a:solidFill>
                        <a:srgbClr val="2E6B68"/>
                      </a:solidFill>
                      <a:prstDash val="solid"/>
                      <a:round/>
                      <a:headEnd type="none" w="med" len="med"/>
                      <a:tailEnd type="none" w="med" len="med"/>
                    </a:lnB>
                    <a:solidFill>
                      <a:srgbClr val="1B4A48"/>
                    </a:solidFill>
                  </a:tcPr>
                </a:tc>
              </a:tr>
              <a:tr h="228600">
                <a:tc>
                  <a:txBody>
                    <a:bodyPr/>
                    <a:lstStyle/>
                    <a:p>
                      <a:pPr indent="0" marL="0">
                        <a:buNone/>
                      </a:pPr>
                      <a:r>
                        <a:rPr lang="en-US" sz="800" b="1" dirty="0">
                          <a:solidFill>
                            <a:srgbClr val="EDE7DB"/>
                          </a:solidFill>
                          <a:latin typeface="Arial" pitchFamily="34" charset="0"/>
                          <a:ea typeface="Arial" pitchFamily="34" charset="-122"/>
                          <a:cs typeface="Arial" pitchFamily="34" charset="-120"/>
                        </a:rPr>
                        <a:t>survival</a:t>
                      </a:r>
                      <a:endParaRPr lang="en-US" sz="800" dirty="0">
                        <a:latin typeface="Arial" charset="0"/>
                        <a:ea typeface="Arial" charset="0"/>
                        <a:cs typeface="Arial" charset="0"/>
                      </a:endParaRPr>
                    </a:p>
                  </a:txBody>
                  <a:tcPr marL="27432" marR="27432" marT="27432" marB="27432" anchor="ctr">
                    <a:lnL w="6350" cap="flat" cmpd="sng" algn="ctr">
                      <a:solidFill>
                        <a:srgbClr val="2E6B68"/>
                      </a:solidFill>
                      <a:prstDash val="solid"/>
                      <a:round/>
                      <a:headEnd type="none" w="med" len="med"/>
                      <a:tailEnd type="none" w="med" len="med"/>
                    </a:lnL>
                    <a:lnR w="6350" cap="flat" cmpd="sng" algn="ctr">
                      <a:solidFill>
                        <a:srgbClr val="2E6B68"/>
                      </a:solidFill>
                      <a:prstDash val="solid"/>
                      <a:round/>
                      <a:headEnd type="none" w="med" len="med"/>
                      <a:tailEnd type="none" w="med" len="med"/>
                    </a:lnR>
                    <a:lnT w="6350" cap="flat" cmpd="sng" algn="ctr">
                      <a:solidFill>
                        <a:srgbClr val="2E6B68"/>
                      </a:solidFill>
                      <a:prstDash val="solid"/>
                      <a:round/>
                      <a:headEnd type="none" w="med" len="med"/>
                      <a:tailEnd type="none" w="med" len="med"/>
                    </a:lnT>
                    <a:lnB w="6350" cap="flat" cmpd="sng" algn="ctr">
                      <a:solidFill>
                        <a:srgbClr val="2E6B68"/>
                      </a:solidFill>
                      <a:prstDash val="solid"/>
                      <a:round/>
                      <a:headEnd type="none" w="med" len="med"/>
                      <a:tailEnd type="none" w="med" len="med"/>
                    </a:lnB>
                    <a:solidFill>
                      <a:srgbClr val="1B4A48"/>
                    </a:solidFill>
                  </a:tcPr>
                </a:tc>
                <a:tc>
                  <a:txBody>
                    <a:bodyPr/>
                    <a:lstStyle/>
                    <a:p>
                      <a:pPr indent="0" marL="0">
                        <a:buNone/>
                      </a:pPr>
                      <a:r>
                        <a:rPr lang="en-US" sz="800" dirty="0">
                          <a:solidFill>
                            <a:srgbClr val="BDB3A2"/>
                          </a:solidFill>
                          <a:latin typeface="Arial" pitchFamily="34" charset="0"/>
                          <a:ea typeface="Arial" pitchFamily="34" charset="-122"/>
                          <a:cs typeface="Arial" pitchFamily="34" charset="-120"/>
                        </a:rPr>
                        <a:t>grab a relic and reach the gate while the hazard rises and bridges submerge</a:t>
                      </a:r>
                      <a:endParaRPr lang="en-US" sz="800" dirty="0">
                        <a:latin typeface="Arial" charset="0"/>
                        <a:ea typeface="Arial" charset="0"/>
                        <a:cs typeface="Arial" charset="0"/>
                      </a:endParaRPr>
                    </a:p>
                  </a:txBody>
                  <a:tcPr marL="27432" marR="27432" marT="27432" marB="27432" anchor="ctr">
                    <a:lnL w="6350" cap="flat" cmpd="sng" algn="ctr">
                      <a:solidFill>
                        <a:srgbClr val="2E6B68"/>
                      </a:solidFill>
                      <a:prstDash val="solid"/>
                      <a:round/>
                      <a:headEnd type="none" w="med" len="med"/>
                      <a:tailEnd type="none" w="med" len="med"/>
                    </a:lnL>
                    <a:lnR w="6350" cap="flat" cmpd="sng" algn="ctr">
                      <a:solidFill>
                        <a:srgbClr val="2E6B68"/>
                      </a:solidFill>
                      <a:prstDash val="solid"/>
                      <a:round/>
                      <a:headEnd type="none" w="med" len="med"/>
                      <a:tailEnd type="none" w="med" len="med"/>
                    </a:lnR>
                    <a:lnT w="6350" cap="flat" cmpd="sng" algn="ctr">
                      <a:solidFill>
                        <a:srgbClr val="2E6B68"/>
                      </a:solidFill>
                      <a:prstDash val="solid"/>
                      <a:round/>
                      <a:headEnd type="none" w="med" len="med"/>
                      <a:tailEnd type="none" w="med" len="med"/>
                    </a:lnT>
                    <a:lnB w="6350" cap="flat" cmpd="sng" algn="ctr">
                      <a:solidFill>
                        <a:srgbClr val="2E6B68"/>
                      </a:solidFill>
                      <a:prstDash val="solid"/>
                      <a:round/>
                      <a:headEnd type="none" w="med" len="med"/>
                      <a:tailEnd type="none" w="med" len="med"/>
                    </a:lnB>
                    <a:solidFill>
                      <a:srgbClr val="1B4A48"/>
                    </a:solidFill>
                  </a:tcPr>
                </a:tc>
                <a:tc>
                  <a:txBody>
                    <a:bodyPr/>
                    <a:lstStyle/>
                    <a:p>
                      <a:pPr indent="0" marL="0">
                        <a:buNone/>
                      </a:pPr>
                      <a:r>
                        <a:rPr lang="en-US" sz="800" dirty="0">
                          <a:solidFill>
                            <a:srgbClr val="BDB3A2"/>
                          </a:solidFill>
                          <a:latin typeface="Arial" pitchFamily="34" charset="0"/>
                          <a:ea typeface="Arial" pitchFamily="34" charset="-122"/>
                          <a:cs typeface="Arial" pitchFamily="34" charset="-120"/>
                        </a:rPr>
                        <a:t>relic plus gate before timeLimitSec; lost when it expires</a:t>
                      </a:r>
                      <a:endParaRPr lang="en-US" sz="800" dirty="0">
                        <a:latin typeface="Arial" charset="0"/>
                        <a:ea typeface="Arial" charset="0"/>
                        <a:cs typeface="Arial" charset="0"/>
                      </a:endParaRPr>
                    </a:p>
                  </a:txBody>
                  <a:tcPr marL="27432" marR="27432" marT="27432" marB="27432" anchor="ctr">
                    <a:lnL w="6350" cap="flat" cmpd="sng" algn="ctr">
                      <a:solidFill>
                        <a:srgbClr val="2E6B68"/>
                      </a:solidFill>
                      <a:prstDash val="solid"/>
                      <a:round/>
                      <a:headEnd type="none" w="med" len="med"/>
                      <a:tailEnd type="none" w="med" len="med"/>
                    </a:lnL>
                    <a:lnR w="6350" cap="flat" cmpd="sng" algn="ctr">
                      <a:solidFill>
                        <a:srgbClr val="2E6B68"/>
                      </a:solidFill>
                      <a:prstDash val="solid"/>
                      <a:round/>
                      <a:headEnd type="none" w="med" len="med"/>
                      <a:tailEnd type="none" w="med" len="med"/>
                    </a:lnR>
                    <a:lnT w="6350" cap="flat" cmpd="sng" algn="ctr">
                      <a:solidFill>
                        <a:srgbClr val="2E6B68"/>
                      </a:solidFill>
                      <a:prstDash val="solid"/>
                      <a:round/>
                      <a:headEnd type="none" w="med" len="med"/>
                      <a:tailEnd type="none" w="med" len="med"/>
                    </a:lnT>
                    <a:lnB w="6350" cap="flat" cmpd="sng" algn="ctr">
                      <a:solidFill>
                        <a:srgbClr val="2E6B68"/>
                      </a:solidFill>
                      <a:prstDash val="solid"/>
                      <a:round/>
                      <a:headEnd type="none" w="med" len="med"/>
                      <a:tailEnd type="none" w="med" len="med"/>
                    </a:lnB>
                    <a:solidFill>
                      <a:srgbClr val="1B4A48"/>
                    </a:solidFill>
                  </a:tcPr>
                </a:tc>
                <a:tc>
                  <a:txBody>
                    <a:bodyPr/>
                    <a:lstStyle/>
                    <a:p>
                      <a:pPr indent="0" marL="0">
                        <a:buNone/>
                      </a:pPr>
                      <a:r>
                        <a:rPr lang="en-US" sz="800" dirty="0">
                          <a:solidFill>
                            <a:srgbClr val="BDB3A2"/>
                          </a:solidFill>
                          <a:latin typeface="Arial" pitchFamily="34" charset="0"/>
                          <a:ea typeface="Arial" pitchFamily="34" charset="-122"/>
                          <a:cs typeface="Arial" pitchFamily="34" charset="-120"/>
                        </a:rPr>
                        <a:t>hazard.rise afterSec, metersPerSec, maxElevation; timeLimitSec</a:t>
                      </a:r>
                      <a:endParaRPr lang="en-US" sz="800" dirty="0">
                        <a:latin typeface="Arial" charset="0"/>
                        <a:ea typeface="Arial" charset="0"/>
                        <a:cs typeface="Arial" charset="0"/>
                      </a:endParaRPr>
                    </a:p>
                  </a:txBody>
                  <a:tcPr marL="27432" marR="27432" marT="27432" marB="27432" anchor="ctr">
                    <a:lnL w="6350" cap="flat" cmpd="sng" algn="ctr">
                      <a:solidFill>
                        <a:srgbClr val="2E6B68"/>
                      </a:solidFill>
                      <a:prstDash val="solid"/>
                      <a:round/>
                      <a:headEnd type="none" w="med" len="med"/>
                      <a:tailEnd type="none" w="med" len="med"/>
                    </a:lnL>
                    <a:lnR w="6350" cap="flat" cmpd="sng" algn="ctr">
                      <a:solidFill>
                        <a:srgbClr val="2E6B68"/>
                      </a:solidFill>
                      <a:prstDash val="solid"/>
                      <a:round/>
                      <a:headEnd type="none" w="med" len="med"/>
                      <a:tailEnd type="none" w="med" len="med"/>
                    </a:lnR>
                    <a:lnT w="6350" cap="flat" cmpd="sng" algn="ctr">
                      <a:solidFill>
                        <a:srgbClr val="2E6B68"/>
                      </a:solidFill>
                      <a:prstDash val="solid"/>
                      <a:round/>
                      <a:headEnd type="none" w="med" len="med"/>
                      <a:tailEnd type="none" w="med" len="med"/>
                    </a:lnT>
                    <a:lnB w="6350" cap="flat" cmpd="sng" algn="ctr">
                      <a:solidFill>
                        <a:srgbClr val="2E6B68"/>
                      </a:solidFill>
                      <a:prstDash val="solid"/>
                      <a:round/>
                      <a:headEnd type="none" w="med" len="med"/>
                      <a:tailEnd type="none" w="med" len="med"/>
                    </a:lnB>
                    <a:solidFill>
                      <a:srgbClr val="1B4A48"/>
                    </a:solidFill>
                  </a:tcPr>
                </a:tc>
              </a:tr>
            </a:tbl>
          </a:graphicData>
        </a:graphic>
      </p:graphicFrame>
      <p:sp>
        <p:nvSpPr>
          <p:cNvPr id="33" name="library text"/>
          <p:cNvSpPr txBox="1"/>
          <p:nvPr/>
        </p:nvSpPr>
        <p:spPr>
          <a:xfrm>
            <a:off x="457200" y="3959352"/>
            <a:ext cx="8229600" cy="402336"/>
          </a:xfrm>
          <a:prstGeom prst="rect">
            <a:avLst/>
          </a:prstGeom>
          <a:noFill/>
          <a:ln/>
        </p:spPr>
        <p:txBody>
          <a:bodyPr wrap="square" lIns="0" tIns="0" rIns="0" bIns="0" rtlCol="0" anchor="t"/>
          <a:lstStyle/>
          <a:p>
            <a:pPr indent="0" marL="0">
              <a:buNone/>
            </a:pPr>
            <a:r>
              <a:rPr lang="en-US" sz="900" b="1" dirty="0">
                <a:solidFill>
                  <a:schemeClr val="accent1"/>
                </a:solidFill>
              </a:rPr>
              <a:t>Biomes </a:t>
            </a:r>
            <a:pPr indent="0" marL="0">
              <a:buNone/>
            </a:pPr>
            <a:r>
              <a:rPr lang="en-US" sz="900" dirty="0">
                <a:solidFill>
                  <a:schemeClr val="tx1"/>
                </a:solidFill>
              </a:rPr>
              <a:t>garden, volcanic, frost, desert, night.   </a:t>
            </a:r>
            <a:pPr indent="0" marL="0">
              <a:buNone/>
            </a:pPr>
            <a:r>
              <a:rPr lang="en-US" sz="900" b="1" dirty="0">
                <a:solidFill>
                  <a:schemeClr val="accent1"/>
                </a:solidFill>
              </a:rPr>
              <a:t>Hazard and pace </a:t>
            </a:r>
            <a:pPr indent="0" marL="0">
              <a:buNone/>
            </a:pPr>
            <a:r>
              <a:rPr lang="en-US" sz="900" dirty="0">
                <a:solidFill>
                  <a:schemeClr val="tx1"/>
                </a:solidFill>
              </a:rPr>
              <a:t>water or lava, a rising hazard, 3 to 7 m/s, 11 decoration types.   </a:t>
            </a:r>
            <a:pPr indent="0" marL="0">
              <a:buNone/>
            </a:pPr>
            <a:r>
              <a:rPr lang="en-US" sz="900" b="1" dirty="0">
                <a:solidFill>
                  <a:schemeClr val="accent1"/>
                </a:solidFill>
              </a:rPr>
              <a:t>Changed live, no reset </a:t>
            </a:r>
            <a:pPr indent="0" marL="0">
              <a:buNone/>
            </a:pPr>
            <a:r>
              <a:rPr lang="en-US" sz="900" dirty="0">
                <a:solidFill>
                  <a:schemeClr val="tx1"/>
                </a:solidFill>
              </a:rPr>
              <a:t>set_mode, set_biome, set_movement and the structural ops, each validated and committed as a new version.   </a:t>
            </a:r>
            <a:pPr indent="0" marL="0">
              <a:buNone/>
            </a:pPr>
            <a:r>
              <a:rPr lang="en-US" sz="900" b="1" dirty="0">
                <a:solidFill>
                  <a:schemeClr val="accent1"/>
                </a:solidFill>
              </a:rPr>
              <a:t>Streaming </a:t>
            </a:r>
            <a:pPr indent="0" marL="0">
              <a:buNone/>
            </a:pPr>
            <a:r>
              <a:rPr lang="en-US" sz="900" dirty="0">
                <a:solidFill>
                  <a:schemeClr val="tx1"/>
                </a:solidFill>
              </a:rPr>
              <a:t>extends the world ahead of players near an edge, up to 24 islands and 48 bridges; the director can switch it off.</a:t>
            </a:r>
            <a:endParaRPr lang="en-US" sz="900" dirty="0"/>
          </a:p>
        </p:txBody>
      </p:sp>
      <p:sp>
        <p:nvSpPr>
          <p:cNvPr id="34" name="category note"/>
          <p:cNvSpPr txBox="1"/>
          <p:nvPr/>
        </p:nvSpPr>
        <p:spPr>
          <a:xfrm>
            <a:off x="457200" y="4425696"/>
            <a:ext cx="8229600" cy="310896"/>
          </a:xfrm>
          <a:prstGeom prst="rect">
            <a:avLst/>
          </a:prstGeom>
          <a:noFill/>
          <a:ln/>
        </p:spPr>
        <p:txBody>
          <a:bodyPr wrap="square" lIns="0" tIns="0" rIns="0" bIns="0" rtlCol="0" anchor="ctr"/>
          <a:lstStyle/>
          <a:p>
            <a:pPr indent="0" marL="0">
              <a:buNone/>
            </a:pPr>
            <a:r>
              <a:rPr lang="en-US" sz="750" i="1" dirty="0">
                <a:solidFill>
                  <a:schemeClr val="tx2"/>
                </a:solidFill>
              </a:rPr>
              <a:t>Adapted from one-prompt game generators: the one-prompt front door and instant playable output. Added: live editing without a reset, deterministic validation and repair before publish, local-only inference, phones as controllers (docs/COMPETITIVE.md). A request outside the library lands on the nearest mode and the agent says so.</a:t>
            </a:r>
            <a:endParaRPr lang="en-US" sz="75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BDB3A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6766560" cy="685800"/>
          </a:xfrm>
          <a:prstGeom prst="rect">
            <a:avLst/>
          </a:prstGeom>
          <a:noFill/>
          <a:ln/>
        </p:spPr>
        <p:txBody>
          <a:bodyPr wrap="square" lIns="0" tIns="0" rIns="0" bIns="0" rtlCol="0" anchor="ctr"/>
          <a:lstStyle/>
          <a:p>
            <a:pPr algn="l" indent="0" marL="0">
              <a:buNone/>
            </a:pPr>
            <a:r>
              <a:rPr lang="en-US" sz="2600" b="1" dirty="0">
                <a:solidFill>
                  <a:schemeClr val="tx1"/>
                </a:solidFill>
              </a:rPr>
              <a:t>The working video</a:t>
            </a:r>
            <a:endParaRPr lang="en-US" sz="2600" dirty="0"/>
          </a:p>
        </p:txBody>
      </p:sp>
      <p:sp>
        <p:nvSpPr>
          <p:cNvPr id="3" name="beetle leg"/>
          <p:cNvSpPr/>
          <p:nvPr/>
        </p:nvSpPr>
        <p:spPr>
          <a:xfrm flipH="1" flipV="1">
            <a:off x="7339395" y="493118"/>
            <a:ext cx="84491" cy="46086"/>
          </a:xfrm>
          <a:prstGeom prst="line">
            <a:avLst/>
          </a:prstGeom>
          <a:noFill/>
          <a:ln w="15875">
            <a:solidFill>
              <a:schemeClr val="tx1"/>
            </a:solidFill>
            <a:prstDash val="solid"/>
          </a:ln>
        </p:spPr>
      </p:sp>
      <p:sp>
        <p:nvSpPr>
          <p:cNvPr id="4" name="beetle leg"/>
          <p:cNvSpPr/>
          <p:nvPr/>
        </p:nvSpPr>
        <p:spPr>
          <a:xfrm flipH="1">
            <a:off x="7307903" y="622158"/>
            <a:ext cx="92172" cy="914"/>
          </a:xfrm>
          <a:prstGeom prst="line">
            <a:avLst/>
          </a:prstGeom>
          <a:noFill/>
          <a:ln w="15875">
            <a:solidFill>
              <a:schemeClr val="tx1"/>
            </a:solidFill>
            <a:prstDash val="solid"/>
          </a:ln>
        </p:spPr>
      </p:sp>
      <p:sp>
        <p:nvSpPr>
          <p:cNvPr id="5" name="beetle leg"/>
          <p:cNvSpPr/>
          <p:nvPr/>
        </p:nvSpPr>
        <p:spPr>
          <a:xfrm flipH="1">
            <a:off x="7332252" y="705112"/>
            <a:ext cx="84491" cy="46086"/>
          </a:xfrm>
          <a:prstGeom prst="line">
            <a:avLst/>
          </a:prstGeom>
          <a:noFill/>
          <a:ln w="15875">
            <a:solidFill>
              <a:schemeClr val="tx1"/>
            </a:solidFill>
            <a:prstDash val="solid"/>
          </a:ln>
        </p:spPr>
      </p:sp>
      <p:sp>
        <p:nvSpPr>
          <p:cNvPr id="6" name="beetle leg"/>
          <p:cNvSpPr/>
          <p:nvPr/>
        </p:nvSpPr>
        <p:spPr>
          <a:xfrm flipV="1">
            <a:off x="7590562" y="493118"/>
            <a:ext cx="84491" cy="46086"/>
          </a:xfrm>
          <a:prstGeom prst="line">
            <a:avLst/>
          </a:prstGeom>
          <a:noFill/>
          <a:ln w="15875">
            <a:solidFill>
              <a:schemeClr val="tx1"/>
            </a:solidFill>
            <a:prstDash val="solid"/>
          </a:ln>
        </p:spPr>
      </p:sp>
      <p:sp>
        <p:nvSpPr>
          <p:cNvPr id="7" name="beetle leg"/>
          <p:cNvSpPr/>
          <p:nvPr/>
        </p:nvSpPr>
        <p:spPr>
          <a:xfrm>
            <a:off x="7614373" y="622158"/>
            <a:ext cx="92172" cy="914"/>
          </a:xfrm>
          <a:prstGeom prst="line">
            <a:avLst/>
          </a:prstGeom>
          <a:noFill/>
          <a:ln w="15875">
            <a:solidFill>
              <a:schemeClr val="tx1"/>
            </a:solidFill>
            <a:prstDash val="solid"/>
          </a:ln>
        </p:spPr>
      </p:sp>
      <p:sp>
        <p:nvSpPr>
          <p:cNvPr id="8" name="beetle leg"/>
          <p:cNvSpPr/>
          <p:nvPr/>
        </p:nvSpPr>
        <p:spPr>
          <a:xfrm>
            <a:off x="7597706" y="705112"/>
            <a:ext cx="84491" cy="46086"/>
          </a:xfrm>
          <a:prstGeom prst="line">
            <a:avLst/>
          </a:prstGeom>
          <a:noFill/>
          <a:ln w="15875">
            <a:solidFill>
              <a:schemeClr val="tx1"/>
            </a:solidFill>
            <a:prstDash val="solid"/>
          </a:ln>
        </p:spPr>
      </p:sp>
      <p:sp>
        <p:nvSpPr>
          <p:cNvPr id="9" name="beetle antenna"/>
          <p:cNvSpPr/>
          <p:nvPr/>
        </p:nvSpPr>
        <p:spPr>
          <a:xfrm flipV="1">
            <a:off x="7395850" y="384048"/>
            <a:ext cx="61448" cy="46086"/>
          </a:xfrm>
          <a:prstGeom prst="line">
            <a:avLst/>
          </a:prstGeom>
          <a:noFill/>
          <a:ln w="15875">
            <a:solidFill>
              <a:schemeClr val="tx1"/>
            </a:solidFill>
            <a:prstDash val="solid"/>
          </a:ln>
        </p:spPr>
      </p:sp>
      <p:sp>
        <p:nvSpPr>
          <p:cNvPr id="10" name="beetle antenna"/>
          <p:cNvSpPr/>
          <p:nvPr/>
        </p:nvSpPr>
        <p:spPr>
          <a:xfrm>
            <a:off x="7557150" y="384048"/>
            <a:ext cx="61448" cy="46086"/>
          </a:xfrm>
          <a:prstGeom prst="line">
            <a:avLst/>
          </a:prstGeom>
          <a:noFill/>
          <a:ln w="15875">
            <a:solidFill>
              <a:schemeClr val="tx1"/>
            </a:solidFill>
            <a:prstDash val="solid"/>
          </a:ln>
        </p:spPr>
      </p:sp>
      <p:sp>
        <p:nvSpPr>
          <p:cNvPr id="11" name="beetle head"/>
          <p:cNvSpPr/>
          <p:nvPr/>
        </p:nvSpPr>
        <p:spPr>
          <a:xfrm>
            <a:off x="7449617" y="414772"/>
            <a:ext cx="115214" cy="92172"/>
          </a:xfrm>
          <a:prstGeom prst="ellipse">
            <a:avLst/>
          </a:prstGeom>
          <a:solidFill>
            <a:schemeClr val="accent1"/>
          </a:solidFill>
          <a:ln w="6350">
            <a:solidFill>
              <a:schemeClr val="accent1"/>
            </a:solidFill>
            <a:prstDash val="solid"/>
          </a:ln>
        </p:spPr>
      </p:sp>
      <p:sp>
        <p:nvSpPr>
          <p:cNvPr id="12" name="beetle body"/>
          <p:cNvSpPr/>
          <p:nvPr/>
        </p:nvSpPr>
        <p:spPr>
          <a:xfrm>
            <a:off x="7388169" y="483900"/>
            <a:ext cx="238110" cy="276515"/>
          </a:xfrm>
          <a:prstGeom prst="ellipse">
            <a:avLst/>
          </a:prstGeom>
          <a:solidFill>
            <a:schemeClr val="accent1"/>
          </a:solidFill>
          <a:ln w="6350">
            <a:solidFill>
              <a:schemeClr val="accent1"/>
            </a:solidFill>
            <a:prstDash val="solid"/>
          </a:ln>
        </p:spPr>
      </p:sp>
      <p:sp>
        <p:nvSpPr>
          <p:cNvPr id="13" name="beetle split"/>
          <p:cNvSpPr/>
          <p:nvPr/>
        </p:nvSpPr>
        <p:spPr>
          <a:xfrm>
            <a:off x="7507224" y="517082"/>
            <a:ext cx="914" cy="221212"/>
          </a:xfrm>
          <a:prstGeom prst="line">
            <a:avLst/>
          </a:prstGeom>
          <a:noFill/>
          <a:ln w="19050">
            <a:solidFill>
              <a:schemeClr val="bg1"/>
            </a:solidFill>
            <a:prstDash val="solid"/>
          </a:ln>
        </p:spPr>
      </p:sp>
      <p:sp>
        <p:nvSpPr>
          <p:cNvPr id="14" name="wordmark"/>
          <p:cNvSpPr txBox="1"/>
          <p:nvPr/>
        </p:nvSpPr>
        <p:spPr>
          <a:xfrm>
            <a:off x="7772400" y="384048"/>
            <a:ext cx="1591056" cy="384048"/>
          </a:xfrm>
          <a:prstGeom prst="rect">
            <a:avLst/>
          </a:prstGeom>
          <a:noFill/>
          <a:ln/>
        </p:spPr>
        <p:txBody>
          <a:bodyPr wrap="square" lIns="0" tIns="0" rIns="0" bIns="0" rtlCol="0" anchor="ctr"/>
          <a:lstStyle/>
          <a:p>
            <a:pPr indent="0" marL="0">
              <a:buNone/>
            </a:pPr>
            <a:r>
              <a:rPr lang="en-US" sz="1600" b="1" spc="400" kern="0" dirty="0">
                <a:solidFill>
                  <a:schemeClr val="tx1"/>
                </a:solidFill>
              </a:rPr>
              <a:t>BEETLE</a:t>
            </a:r>
            <a:endParaRPr lang="en-US" sz="1600" dirty="0"/>
          </a:p>
        </p:txBody>
      </p:sp>
      <p:sp>
        <p:nvSpPr>
          <p:cNvPr id="15" name="video placeholder frame"/>
          <p:cNvSpPr/>
          <p:nvPr/>
        </p:nvSpPr>
        <p:spPr>
          <a:xfrm>
            <a:off x="457200" y="1188720"/>
            <a:ext cx="4846320" cy="2726055"/>
          </a:xfrm>
          <a:prstGeom prst="roundRect">
            <a:avLst>
              <a:gd name="adj" fmla="val 2013"/>
            </a:avLst>
          </a:prstGeom>
          <a:solidFill>
            <a:schemeClr val="bg2"/>
          </a:solidFill>
          <a:ln w="19050">
            <a:solidFill>
              <a:schemeClr val="accent3"/>
            </a:solidFill>
            <a:prstDash val="dash"/>
          </a:ln>
        </p:spPr>
      </p:sp>
      <p:sp>
        <p:nvSpPr>
          <p:cNvPr id="16" name="play circle"/>
          <p:cNvSpPr/>
          <p:nvPr/>
        </p:nvSpPr>
        <p:spPr>
          <a:xfrm>
            <a:off x="2560320" y="2003107"/>
            <a:ext cx="640080" cy="640080"/>
          </a:xfrm>
          <a:prstGeom prst="ellipse">
            <a:avLst/>
          </a:prstGeom>
          <a:solidFill>
            <a:schemeClr val="accent1"/>
          </a:solidFill>
          <a:ln w="6350">
            <a:solidFill>
              <a:schemeClr val="accent1"/>
            </a:solidFill>
            <a:prstDash val="solid"/>
          </a:ln>
        </p:spPr>
      </p:sp>
      <p:sp>
        <p:nvSpPr>
          <p:cNvPr id="17" name="play triangle"/>
          <p:cNvSpPr/>
          <p:nvPr/>
        </p:nvSpPr>
        <p:spPr>
          <a:xfrm rot="5400000">
            <a:off x="2761488" y="2176844"/>
            <a:ext cx="274320" cy="292608"/>
          </a:xfrm>
          <a:prstGeom prst="triangle">
            <a:avLst/>
          </a:prstGeom>
          <a:solidFill>
            <a:schemeClr val="bg1"/>
          </a:solidFill>
          <a:ln w="6350">
            <a:solidFill>
              <a:schemeClr val="bg1"/>
            </a:solidFill>
            <a:prstDash val="solid"/>
          </a:ln>
        </p:spPr>
      </p:sp>
      <p:sp>
        <p:nvSpPr>
          <p:cNvPr id="18" name="video placeholder text"/>
          <p:cNvSpPr txBox="1"/>
          <p:nvPr/>
        </p:nvSpPr>
        <p:spPr>
          <a:xfrm>
            <a:off x="731520" y="2826067"/>
            <a:ext cx="4297680" cy="914400"/>
          </a:xfrm>
          <a:prstGeom prst="rect">
            <a:avLst/>
          </a:prstGeom>
          <a:noFill/>
          <a:ln/>
        </p:spPr>
        <p:txBody>
          <a:bodyPr wrap="square" lIns="0" tIns="0" rIns="0" bIns="0" rtlCol="0" anchor="t"/>
          <a:lstStyle/>
          <a:p>
            <a:pPr algn="ctr" indent="0" marL="0">
              <a:spcAft>
                <a:spcPts val="300"/>
              </a:spcAft>
              <a:buNone/>
            </a:pPr>
            <a:r>
              <a:rPr lang="en-US" sz="1400" b="1" dirty="0">
                <a:solidFill>
                  <a:schemeClr val="tx1"/>
                </a:solidFill>
              </a:rPr>
              <a:t>[VIDEO PLACEHOLDER]</a:t>
            </a:r>
            <a:endParaRPr lang="en-US" sz="1400" dirty="0"/>
          </a:p>
          <a:p>
            <a:pPr algn="ctr" indent="0" marL="0">
              <a:buNone/>
            </a:pPr>
            <a:r>
              <a:rPr lang="en-US" sz="1100" dirty="0">
                <a:solidFill>
                  <a:schemeClr val="tx2"/>
                </a:solidFill>
              </a:rPr>
              <a:t>Insert the rehearsal recording here (90 to 120 s). Not yet recorded at 13:40 CDT.</a:t>
            </a:r>
            <a:endParaRPr lang="en-US" sz="1400" dirty="0"/>
          </a:p>
          <a:p>
            <a:pPr algn="ctr" indent="0" marL="0">
              <a:buNone/>
            </a:pPr>
            <a:r>
              <a:rPr lang="en-US" sz="1100" dirty="0">
                <a:solidFill>
                  <a:schemeClr val="tx2"/>
                </a:solidFill>
              </a:rPr>
              <a:t>The caption names the agent mode used; any time compression is labelled on screen</a:t>
            </a:r>
            <a:endParaRPr lang="en-US" sz="1400" dirty="0"/>
          </a:p>
        </p:txBody>
      </p:sp>
      <p:sp>
        <p:nvSpPr>
          <p:cNvPr id="19" name="video summary"/>
          <p:cNvSpPr txBox="1"/>
          <p:nvPr/>
        </p:nvSpPr>
        <p:spPr>
          <a:xfrm>
            <a:off x="457200" y="4051935"/>
            <a:ext cx="4846320" cy="548640"/>
          </a:xfrm>
          <a:prstGeom prst="rect">
            <a:avLst/>
          </a:prstGeom>
          <a:noFill/>
          <a:ln/>
        </p:spPr>
        <p:txBody>
          <a:bodyPr wrap="square" lIns="0" tIns="0" rIns="0" bIns="0" rtlCol="0" anchor="ctr"/>
          <a:lstStyle/>
          <a:p>
            <a:pPr indent="0" marL="0">
              <a:buNone/>
            </a:pPr>
            <a:r>
              <a:rPr lang="en-US" sz="1100" i="1" dirty="0">
                <a:solidFill>
                  <a:schemeClr val="tx2"/>
                </a:solidFill>
              </a:rPr>
              <a:t>Fresh world, two phones, a live edit, preserved progress, a conflicting edit caught by the validator, the repaired version committed.</a:t>
            </a:r>
            <a:endParaRPr lang="en-US" sz="1100" dirty="0"/>
          </a:p>
        </p:txBody>
      </p:sp>
      <p:sp>
        <p:nvSpPr>
          <p:cNvPr id="20" name="label ON-SCREEN CAPTIONS"/>
          <p:cNvSpPr txBox="1"/>
          <p:nvPr/>
        </p:nvSpPr>
        <p:spPr>
          <a:xfrm>
            <a:off x="5577840" y="1188720"/>
            <a:ext cx="310896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ON-SCREEN CAPTIONS</a:t>
            </a:r>
            <a:endParaRPr lang="en-US" sz="1000" dirty="0"/>
          </a:p>
        </p:txBody>
      </p:sp>
      <p:sp>
        <p:nvSpPr>
          <p:cNvPr id="21" name="caption list"/>
          <p:cNvSpPr txBox="1"/>
          <p:nvPr/>
        </p:nvSpPr>
        <p:spPr>
          <a:xfrm>
            <a:off x="5577840" y="1463040"/>
            <a:ext cx="3108960" cy="3108960"/>
          </a:xfrm>
          <a:prstGeom prst="rect">
            <a:avLst/>
          </a:prstGeom>
          <a:noFill/>
          <a:ln/>
        </p:spPr>
        <p:txBody>
          <a:bodyPr wrap="square" lIns="0" tIns="0" rIns="0" bIns="0" rtlCol="0" anchor="t"/>
          <a:lstStyle/>
          <a:p>
            <a:pPr indent="0" marL="0">
              <a:buNone/>
            </a:pPr>
            <a:r>
              <a:rPr lang="en-US" sz="1000" b="1" dirty="0">
                <a:solidFill>
                  <a:schemeClr val="accent1"/>
                </a:solidFill>
              </a:rPr>
              <a:t>0 to 6 s  </a:t>
            </a:r>
            <a:pPr indent="0" marL="0">
              <a:spcAft>
                <a:spcPts val="500"/>
              </a:spcAft>
              <a:buNone/>
            </a:pPr>
            <a:r>
              <a:rPr lang="en-US" sz="1000" dirty="0">
                <a:solidFill>
                  <a:schemeClr val="tx1"/>
                </a:solidFill>
              </a:rPr>
              <a:t>Beetle. Change the game without stopping the game.</a:t>
            </a:r>
            <a:endParaRPr lang="en-US" sz="1000" dirty="0"/>
          </a:p>
          <a:p>
            <a:pPr indent="0" marL="0">
              <a:buNone/>
            </a:pPr>
            <a:r>
              <a:rPr lang="en-US" sz="1000" b="1" dirty="0">
                <a:solidFill>
                  <a:schemeClr val="accent1"/>
                </a:solidFill>
              </a:rPr>
              <a:t>6 to 22 s  </a:t>
            </a:r>
            <a:pPr indent="0" marL="0">
              <a:spcAft>
                <a:spcPts val="500"/>
              </a:spcAft>
              <a:buNone/>
            </a:pPr>
            <a:r>
              <a:rPr lang="en-US" sz="1000" dirty="0">
                <a:solidFill>
                  <a:schemeClr val="tx1"/>
                </a:solidFill>
              </a:rPr>
              <a:t>A local model composes the world. Validated by game code before it is published.</a:t>
            </a:r>
            <a:endParaRPr lang="en-US" sz="1000" dirty="0"/>
          </a:p>
          <a:p>
            <a:pPr indent="0" marL="0">
              <a:buNone/>
            </a:pPr>
            <a:r>
              <a:rPr lang="en-US" sz="1000" b="1" dirty="0">
                <a:solidFill>
                  <a:schemeClr val="accent1"/>
                </a:solidFill>
              </a:rPr>
              <a:t>22 to 34 s  </a:t>
            </a:r>
            <a:pPr indent="0" marL="0">
              <a:spcAft>
                <a:spcPts val="500"/>
              </a:spcAft>
              <a:buNone/>
            </a:pPr>
            <a:r>
              <a:rPr lang="en-US" sz="1000" dirty="0">
                <a:solidFill>
                  <a:schemeClr val="tx1"/>
                </a:solidFill>
              </a:rPr>
              <a:t>Two players join from their phones. Same screen, their phones only send controls.</a:t>
            </a:r>
            <a:endParaRPr lang="en-US" sz="1000" dirty="0"/>
          </a:p>
          <a:p>
            <a:pPr indent="0" marL="0">
              <a:buNone/>
            </a:pPr>
            <a:r>
              <a:rPr lang="en-US" sz="1000" b="1" dirty="0">
                <a:solidFill>
                  <a:schemeClr val="accent1"/>
                </a:solidFill>
              </a:rPr>
              <a:t>34 to 58 s  </a:t>
            </a:r>
            <a:pPr indent="0" marL="0">
              <a:spcAft>
                <a:spcPts val="500"/>
              </a:spcAft>
              <a:buNone/>
            </a:pPr>
            <a:r>
              <a:rPr lang="en-US" sz="1000" dirty="0">
                <a:solidFill>
                  <a:schemeClr val="tx1"/>
                </a:solidFill>
              </a:rPr>
              <a:t>Edits land live. No disconnect, no reset.</a:t>
            </a:r>
            <a:endParaRPr lang="en-US" sz="1000" dirty="0"/>
          </a:p>
          <a:p>
            <a:pPr indent="0" marL="0">
              <a:buNone/>
            </a:pPr>
            <a:r>
              <a:rPr lang="en-US" sz="1000" b="1" dirty="0">
                <a:solidFill>
                  <a:schemeClr val="accent1"/>
                </a:solidFill>
              </a:rPr>
              <a:t>58 to 90 s  </a:t>
            </a:r>
            <a:pPr indent="0" marL="0">
              <a:spcAft>
                <a:spcPts val="500"/>
              </a:spcAft>
              <a:buNone/>
            </a:pPr>
            <a:r>
              <a:rPr lang="en-US" sz="1000" dirty="0">
                <a:solidFill>
                  <a:schemeClr val="tx1"/>
                </a:solidFill>
              </a:rPr>
              <a:t>The validator refuses a world nobody can finish (DISCONNECTED_GOAL). The agent repairs it and commits only a passing version.</a:t>
            </a:r>
            <a:endParaRPr lang="en-US" sz="1000" dirty="0"/>
          </a:p>
          <a:p>
            <a:pPr indent="0" marL="0">
              <a:buNone/>
            </a:pPr>
            <a:r>
              <a:rPr lang="en-US" sz="1000" b="1" dirty="0">
                <a:solidFill>
                  <a:schemeClr val="accent1"/>
                </a:solidFill>
              </a:rPr>
              <a:t>90 to 105 s  </a:t>
            </a:r>
            <a:pPr indent="0" marL="0">
              <a:spcAft>
                <a:spcPts val="500"/>
              </a:spcAft>
              <a:buNone/>
            </a:pPr>
            <a:r>
              <a:rPr lang="en-US" sz="1000" dirty="0">
                <a:solidFill>
                  <a:schemeClr val="tx1"/>
                </a:solidFill>
              </a:rPr>
              <a:t>Measured on one GB10. Local model, local agent in [direct or OpenClaw] mode, no cloud.</a:t>
            </a:r>
            <a:endParaRPr lang="en-US" sz="1000" dirty="0"/>
          </a:p>
          <a:p>
            <a:pPr indent="0" marL="0">
              <a:buNone/>
            </a:pPr>
            <a:r>
              <a:rPr lang="en-US" sz="1000" b="1" dirty="0">
                <a:solidFill>
                  <a:schemeClr val="accent1"/>
                </a:solidFill>
              </a:rPr>
              <a:t>105 to 115 s  </a:t>
            </a:r>
            <a:pPr indent="0" marL="0">
              <a:spcAft>
                <a:spcPts val="500"/>
              </a:spcAft>
              <a:buNone/>
            </a:pPr>
            <a:r>
              <a:rPr lang="en-US" sz="1000" dirty="0">
                <a:solidFill>
                  <a:schemeClr val="tx1"/>
                </a:solidFill>
              </a:rPr>
              <a:t>Beetle</a:t>
            </a:r>
            <a:endParaRPr lang="en-US" sz="10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BDB3A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6766560" cy="685800"/>
          </a:xfrm>
          <a:prstGeom prst="rect">
            <a:avLst/>
          </a:prstGeom>
          <a:noFill/>
          <a:ln/>
        </p:spPr>
        <p:txBody>
          <a:bodyPr wrap="square" lIns="0" tIns="0" rIns="0" bIns="0" rtlCol="0" anchor="ctr"/>
          <a:lstStyle/>
          <a:p>
            <a:pPr algn="l" indent="0" marL="0">
              <a:buNone/>
            </a:pPr>
            <a:r>
              <a:rPr lang="en-US" sz="2600" b="1" dirty="0">
                <a:solidFill>
                  <a:schemeClr val="tx1"/>
                </a:solidFill>
              </a:rPr>
              <a:t>Agent architecture and validation</a:t>
            </a:r>
            <a:endParaRPr lang="en-US" sz="2600" dirty="0"/>
          </a:p>
        </p:txBody>
      </p:sp>
      <p:sp>
        <p:nvSpPr>
          <p:cNvPr id="3" name="beetle leg"/>
          <p:cNvSpPr/>
          <p:nvPr/>
        </p:nvSpPr>
        <p:spPr>
          <a:xfrm flipH="1" flipV="1">
            <a:off x="7339395" y="493118"/>
            <a:ext cx="84491" cy="46086"/>
          </a:xfrm>
          <a:prstGeom prst="line">
            <a:avLst/>
          </a:prstGeom>
          <a:noFill/>
          <a:ln w="15875">
            <a:solidFill>
              <a:schemeClr val="tx1"/>
            </a:solidFill>
            <a:prstDash val="solid"/>
          </a:ln>
        </p:spPr>
      </p:sp>
      <p:sp>
        <p:nvSpPr>
          <p:cNvPr id="4" name="beetle leg"/>
          <p:cNvSpPr/>
          <p:nvPr/>
        </p:nvSpPr>
        <p:spPr>
          <a:xfrm flipH="1">
            <a:off x="7307903" y="622158"/>
            <a:ext cx="92172" cy="914"/>
          </a:xfrm>
          <a:prstGeom prst="line">
            <a:avLst/>
          </a:prstGeom>
          <a:noFill/>
          <a:ln w="15875">
            <a:solidFill>
              <a:schemeClr val="tx1"/>
            </a:solidFill>
            <a:prstDash val="solid"/>
          </a:ln>
        </p:spPr>
      </p:sp>
      <p:sp>
        <p:nvSpPr>
          <p:cNvPr id="5" name="beetle leg"/>
          <p:cNvSpPr/>
          <p:nvPr/>
        </p:nvSpPr>
        <p:spPr>
          <a:xfrm flipH="1">
            <a:off x="7332252" y="705112"/>
            <a:ext cx="84491" cy="46086"/>
          </a:xfrm>
          <a:prstGeom prst="line">
            <a:avLst/>
          </a:prstGeom>
          <a:noFill/>
          <a:ln w="15875">
            <a:solidFill>
              <a:schemeClr val="tx1"/>
            </a:solidFill>
            <a:prstDash val="solid"/>
          </a:ln>
        </p:spPr>
      </p:sp>
      <p:sp>
        <p:nvSpPr>
          <p:cNvPr id="6" name="beetle leg"/>
          <p:cNvSpPr/>
          <p:nvPr/>
        </p:nvSpPr>
        <p:spPr>
          <a:xfrm flipV="1">
            <a:off x="7590562" y="493118"/>
            <a:ext cx="84491" cy="46086"/>
          </a:xfrm>
          <a:prstGeom prst="line">
            <a:avLst/>
          </a:prstGeom>
          <a:noFill/>
          <a:ln w="15875">
            <a:solidFill>
              <a:schemeClr val="tx1"/>
            </a:solidFill>
            <a:prstDash val="solid"/>
          </a:ln>
        </p:spPr>
      </p:sp>
      <p:sp>
        <p:nvSpPr>
          <p:cNvPr id="7" name="beetle leg"/>
          <p:cNvSpPr/>
          <p:nvPr/>
        </p:nvSpPr>
        <p:spPr>
          <a:xfrm>
            <a:off x="7614373" y="622158"/>
            <a:ext cx="92172" cy="914"/>
          </a:xfrm>
          <a:prstGeom prst="line">
            <a:avLst/>
          </a:prstGeom>
          <a:noFill/>
          <a:ln w="15875">
            <a:solidFill>
              <a:schemeClr val="tx1"/>
            </a:solidFill>
            <a:prstDash val="solid"/>
          </a:ln>
        </p:spPr>
      </p:sp>
      <p:sp>
        <p:nvSpPr>
          <p:cNvPr id="8" name="beetle leg"/>
          <p:cNvSpPr/>
          <p:nvPr/>
        </p:nvSpPr>
        <p:spPr>
          <a:xfrm>
            <a:off x="7597706" y="705112"/>
            <a:ext cx="84491" cy="46086"/>
          </a:xfrm>
          <a:prstGeom prst="line">
            <a:avLst/>
          </a:prstGeom>
          <a:noFill/>
          <a:ln w="15875">
            <a:solidFill>
              <a:schemeClr val="tx1"/>
            </a:solidFill>
            <a:prstDash val="solid"/>
          </a:ln>
        </p:spPr>
      </p:sp>
      <p:sp>
        <p:nvSpPr>
          <p:cNvPr id="9" name="beetle antenna"/>
          <p:cNvSpPr/>
          <p:nvPr/>
        </p:nvSpPr>
        <p:spPr>
          <a:xfrm flipV="1">
            <a:off x="7395850" y="384048"/>
            <a:ext cx="61448" cy="46086"/>
          </a:xfrm>
          <a:prstGeom prst="line">
            <a:avLst/>
          </a:prstGeom>
          <a:noFill/>
          <a:ln w="15875">
            <a:solidFill>
              <a:schemeClr val="tx1"/>
            </a:solidFill>
            <a:prstDash val="solid"/>
          </a:ln>
        </p:spPr>
      </p:sp>
      <p:sp>
        <p:nvSpPr>
          <p:cNvPr id="10" name="beetle antenna"/>
          <p:cNvSpPr/>
          <p:nvPr/>
        </p:nvSpPr>
        <p:spPr>
          <a:xfrm>
            <a:off x="7557150" y="384048"/>
            <a:ext cx="61448" cy="46086"/>
          </a:xfrm>
          <a:prstGeom prst="line">
            <a:avLst/>
          </a:prstGeom>
          <a:noFill/>
          <a:ln w="15875">
            <a:solidFill>
              <a:schemeClr val="tx1"/>
            </a:solidFill>
            <a:prstDash val="solid"/>
          </a:ln>
        </p:spPr>
      </p:sp>
      <p:sp>
        <p:nvSpPr>
          <p:cNvPr id="11" name="beetle head"/>
          <p:cNvSpPr/>
          <p:nvPr/>
        </p:nvSpPr>
        <p:spPr>
          <a:xfrm>
            <a:off x="7449617" y="414772"/>
            <a:ext cx="115214" cy="92172"/>
          </a:xfrm>
          <a:prstGeom prst="ellipse">
            <a:avLst/>
          </a:prstGeom>
          <a:solidFill>
            <a:schemeClr val="accent1"/>
          </a:solidFill>
          <a:ln w="6350">
            <a:solidFill>
              <a:schemeClr val="accent1"/>
            </a:solidFill>
            <a:prstDash val="solid"/>
          </a:ln>
        </p:spPr>
      </p:sp>
      <p:sp>
        <p:nvSpPr>
          <p:cNvPr id="12" name="beetle body"/>
          <p:cNvSpPr/>
          <p:nvPr/>
        </p:nvSpPr>
        <p:spPr>
          <a:xfrm>
            <a:off x="7388169" y="483900"/>
            <a:ext cx="238110" cy="276515"/>
          </a:xfrm>
          <a:prstGeom prst="ellipse">
            <a:avLst/>
          </a:prstGeom>
          <a:solidFill>
            <a:schemeClr val="accent1"/>
          </a:solidFill>
          <a:ln w="6350">
            <a:solidFill>
              <a:schemeClr val="accent1"/>
            </a:solidFill>
            <a:prstDash val="solid"/>
          </a:ln>
        </p:spPr>
      </p:sp>
      <p:sp>
        <p:nvSpPr>
          <p:cNvPr id="13" name="beetle split"/>
          <p:cNvSpPr/>
          <p:nvPr/>
        </p:nvSpPr>
        <p:spPr>
          <a:xfrm>
            <a:off x="7507224" y="517082"/>
            <a:ext cx="914" cy="221212"/>
          </a:xfrm>
          <a:prstGeom prst="line">
            <a:avLst/>
          </a:prstGeom>
          <a:noFill/>
          <a:ln w="19050">
            <a:solidFill>
              <a:schemeClr val="bg1"/>
            </a:solidFill>
            <a:prstDash val="solid"/>
          </a:ln>
        </p:spPr>
      </p:sp>
      <p:sp>
        <p:nvSpPr>
          <p:cNvPr id="14" name="wordmark"/>
          <p:cNvSpPr txBox="1"/>
          <p:nvPr/>
        </p:nvSpPr>
        <p:spPr>
          <a:xfrm>
            <a:off x="7772400" y="384048"/>
            <a:ext cx="1591056" cy="384048"/>
          </a:xfrm>
          <a:prstGeom prst="rect">
            <a:avLst/>
          </a:prstGeom>
          <a:noFill/>
          <a:ln/>
        </p:spPr>
        <p:txBody>
          <a:bodyPr wrap="square" lIns="0" tIns="0" rIns="0" bIns="0" rtlCol="0" anchor="ctr"/>
          <a:lstStyle/>
          <a:p>
            <a:pPr indent="0" marL="0">
              <a:buNone/>
            </a:pPr>
            <a:r>
              <a:rPr lang="en-US" sz="1600" b="1" spc="400" kern="0" dirty="0">
                <a:solidFill>
                  <a:schemeClr val="tx1"/>
                </a:solidFill>
              </a:rPr>
              <a:t>BEETLE</a:t>
            </a:r>
            <a:endParaRPr lang="en-US" sz="1600" dirty="0"/>
          </a:p>
        </p:txBody>
      </p:sp>
      <p:sp>
        <p:nvSpPr>
          <p:cNvPr id="15" name="node Director or frontier"/>
          <p:cNvSpPr/>
          <p:nvPr/>
        </p:nvSpPr>
        <p:spPr>
          <a:xfrm>
            <a:off x="457200" y="1188720"/>
            <a:ext cx="1203960" cy="640080"/>
          </a:xfrm>
          <a:prstGeom prst="roundRect">
            <a:avLst>
              <a:gd name="adj" fmla="val 11429"/>
            </a:avLst>
          </a:prstGeom>
          <a:solidFill>
            <a:schemeClr val="bg2"/>
          </a:solidFill>
          <a:ln w="9525">
            <a:solidFill>
              <a:schemeClr val="accent4"/>
            </a:solidFill>
            <a:prstDash val="solid"/>
          </a:ln>
        </p:spPr>
      </p:sp>
      <p:sp>
        <p:nvSpPr>
          <p:cNvPr id="16" name="node title Director or frontier"/>
          <p:cNvSpPr txBox="1"/>
          <p:nvPr/>
        </p:nvSpPr>
        <p:spPr>
          <a:xfrm>
            <a:off x="457200" y="1188720"/>
            <a:ext cx="1203960" cy="640080"/>
          </a:xfrm>
          <a:prstGeom prst="rect">
            <a:avLst/>
          </a:prstGeom>
          <a:noFill/>
          <a:ln/>
        </p:spPr>
        <p:txBody>
          <a:bodyPr wrap="square" lIns="635" tIns="635" rIns="635" bIns="635" rtlCol="0" anchor="ctr"/>
          <a:lstStyle/>
          <a:p>
            <a:pPr algn="ctr" indent="0" marL="0">
              <a:buNone/>
            </a:pPr>
            <a:r>
              <a:rPr lang="en-US" sz="1050" b="1" dirty="0">
                <a:solidFill>
                  <a:schemeClr val="tx1"/>
                </a:solidFill>
              </a:rPr>
              <a:t>Director or frontier</a:t>
            </a:r>
            <a:endParaRPr lang="en-US" sz="1050" dirty="0"/>
          </a:p>
        </p:txBody>
      </p:sp>
      <p:sp>
        <p:nvSpPr>
          <p:cNvPr id="17" name="node sub Director or frontier"/>
          <p:cNvSpPr txBox="1"/>
          <p:nvPr/>
        </p:nvSpPr>
        <p:spPr>
          <a:xfrm>
            <a:off x="384048" y="1883664"/>
            <a:ext cx="1350264" cy="566928"/>
          </a:xfrm>
          <a:prstGeom prst="rect">
            <a:avLst/>
          </a:prstGeom>
          <a:noFill/>
          <a:ln/>
        </p:spPr>
        <p:txBody>
          <a:bodyPr wrap="square" lIns="0" tIns="0" rIns="0" bIns="0" rtlCol="0" anchor="t"/>
          <a:lstStyle/>
          <a:p>
            <a:pPr algn="ctr" indent="0" marL="0">
              <a:buNone/>
            </a:pPr>
            <a:r>
              <a:rPr lang="en-US" sz="850" dirty="0">
                <a:solidFill>
                  <a:schemeClr val="tx2"/>
                </a:solidFill>
              </a:rPr>
              <a:t>a request or edit; or a player 4 m from a rim with no crossing beyond</a:t>
            </a:r>
            <a:endParaRPr lang="en-US" sz="850" dirty="0"/>
          </a:p>
        </p:txBody>
      </p:sp>
      <p:sp>
        <p:nvSpPr>
          <p:cNvPr id="18" name="arrow"/>
          <p:cNvSpPr/>
          <p:nvPr/>
        </p:nvSpPr>
        <p:spPr>
          <a:xfrm>
            <a:off x="1697736" y="1508760"/>
            <a:ext cx="128016" cy="914"/>
          </a:xfrm>
          <a:prstGeom prst="line">
            <a:avLst/>
          </a:prstGeom>
          <a:noFill/>
          <a:ln w="22225">
            <a:solidFill>
              <a:schemeClr val="accent3"/>
            </a:solidFill>
            <a:prstDash val="solid"/>
            <a:tailEnd type="triangle"/>
          </a:ln>
        </p:spPr>
      </p:sp>
      <p:sp>
        <p:nvSpPr>
          <p:cNvPr id="19" name="node OpenClaw agent"/>
          <p:cNvSpPr/>
          <p:nvPr/>
        </p:nvSpPr>
        <p:spPr>
          <a:xfrm>
            <a:off x="1862328" y="1188720"/>
            <a:ext cx="1203960" cy="640080"/>
          </a:xfrm>
          <a:prstGeom prst="roundRect">
            <a:avLst>
              <a:gd name="adj" fmla="val 11429"/>
            </a:avLst>
          </a:prstGeom>
          <a:solidFill>
            <a:schemeClr val="bg2"/>
          </a:solidFill>
          <a:ln w="9525">
            <a:solidFill>
              <a:schemeClr val="accent4"/>
            </a:solidFill>
            <a:prstDash val="solid"/>
          </a:ln>
        </p:spPr>
      </p:sp>
      <p:sp>
        <p:nvSpPr>
          <p:cNvPr id="20" name="node title OpenClaw agent"/>
          <p:cNvSpPr txBox="1"/>
          <p:nvPr/>
        </p:nvSpPr>
        <p:spPr>
          <a:xfrm>
            <a:off x="1862328" y="1188720"/>
            <a:ext cx="1203960" cy="640080"/>
          </a:xfrm>
          <a:prstGeom prst="rect">
            <a:avLst/>
          </a:prstGeom>
          <a:noFill/>
          <a:ln/>
        </p:spPr>
        <p:txBody>
          <a:bodyPr wrap="square" lIns="635" tIns="635" rIns="635" bIns="635" rtlCol="0" anchor="ctr"/>
          <a:lstStyle/>
          <a:p>
            <a:pPr algn="ctr" indent="0" marL="0">
              <a:buNone/>
            </a:pPr>
            <a:r>
              <a:rPr lang="en-US" sz="1050" b="1" dirty="0">
                <a:solidFill>
                  <a:schemeClr val="tx1"/>
                </a:solidFill>
              </a:rPr>
              <a:t>OpenClaw agent</a:t>
            </a:r>
            <a:endParaRPr lang="en-US" sz="1050" dirty="0"/>
          </a:p>
        </p:txBody>
      </p:sp>
      <p:sp>
        <p:nvSpPr>
          <p:cNvPr id="21" name="node sub OpenClaw agent"/>
          <p:cNvSpPr txBox="1"/>
          <p:nvPr/>
        </p:nvSpPr>
        <p:spPr>
          <a:xfrm>
            <a:off x="1789176" y="1883664"/>
            <a:ext cx="1350264" cy="566928"/>
          </a:xfrm>
          <a:prstGeom prst="rect">
            <a:avLst/>
          </a:prstGeom>
          <a:noFill/>
          <a:ln/>
        </p:spPr>
        <p:txBody>
          <a:bodyPr wrap="square" lIns="0" tIns="0" rIns="0" bIns="0" rtlCol="0" anchor="t"/>
          <a:lstStyle/>
          <a:p>
            <a:pPr algn="ctr" indent="0" marL="0">
              <a:buNone/>
            </a:pPr>
            <a:r>
              <a:rPr lang="en-US" sz="850" dirty="0">
                <a:solidFill>
                  <a:schemeClr val="tx2"/>
                </a:solidFill>
              </a:rPr>
              <a:t>reads state, proposes, repairs in a bounded budget</a:t>
            </a:r>
            <a:endParaRPr lang="en-US" sz="850" dirty="0"/>
          </a:p>
        </p:txBody>
      </p:sp>
      <p:sp>
        <p:nvSpPr>
          <p:cNvPr id="22" name="arrow"/>
          <p:cNvSpPr/>
          <p:nvPr/>
        </p:nvSpPr>
        <p:spPr>
          <a:xfrm>
            <a:off x="3102864" y="1508760"/>
            <a:ext cx="128016" cy="914"/>
          </a:xfrm>
          <a:prstGeom prst="line">
            <a:avLst/>
          </a:prstGeom>
          <a:noFill/>
          <a:ln w="22225">
            <a:solidFill>
              <a:schemeClr val="accent3"/>
            </a:solidFill>
            <a:prstDash val="solid"/>
            <a:tailEnd type="triangle"/>
          </a:ln>
        </p:spPr>
      </p:sp>
      <p:sp>
        <p:nvSpPr>
          <p:cNvPr id="23" name="node Map to mode + biome"/>
          <p:cNvSpPr/>
          <p:nvPr/>
        </p:nvSpPr>
        <p:spPr>
          <a:xfrm>
            <a:off x="3267456" y="1188720"/>
            <a:ext cx="1203960" cy="640080"/>
          </a:xfrm>
          <a:prstGeom prst="roundRect">
            <a:avLst>
              <a:gd name="adj" fmla="val 11429"/>
            </a:avLst>
          </a:prstGeom>
          <a:solidFill>
            <a:schemeClr val="bg2"/>
          </a:solidFill>
          <a:ln w="19050">
            <a:solidFill>
              <a:schemeClr val="accent3"/>
            </a:solidFill>
            <a:prstDash val="sysDash"/>
          </a:ln>
        </p:spPr>
      </p:sp>
      <p:sp>
        <p:nvSpPr>
          <p:cNvPr id="24" name="node title Map to mode + biome"/>
          <p:cNvSpPr txBox="1"/>
          <p:nvPr/>
        </p:nvSpPr>
        <p:spPr>
          <a:xfrm>
            <a:off x="3267456" y="1188720"/>
            <a:ext cx="1203960" cy="640080"/>
          </a:xfrm>
          <a:prstGeom prst="rect">
            <a:avLst/>
          </a:prstGeom>
          <a:noFill/>
          <a:ln/>
        </p:spPr>
        <p:txBody>
          <a:bodyPr wrap="square" lIns="635" tIns="635" rIns="635" bIns="635" rtlCol="0" anchor="ctr"/>
          <a:lstStyle/>
          <a:p>
            <a:pPr algn="ctr" indent="0" marL="0">
              <a:buNone/>
            </a:pPr>
            <a:r>
              <a:rPr lang="en-US" sz="1050" b="1" dirty="0">
                <a:solidFill>
                  <a:schemeClr val="tx1"/>
                </a:solidFill>
              </a:rPr>
              <a:t>Map to mode + biome</a:t>
            </a:r>
            <a:endParaRPr lang="en-US" sz="1050" dirty="0"/>
          </a:p>
        </p:txBody>
      </p:sp>
      <p:sp>
        <p:nvSpPr>
          <p:cNvPr id="25" name="node sub Map to mode + biome"/>
          <p:cNvSpPr txBox="1"/>
          <p:nvPr/>
        </p:nvSpPr>
        <p:spPr>
          <a:xfrm>
            <a:off x="3194304" y="1883664"/>
            <a:ext cx="1350264" cy="566928"/>
          </a:xfrm>
          <a:prstGeom prst="rect">
            <a:avLst/>
          </a:prstGeom>
          <a:noFill/>
          <a:ln/>
        </p:spPr>
        <p:txBody>
          <a:bodyPr wrap="square" lIns="0" tIns="0" rIns="0" bIns="0" rtlCol="0" anchor="t"/>
          <a:lstStyle/>
          <a:p>
            <a:pPr algn="ctr" indent="0" marL="0">
              <a:buNone/>
            </a:pPr>
            <a:r>
              <a:rPr lang="en-US" sz="850" dirty="0">
                <a:solidFill>
                  <a:schemeClr val="tx2"/>
                </a:solidFill>
              </a:rPr>
              <a:t>closest of 5 modes, 5 biomes; parameters from the brief; named in the summary</a:t>
            </a:r>
            <a:endParaRPr lang="en-US" sz="850" dirty="0"/>
          </a:p>
        </p:txBody>
      </p:sp>
      <p:sp>
        <p:nvSpPr>
          <p:cNvPr id="26" name="arrow"/>
          <p:cNvSpPr/>
          <p:nvPr/>
        </p:nvSpPr>
        <p:spPr>
          <a:xfrm>
            <a:off x="4507992" y="1508760"/>
            <a:ext cx="128016" cy="914"/>
          </a:xfrm>
          <a:prstGeom prst="line">
            <a:avLst/>
          </a:prstGeom>
          <a:noFill/>
          <a:ln w="22225">
            <a:solidFill>
              <a:schemeClr val="accent3"/>
            </a:solidFill>
            <a:prstDash val="solid"/>
            <a:tailEnd type="triangle"/>
          </a:ln>
        </p:spPr>
      </p:sp>
      <p:sp>
        <p:nvSpPr>
          <p:cNvPr id="27" name="node Beetle tools"/>
          <p:cNvSpPr/>
          <p:nvPr/>
        </p:nvSpPr>
        <p:spPr>
          <a:xfrm>
            <a:off x="4672584" y="1188720"/>
            <a:ext cx="1203960" cy="640080"/>
          </a:xfrm>
          <a:prstGeom prst="roundRect">
            <a:avLst>
              <a:gd name="adj" fmla="val 11429"/>
            </a:avLst>
          </a:prstGeom>
          <a:solidFill>
            <a:schemeClr val="bg2"/>
          </a:solidFill>
          <a:ln w="9525">
            <a:solidFill>
              <a:schemeClr val="accent4"/>
            </a:solidFill>
            <a:prstDash val="solid"/>
          </a:ln>
        </p:spPr>
      </p:sp>
      <p:sp>
        <p:nvSpPr>
          <p:cNvPr id="28" name="node title Beetle tools"/>
          <p:cNvSpPr txBox="1"/>
          <p:nvPr/>
        </p:nvSpPr>
        <p:spPr>
          <a:xfrm>
            <a:off x="4672584" y="1188720"/>
            <a:ext cx="1203960" cy="640080"/>
          </a:xfrm>
          <a:prstGeom prst="rect">
            <a:avLst/>
          </a:prstGeom>
          <a:noFill/>
          <a:ln/>
        </p:spPr>
        <p:txBody>
          <a:bodyPr wrap="square" lIns="635" tIns="635" rIns="635" bIns="635" rtlCol="0" anchor="ctr"/>
          <a:lstStyle/>
          <a:p>
            <a:pPr algn="ctr" indent="0" marL="0">
              <a:buNone/>
            </a:pPr>
            <a:r>
              <a:rPr lang="en-US" sz="1050" b="1" dirty="0">
                <a:solidFill>
                  <a:schemeClr val="tx1"/>
                </a:solidFill>
              </a:rPr>
              <a:t>Beetle tools</a:t>
            </a:r>
            <a:endParaRPr lang="en-US" sz="1050" dirty="0"/>
          </a:p>
        </p:txBody>
      </p:sp>
      <p:sp>
        <p:nvSpPr>
          <p:cNvPr id="29" name="node sub Beetle tools"/>
          <p:cNvSpPr txBox="1"/>
          <p:nvPr/>
        </p:nvSpPr>
        <p:spPr>
          <a:xfrm>
            <a:off x="4599432" y="1883664"/>
            <a:ext cx="1350264" cy="566928"/>
          </a:xfrm>
          <a:prstGeom prst="rect">
            <a:avLst/>
          </a:prstGeom>
          <a:noFill/>
          <a:ln/>
        </p:spPr>
        <p:txBody>
          <a:bodyPr wrap="square" lIns="0" tIns="0" rIns="0" bIns="0" rtlCol="0" anchor="t"/>
          <a:lstStyle/>
          <a:p>
            <a:pPr algn="ctr" indent="0" marL="0">
              <a:buNone/>
            </a:pPr>
            <a:r>
              <a:rPr lang="en-US" sz="850" dirty="0">
                <a:solidFill>
                  <a:schemeClr val="tx2"/>
                </a:solidFill>
              </a:rPr>
              <a:t>schema-checked JSON only, nothing executed; add_island for extensions</a:t>
            </a:r>
            <a:endParaRPr lang="en-US" sz="850" dirty="0"/>
          </a:p>
        </p:txBody>
      </p:sp>
      <p:sp>
        <p:nvSpPr>
          <p:cNvPr id="30" name="arrow"/>
          <p:cNvSpPr/>
          <p:nvPr/>
        </p:nvSpPr>
        <p:spPr>
          <a:xfrm>
            <a:off x="5913120" y="1508760"/>
            <a:ext cx="128016" cy="914"/>
          </a:xfrm>
          <a:prstGeom prst="line">
            <a:avLst/>
          </a:prstGeom>
          <a:noFill/>
          <a:ln w="22225">
            <a:solidFill>
              <a:schemeClr val="accent3"/>
            </a:solidFill>
            <a:prstDash val="solid"/>
            <a:tailEnd type="triangle"/>
          </a:ln>
        </p:spPr>
      </p:sp>
      <p:sp>
        <p:nvSpPr>
          <p:cNvPr id="31" name="node Server validator and commit"/>
          <p:cNvSpPr/>
          <p:nvPr/>
        </p:nvSpPr>
        <p:spPr>
          <a:xfrm>
            <a:off x="6077712" y="1188720"/>
            <a:ext cx="1203960" cy="640080"/>
          </a:xfrm>
          <a:prstGeom prst="roundRect">
            <a:avLst>
              <a:gd name="adj" fmla="val 11429"/>
            </a:avLst>
          </a:prstGeom>
          <a:solidFill>
            <a:schemeClr val="accent1"/>
          </a:solidFill>
          <a:ln w="9525">
            <a:solidFill>
              <a:schemeClr val="accent1"/>
            </a:solidFill>
            <a:prstDash val="solid"/>
          </a:ln>
        </p:spPr>
      </p:sp>
      <p:sp>
        <p:nvSpPr>
          <p:cNvPr id="32" name="node title Server validator and commit"/>
          <p:cNvSpPr txBox="1"/>
          <p:nvPr/>
        </p:nvSpPr>
        <p:spPr>
          <a:xfrm>
            <a:off x="6077712" y="1188720"/>
            <a:ext cx="1203960" cy="640080"/>
          </a:xfrm>
          <a:prstGeom prst="rect">
            <a:avLst/>
          </a:prstGeom>
          <a:noFill/>
          <a:ln/>
        </p:spPr>
        <p:txBody>
          <a:bodyPr wrap="square" lIns="635" tIns="635" rIns="635" bIns="635" rtlCol="0" anchor="ctr"/>
          <a:lstStyle/>
          <a:p>
            <a:pPr algn="ctr" indent="0" marL="0">
              <a:buNone/>
            </a:pPr>
            <a:r>
              <a:rPr lang="en-US" sz="1050" b="1" dirty="0">
                <a:solidFill>
                  <a:schemeClr val="bg1"/>
                </a:solidFill>
              </a:rPr>
              <a:t>Server validator and commit</a:t>
            </a:r>
            <a:endParaRPr lang="en-US" sz="1050" dirty="0"/>
          </a:p>
        </p:txBody>
      </p:sp>
      <p:sp>
        <p:nvSpPr>
          <p:cNvPr id="33" name="node sub Server validator and commit"/>
          <p:cNvSpPr txBox="1"/>
          <p:nvPr/>
        </p:nvSpPr>
        <p:spPr>
          <a:xfrm>
            <a:off x="6004560" y="1883664"/>
            <a:ext cx="1350264" cy="566928"/>
          </a:xfrm>
          <a:prstGeom prst="rect">
            <a:avLst/>
          </a:prstGeom>
          <a:noFill/>
          <a:ln/>
        </p:spPr>
        <p:txBody>
          <a:bodyPr wrap="square" lIns="0" tIns="0" rIns="0" bIns="0" rtlCol="0" anchor="t"/>
          <a:lstStyle/>
          <a:p>
            <a:pPr algn="ctr" indent="0" marL="0">
              <a:buNone/>
            </a:pPr>
            <a:r>
              <a:rPr lang="en-US" sz="850" dirty="0">
                <a:solidFill>
                  <a:schemeClr val="tx2"/>
                </a:solidFill>
              </a:rPr>
              <a:t>deterministic game code, server-issued proof</a:t>
            </a:r>
            <a:endParaRPr lang="en-US" sz="850" dirty="0"/>
          </a:p>
        </p:txBody>
      </p:sp>
      <p:sp>
        <p:nvSpPr>
          <p:cNvPr id="34" name="arrow"/>
          <p:cNvSpPr/>
          <p:nvPr/>
        </p:nvSpPr>
        <p:spPr>
          <a:xfrm>
            <a:off x="7318248" y="1508760"/>
            <a:ext cx="128016" cy="914"/>
          </a:xfrm>
          <a:prstGeom prst="line">
            <a:avLst/>
          </a:prstGeom>
          <a:noFill/>
          <a:ln w="22225">
            <a:solidFill>
              <a:schemeClr val="accent3"/>
            </a:solidFill>
            <a:prstDash val="solid"/>
            <a:tailEnd type="triangle"/>
          </a:ln>
        </p:spPr>
      </p:sp>
      <p:sp>
        <p:nvSpPr>
          <p:cNvPr id="35" name="node Players"/>
          <p:cNvSpPr/>
          <p:nvPr/>
        </p:nvSpPr>
        <p:spPr>
          <a:xfrm>
            <a:off x="7482840" y="1188720"/>
            <a:ext cx="1203960" cy="640080"/>
          </a:xfrm>
          <a:prstGeom prst="roundRect">
            <a:avLst>
              <a:gd name="adj" fmla="val 11429"/>
            </a:avLst>
          </a:prstGeom>
          <a:solidFill>
            <a:schemeClr val="bg2"/>
          </a:solidFill>
          <a:ln w="9525">
            <a:solidFill>
              <a:schemeClr val="accent4"/>
            </a:solidFill>
            <a:prstDash val="solid"/>
          </a:ln>
        </p:spPr>
      </p:sp>
      <p:sp>
        <p:nvSpPr>
          <p:cNvPr id="36" name="node title Players"/>
          <p:cNvSpPr txBox="1"/>
          <p:nvPr/>
        </p:nvSpPr>
        <p:spPr>
          <a:xfrm>
            <a:off x="7482840" y="1188720"/>
            <a:ext cx="1203960" cy="640080"/>
          </a:xfrm>
          <a:prstGeom prst="rect">
            <a:avLst/>
          </a:prstGeom>
          <a:noFill/>
          <a:ln/>
        </p:spPr>
        <p:txBody>
          <a:bodyPr wrap="square" lIns="635" tIns="635" rIns="635" bIns="635" rtlCol="0" anchor="ctr"/>
          <a:lstStyle/>
          <a:p>
            <a:pPr algn="ctr" indent="0" marL="0">
              <a:buNone/>
            </a:pPr>
            <a:r>
              <a:rPr lang="en-US" sz="1050" b="1" dirty="0">
                <a:solidFill>
                  <a:schemeClr val="tx1"/>
                </a:solidFill>
              </a:rPr>
              <a:t>Players</a:t>
            </a:r>
            <a:endParaRPr lang="en-US" sz="1050" dirty="0"/>
          </a:p>
        </p:txBody>
      </p:sp>
      <p:sp>
        <p:nvSpPr>
          <p:cNvPr id="37" name="node sub Players"/>
          <p:cNvSpPr txBox="1"/>
          <p:nvPr/>
        </p:nvSpPr>
        <p:spPr>
          <a:xfrm>
            <a:off x="7409688" y="1883664"/>
            <a:ext cx="1350264" cy="566928"/>
          </a:xfrm>
          <a:prstGeom prst="rect">
            <a:avLst/>
          </a:prstGeom>
          <a:noFill/>
          <a:ln/>
        </p:spPr>
        <p:txBody>
          <a:bodyPr wrap="square" lIns="0" tIns="0" rIns="0" bIns="0" rtlCol="0" anchor="t"/>
          <a:lstStyle/>
          <a:p>
            <a:pPr algn="ctr" indent="0" marL="0">
              <a:buNone/>
            </a:pPr>
            <a:r>
              <a:rPr lang="en-US" sz="850" dirty="0">
                <a:solidFill>
                  <a:schemeClr val="tx2"/>
                </a:solidFill>
              </a:rPr>
              <a:t>same session, same progress, new version</a:t>
            </a:r>
            <a:endParaRPr lang="en-US" sz="850" dirty="0"/>
          </a:p>
        </p:txBody>
      </p:sp>
      <p:sp>
        <p:nvSpPr>
          <p:cNvPr id="38" name="loop down"/>
          <p:cNvSpPr/>
          <p:nvPr/>
        </p:nvSpPr>
        <p:spPr>
          <a:xfrm>
            <a:off x="6679692" y="2468880"/>
            <a:ext cx="914" cy="182880"/>
          </a:xfrm>
          <a:prstGeom prst="line">
            <a:avLst/>
          </a:prstGeom>
          <a:noFill/>
          <a:ln w="15875">
            <a:solidFill>
              <a:schemeClr val="accent1"/>
            </a:solidFill>
            <a:prstDash val="sysDash"/>
          </a:ln>
        </p:spPr>
      </p:sp>
      <p:sp>
        <p:nvSpPr>
          <p:cNvPr id="39" name="loop across"/>
          <p:cNvSpPr/>
          <p:nvPr/>
        </p:nvSpPr>
        <p:spPr>
          <a:xfrm>
            <a:off x="2464308" y="2651760"/>
            <a:ext cx="4215384" cy="914"/>
          </a:xfrm>
          <a:prstGeom prst="line">
            <a:avLst/>
          </a:prstGeom>
          <a:noFill/>
          <a:ln w="15875">
            <a:solidFill>
              <a:schemeClr val="accent1"/>
            </a:solidFill>
            <a:prstDash val="sysDash"/>
          </a:ln>
        </p:spPr>
      </p:sp>
      <p:sp>
        <p:nvSpPr>
          <p:cNvPr id="40" name="arrow"/>
          <p:cNvSpPr/>
          <p:nvPr/>
        </p:nvSpPr>
        <p:spPr>
          <a:xfrm flipV="1">
            <a:off x="2464308" y="2468880"/>
            <a:ext cx="914" cy="182880"/>
          </a:xfrm>
          <a:prstGeom prst="line">
            <a:avLst/>
          </a:prstGeom>
          <a:noFill/>
          <a:ln w="15875">
            <a:solidFill>
              <a:schemeClr val="accent1"/>
            </a:solidFill>
            <a:prstDash val="solid"/>
            <a:tailEnd type="triangle"/>
          </a:ln>
        </p:spPr>
      </p:sp>
      <p:sp>
        <p:nvSpPr>
          <p:cNvPr id="41" name="loop caption"/>
          <p:cNvSpPr txBox="1"/>
          <p:nvPr/>
        </p:nvSpPr>
        <p:spPr>
          <a:xfrm>
            <a:off x="2601468" y="2697480"/>
            <a:ext cx="3941064" cy="274320"/>
          </a:xfrm>
          <a:prstGeom prst="rect">
            <a:avLst/>
          </a:prstGeom>
          <a:noFill/>
          <a:ln/>
        </p:spPr>
        <p:txBody>
          <a:bodyPr wrap="square" lIns="0" tIns="0" rIns="0" bIns="0" rtlCol="0" anchor="t"/>
          <a:lstStyle/>
          <a:p>
            <a:pPr algn="ctr" indent="0" marL="0">
              <a:buNone/>
            </a:pPr>
            <a:r>
              <a:rPr lang="en-US" sz="900" i="1" dirty="0">
                <a:solidFill>
                  <a:schemeClr val="accent1"/>
                </a:solidFill>
              </a:rPr>
              <a:t>validation issues (including MODE_INVALID) go back for repair, at most 2 attempts, then the request fails honestly</a:t>
            </a:r>
            <a:endParaRPr lang="en-US" sz="900" dirty="0"/>
          </a:p>
        </p:txBody>
      </p:sp>
      <p:sp>
        <p:nvSpPr>
          <p:cNvPr id="42" name="lower card 1"/>
          <p:cNvSpPr/>
          <p:nvPr/>
        </p:nvSpPr>
        <p:spPr>
          <a:xfrm>
            <a:off x="457200" y="3017520"/>
            <a:ext cx="2651760" cy="1645920"/>
          </a:xfrm>
          <a:prstGeom prst="roundRect">
            <a:avLst>
              <a:gd name="adj" fmla="val 4444"/>
            </a:avLst>
          </a:prstGeom>
          <a:solidFill>
            <a:schemeClr val="bg2"/>
          </a:solidFill>
          <a:ln w="9525">
            <a:solidFill>
              <a:schemeClr val="accent4"/>
            </a:solidFill>
            <a:prstDash val="solid"/>
          </a:ln>
        </p:spPr>
      </p:sp>
      <p:sp>
        <p:nvSpPr>
          <p:cNvPr id="43" name="label TWO KINDS OF STATE"/>
          <p:cNvSpPr txBox="1"/>
          <p:nvPr/>
        </p:nvSpPr>
        <p:spPr>
          <a:xfrm>
            <a:off x="594360" y="3127248"/>
            <a:ext cx="2377440" cy="228600"/>
          </a:xfrm>
          <a:prstGeom prst="rect">
            <a:avLst/>
          </a:prstGeom>
          <a:noFill/>
          <a:ln/>
        </p:spPr>
        <p:txBody>
          <a:bodyPr wrap="square" lIns="0" tIns="0" rIns="0" bIns="0" rtlCol="0" anchor="ctr"/>
          <a:lstStyle/>
          <a:p>
            <a:pPr indent="0" marL="0">
              <a:buNone/>
            </a:pPr>
            <a:r>
              <a:rPr lang="en-US" sz="850" b="1" spc="200" kern="0" dirty="0">
                <a:solidFill>
                  <a:schemeClr val="accent1"/>
                </a:solidFill>
              </a:rPr>
              <a:t>TWO KINDS OF STATE</a:t>
            </a:r>
            <a:endParaRPr lang="en-US" sz="850" dirty="0"/>
          </a:p>
        </p:txBody>
      </p:sp>
      <p:sp>
        <p:nvSpPr>
          <p:cNvPr id="44" name="lower card bullets 1"/>
          <p:cNvSpPr txBox="1"/>
          <p:nvPr/>
        </p:nvSpPr>
        <p:spPr>
          <a:xfrm>
            <a:off x="594360" y="3364992"/>
            <a:ext cx="2377440" cy="1234440"/>
          </a:xfrm>
          <a:prstGeom prst="rect">
            <a:avLst/>
          </a:prstGeom>
          <a:noFill/>
          <a:ln/>
        </p:spPr>
        <p:txBody>
          <a:bodyPr wrap="square" lIns="0" tIns="0" rIns="0" bIns="0" rtlCol="0" anchor="t"/>
          <a:lstStyle/>
          <a:p>
            <a:pPr marL="152400" indent="-152400">
              <a:spcAft>
                <a:spcPts val="500"/>
              </a:spcAft>
              <a:buSzPct val="100000"/>
              <a:buChar char="•"/>
            </a:pPr>
            <a:r>
              <a:rPr lang="en-US" sz="850" dirty="0">
                <a:solidFill>
                  <a:schemeClr val="tx1"/>
                </a:solidFill>
              </a:rPr>
              <a:t>WorldSpec is structure: islands, bridges, mode, biome, movement, hazard. One version per committed transaction.</a:t>
            </a:r>
            <a:endParaRPr lang="en-US" sz="850" dirty="0"/>
          </a:p>
          <a:p>
            <a:pPr marL="152400" indent="-152400">
              <a:spcAft>
                <a:spcPts val="500"/>
              </a:spcAft>
              <a:buSzPct val="100000"/>
              <a:buChar char="•"/>
            </a:pPr>
            <a:r>
              <a:rPr lang="en-US" sz="850" dirty="0">
                <a:solidFill>
                  <a:schemeClr val="tx1"/>
                </a:solidFill>
              </a:rPr>
              <a:t>SessionState is players, relics, score and the mode objective. The simulation advances it; the agent never writes it.</a:t>
            </a:r>
            <a:endParaRPr lang="en-US" sz="850" dirty="0"/>
          </a:p>
          <a:p>
            <a:pPr marL="152400" indent="-152400">
              <a:spcAft>
                <a:spcPts val="500"/>
              </a:spcAft>
              <a:buSzPct val="100000"/>
              <a:buChar char="•"/>
            </a:pPr>
            <a:r>
              <a:rPr lang="en-US" sz="850" dirty="0">
                <a:solidFill>
                  <a:schemeClr val="tx1"/>
                </a:solidFill>
              </a:rPr>
              <a:t>Commit needs a server-issued proof.</a:t>
            </a:r>
            <a:endParaRPr lang="en-US" sz="850" dirty="0"/>
          </a:p>
        </p:txBody>
      </p:sp>
      <p:sp>
        <p:nvSpPr>
          <p:cNvPr id="45" name="lower card 2"/>
          <p:cNvSpPr/>
          <p:nvPr/>
        </p:nvSpPr>
        <p:spPr>
          <a:xfrm>
            <a:off x="3246120" y="3017520"/>
            <a:ext cx="2651760" cy="1645920"/>
          </a:xfrm>
          <a:prstGeom prst="roundRect">
            <a:avLst>
              <a:gd name="adj" fmla="val 4444"/>
            </a:avLst>
          </a:prstGeom>
          <a:solidFill>
            <a:schemeClr val="bg2"/>
          </a:solidFill>
          <a:ln w="9525">
            <a:solidFill>
              <a:schemeClr val="accent4"/>
            </a:solidFill>
            <a:prstDash val="solid"/>
          </a:ln>
        </p:spPr>
      </p:sp>
      <p:sp>
        <p:nvSpPr>
          <p:cNvPr id="46" name="label VALIDATION IS GAME CODE"/>
          <p:cNvSpPr txBox="1"/>
          <p:nvPr/>
        </p:nvSpPr>
        <p:spPr>
          <a:xfrm>
            <a:off x="3383280" y="3127248"/>
            <a:ext cx="2377440" cy="228600"/>
          </a:xfrm>
          <a:prstGeom prst="rect">
            <a:avLst/>
          </a:prstGeom>
          <a:noFill/>
          <a:ln/>
        </p:spPr>
        <p:txBody>
          <a:bodyPr wrap="square" lIns="0" tIns="0" rIns="0" bIns="0" rtlCol="0" anchor="ctr"/>
          <a:lstStyle/>
          <a:p>
            <a:pPr indent="0" marL="0">
              <a:buNone/>
            </a:pPr>
            <a:r>
              <a:rPr lang="en-US" sz="850" b="1" spc="200" kern="0" dirty="0">
                <a:solidFill>
                  <a:schemeClr val="accent1"/>
                </a:solidFill>
              </a:rPr>
              <a:t>VALIDATION IS GAME CODE</a:t>
            </a:r>
            <a:endParaRPr lang="en-US" sz="850" dirty="0"/>
          </a:p>
        </p:txBody>
      </p:sp>
      <p:sp>
        <p:nvSpPr>
          <p:cNvPr id="47" name="lower card bullets 2"/>
          <p:cNvSpPr txBox="1"/>
          <p:nvPr/>
        </p:nvSpPr>
        <p:spPr>
          <a:xfrm>
            <a:off x="3383280" y="3364992"/>
            <a:ext cx="2377440" cy="1234440"/>
          </a:xfrm>
          <a:prstGeom prst="rect">
            <a:avLst/>
          </a:prstGeom>
          <a:noFill/>
          <a:ln/>
        </p:spPr>
        <p:txBody>
          <a:bodyPr wrap="square" lIns="0" tIns="0" rIns="0" bIns="0" rtlCol="0" anchor="t"/>
          <a:lstStyle/>
          <a:p>
            <a:pPr marL="152400" indent="-152400">
              <a:spcAft>
                <a:spcPts val="500"/>
              </a:spcAft>
              <a:buSzPct val="100000"/>
              <a:buChar char="•"/>
            </a:pPr>
            <a:r>
              <a:rPr lang="en-US" sz="850" dirty="0">
                <a:solidFill>
                  <a:schemeClr val="tx1"/>
                </a:solidFill>
              </a:rPr>
              <a:t>Geometry, bridge sockets, walk field, reachability with the gate locked, occupied support at commit time.</a:t>
            </a:r>
            <a:endParaRPr lang="en-US" sz="850" dirty="0"/>
          </a:p>
          <a:p>
            <a:pPr marL="152400" indent="-152400">
              <a:spcAft>
                <a:spcPts val="500"/>
              </a:spcAft>
              <a:buSzPct val="100000"/>
              <a:buChar char="•"/>
            </a:pPr>
            <a:r>
              <a:rPr lang="en-US" sz="850" dirty="0">
                <a:solidFill>
                  <a:schemeClr val="tx1"/>
                </a:solidFill>
              </a:rPr>
              <a:t>MODE_INVALID: relics required above the count, a race with under 2 checkpoints, survival without a rising hazard, a timer outside 20 to 600 s.</a:t>
            </a:r>
            <a:endParaRPr lang="en-US" sz="850" dirty="0"/>
          </a:p>
          <a:p>
            <a:pPr marL="152400" indent="-152400">
              <a:spcAft>
                <a:spcPts val="500"/>
              </a:spcAft>
              <a:buSzPct val="100000"/>
              <a:buChar char="•"/>
            </a:pPr>
            <a:r>
              <a:rPr lang="en-US" sz="850" dirty="0">
                <a:solidFill>
                  <a:schemeClr val="tx1"/>
                </a:solidFill>
              </a:rPr>
              <a:t>An LLM saying valid is never approval.</a:t>
            </a:r>
            <a:endParaRPr lang="en-US" sz="850" dirty="0"/>
          </a:p>
        </p:txBody>
      </p:sp>
      <p:sp>
        <p:nvSpPr>
          <p:cNvPr id="48" name="lower card 3"/>
          <p:cNvSpPr/>
          <p:nvPr/>
        </p:nvSpPr>
        <p:spPr>
          <a:xfrm>
            <a:off x="6035040" y="3017520"/>
            <a:ext cx="2651760" cy="1645920"/>
          </a:xfrm>
          <a:prstGeom prst="roundRect">
            <a:avLst>
              <a:gd name="adj" fmla="val 4444"/>
            </a:avLst>
          </a:prstGeom>
          <a:solidFill>
            <a:schemeClr val="bg2"/>
          </a:solidFill>
          <a:ln w="9525">
            <a:solidFill>
              <a:schemeClr val="accent4"/>
            </a:solidFill>
            <a:prstDash val="solid"/>
          </a:ln>
        </p:spPr>
      </p:sp>
      <p:sp>
        <p:nvSpPr>
          <p:cNvPr id="49" name="label GROWS AHEAD OF PLAYERS"/>
          <p:cNvSpPr txBox="1"/>
          <p:nvPr/>
        </p:nvSpPr>
        <p:spPr>
          <a:xfrm>
            <a:off x="6172200" y="3127248"/>
            <a:ext cx="2377440" cy="228600"/>
          </a:xfrm>
          <a:prstGeom prst="rect">
            <a:avLst/>
          </a:prstGeom>
          <a:noFill/>
          <a:ln/>
        </p:spPr>
        <p:txBody>
          <a:bodyPr wrap="square" lIns="0" tIns="0" rIns="0" bIns="0" rtlCol="0" anchor="ctr"/>
          <a:lstStyle/>
          <a:p>
            <a:pPr indent="0" marL="0">
              <a:buNone/>
            </a:pPr>
            <a:r>
              <a:rPr lang="en-US" sz="850" b="1" spc="200" kern="0" dirty="0">
                <a:solidFill>
                  <a:schemeClr val="accent1"/>
                </a:solidFill>
              </a:rPr>
              <a:t>GROWS AHEAD OF PLAYERS</a:t>
            </a:r>
            <a:endParaRPr lang="en-US" sz="850" dirty="0"/>
          </a:p>
        </p:txBody>
      </p:sp>
      <p:sp>
        <p:nvSpPr>
          <p:cNvPr id="50" name="lower card bullets 3"/>
          <p:cNvSpPr txBox="1"/>
          <p:nvPr/>
        </p:nvSpPr>
        <p:spPr>
          <a:xfrm>
            <a:off x="6172200" y="3364992"/>
            <a:ext cx="2377440" cy="1234440"/>
          </a:xfrm>
          <a:prstGeom prst="rect">
            <a:avLst/>
          </a:prstGeom>
          <a:noFill/>
          <a:ln/>
        </p:spPr>
        <p:txBody>
          <a:bodyPr wrap="square" lIns="0" tIns="0" rIns="0" bIns="0" rtlCol="0" anchor="t"/>
          <a:lstStyle/>
          <a:p>
            <a:pPr marL="152400" indent="-152400">
              <a:spcAft>
                <a:spcPts val="500"/>
              </a:spcAft>
              <a:buSzPct val="100000"/>
              <a:buChar char="•"/>
            </a:pPr>
            <a:r>
              <a:rPr lang="en-US" sz="850" dirty="0">
                <a:solidFill>
                  <a:schemeClr val="tx1"/>
                </a:solidFill>
              </a:rPr>
              <a:t>Frontier trigger: a player within 4 m of a rim with no crossing beyond; at least 12 s between extensions.</a:t>
            </a:r>
            <a:endParaRPr lang="en-US" sz="850" dirty="0"/>
          </a:p>
          <a:p>
            <a:pPr marL="152400" indent="-152400">
              <a:spcAft>
                <a:spcPts val="500"/>
              </a:spcAft>
              <a:buSzPct val="100000"/>
              <a:buChar char="•"/>
            </a:pPr>
            <a:r>
              <a:rPr lang="en-US" sz="850" dirty="0">
                <a:solidFill>
                  <a:schemeClr val="tx1"/>
                </a:solidFill>
              </a:rPr>
              <a:t>Beetle opens the request itself (marked auto); the agent answers with add_island, 1 to 2 islands, each bridged from an anchor.</a:t>
            </a:r>
            <a:endParaRPr lang="en-US" sz="850" dirty="0"/>
          </a:p>
          <a:p>
            <a:pPr marL="152400" indent="-152400">
              <a:spcAft>
                <a:spcPts val="500"/>
              </a:spcAft>
              <a:buSzPct val="100000"/>
              <a:buChar char="•"/>
            </a:pPr>
            <a:r>
              <a:rPr lang="en-US" sz="850" dirty="0">
                <a:solidFill>
                  <a:schemeClr val="tx1"/>
                </a:solidFill>
              </a:rPr>
              <a:t>Same validator and commit. Stops at 24 islands, 48 bridges; director toggle.</a:t>
            </a:r>
            <a:endParaRPr lang="en-US" sz="85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BDB3A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6766560" cy="685800"/>
          </a:xfrm>
          <a:prstGeom prst="rect">
            <a:avLst/>
          </a:prstGeom>
          <a:noFill/>
          <a:ln/>
        </p:spPr>
        <p:txBody>
          <a:bodyPr wrap="square" lIns="0" tIns="0" rIns="0" bIns="0" rtlCol="0" anchor="ctr"/>
          <a:lstStyle/>
          <a:p>
            <a:pPr algn="l" indent="0" marL="0">
              <a:buNone/>
            </a:pPr>
            <a:r>
              <a:rPr lang="en-US" sz="2600" b="1" dirty="0">
                <a:solidFill>
                  <a:schemeClr val="tx1"/>
                </a:solidFill>
              </a:rPr>
              <a:t>Measured local-first results</a:t>
            </a:r>
            <a:endParaRPr lang="en-US" sz="2600" dirty="0"/>
          </a:p>
        </p:txBody>
      </p:sp>
      <p:sp>
        <p:nvSpPr>
          <p:cNvPr id="3" name="beetle leg"/>
          <p:cNvSpPr/>
          <p:nvPr/>
        </p:nvSpPr>
        <p:spPr>
          <a:xfrm flipH="1" flipV="1">
            <a:off x="7339395" y="493118"/>
            <a:ext cx="84491" cy="46086"/>
          </a:xfrm>
          <a:prstGeom prst="line">
            <a:avLst/>
          </a:prstGeom>
          <a:noFill/>
          <a:ln w="15875">
            <a:solidFill>
              <a:schemeClr val="tx1"/>
            </a:solidFill>
            <a:prstDash val="solid"/>
          </a:ln>
        </p:spPr>
      </p:sp>
      <p:sp>
        <p:nvSpPr>
          <p:cNvPr id="4" name="beetle leg"/>
          <p:cNvSpPr/>
          <p:nvPr/>
        </p:nvSpPr>
        <p:spPr>
          <a:xfrm flipH="1">
            <a:off x="7307903" y="622158"/>
            <a:ext cx="92172" cy="914"/>
          </a:xfrm>
          <a:prstGeom prst="line">
            <a:avLst/>
          </a:prstGeom>
          <a:noFill/>
          <a:ln w="15875">
            <a:solidFill>
              <a:schemeClr val="tx1"/>
            </a:solidFill>
            <a:prstDash val="solid"/>
          </a:ln>
        </p:spPr>
      </p:sp>
      <p:sp>
        <p:nvSpPr>
          <p:cNvPr id="5" name="beetle leg"/>
          <p:cNvSpPr/>
          <p:nvPr/>
        </p:nvSpPr>
        <p:spPr>
          <a:xfrm flipH="1">
            <a:off x="7332252" y="705112"/>
            <a:ext cx="84491" cy="46086"/>
          </a:xfrm>
          <a:prstGeom prst="line">
            <a:avLst/>
          </a:prstGeom>
          <a:noFill/>
          <a:ln w="15875">
            <a:solidFill>
              <a:schemeClr val="tx1"/>
            </a:solidFill>
            <a:prstDash val="solid"/>
          </a:ln>
        </p:spPr>
      </p:sp>
      <p:sp>
        <p:nvSpPr>
          <p:cNvPr id="6" name="beetle leg"/>
          <p:cNvSpPr/>
          <p:nvPr/>
        </p:nvSpPr>
        <p:spPr>
          <a:xfrm flipV="1">
            <a:off x="7590562" y="493118"/>
            <a:ext cx="84491" cy="46086"/>
          </a:xfrm>
          <a:prstGeom prst="line">
            <a:avLst/>
          </a:prstGeom>
          <a:noFill/>
          <a:ln w="15875">
            <a:solidFill>
              <a:schemeClr val="tx1"/>
            </a:solidFill>
            <a:prstDash val="solid"/>
          </a:ln>
        </p:spPr>
      </p:sp>
      <p:sp>
        <p:nvSpPr>
          <p:cNvPr id="7" name="beetle leg"/>
          <p:cNvSpPr/>
          <p:nvPr/>
        </p:nvSpPr>
        <p:spPr>
          <a:xfrm>
            <a:off x="7614373" y="622158"/>
            <a:ext cx="92172" cy="914"/>
          </a:xfrm>
          <a:prstGeom prst="line">
            <a:avLst/>
          </a:prstGeom>
          <a:noFill/>
          <a:ln w="15875">
            <a:solidFill>
              <a:schemeClr val="tx1"/>
            </a:solidFill>
            <a:prstDash val="solid"/>
          </a:ln>
        </p:spPr>
      </p:sp>
      <p:sp>
        <p:nvSpPr>
          <p:cNvPr id="8" name="beetle leg"/>
          <p:cNvSpPr/>
          <p:nvPr/>
        </p:nvSpPr>
        <p:spPr>
          <a:xfrm>
            <a:off x="7597706" y="705112"/>
            <a:ext cx="84491" cy="46086"/>
          </a:xfrm>
          <a:prstGeom prst="line">
            <a:avLst/>
          </a:prstGeom>
          <a:noFill/>
          <a:ln w="15875">
            <a:solidFill>
              <a:schemeClr val="tx1"/>
            </a:solidFill>
            <a:prstDash val="solid"/>
          </a:ln>
        </p:spPr>
      </p:sp>
      <p:sp>
        <p:nvSpPr>
          <p:cNvPr id="9" name="beetle antenna"/>
          <p:cNvSpPr/>
          <p:nvPr/>
        </p:nvSpPr>
        <p:spPr>
          <a:xfrm flipV="1">
            <a:off x="7395850" y="384048"/>
            <a:ext cx="61448" cy="46086"/>
          </a:xfrm>
          <a:prstGeom prst="line">
            <a:avLst/>
          </a:prstGeom>
          <a:noFill/>
          <a:ln w="15875">
            <a:solidFill>
              <a:schemeClr val="tx1"/>
            </a:solidFill>
            <a:prstDash val="solid"/>
          </a:ln>
        </p:spPr>
      </p:sp>
      <p:sp>
        <p:nvSpPr>
          <p:cNvPr id="10" name="beetle antenna"/>
          <p:cNvSpPr/>
          <p:nvPr/>
        </p:nvSpPr>
        <p:spPr>
          <a:xfrm>
            <a:off x="7557150" y="384048"/>
            <a:ext cx="61448" cy="46086"/>
          </a:xfrm>
          <a:prstGeom prst="line">
            <a:avLst/>
          </a:prstGeom>
          <a:noFill/>
          <a:ln w="15875">
            <a:solidFill>
              <a:schemeClr val="tx1"/>
            </a:solidFill>
            <a:prstDash val="solid"/>
          </a:ln>
        </p:spPr>
      </p:sp>
      <p:sp>
        <p:nvSpPr>
          <p:cNvPr id="11" name="beetle head"/>
          <p:cNvSpPr/>
          <p:nvPr/>
        </p:nvSpPr>
        <p:spPr>
          <a:xfrm>
            <a:off x="7449617" y="414772"/>
            <a:ext cx="115214" cy="92172"/>
          </a:xfrm>
          <a:prstGeom prst="ellipse">
            <a:avLst/>
          </a:prstGeom>
          <a:solidFill>
            <a:schemeClr val="accent1"/>
          </a:solidFill>
          <a:ln w="6350">
            <a:solidFill>
              <a:schemeClr val="accent1"/>
            </a:solidFill>
            <a:prstDash val="solid"/>
          </a:ln>
        </p:spPr>
      </p:sp>
      <p:sp>
        <p:nvSpPr>
          <p:cNvPr id="12" name="beetle body"/>
          <p:cNvSpPr/>
          <p:nvPr/>
        </p:nvSpPr>
        <p:spPr>
          <a:xfrm>
            <a:off x="7388169" y="483900"/>
            <a:ext cx="238110" cy="276515"/>
          </a:xfrm>
          <a:prstGeom prst="ellipse">
            <a:avLst/>
          </a:prstGeom>
          <a:solidFill>
            <a:schemeClr val="accent1"/>
          </a:solidFill>
          <a:ln w="6350">
            <a:solidFill>
              <a:schemeClr val="accent1"/>
            </a:solidFill>
            <a:prstDash val="solid"/>
          </a:ln>
        </p:spPr>
      </p:sp>
      <p:sp>
        <p:nvSpPr>
          <p:cNvPr id="13" name="beetle split"/>
          <p:cNvSpPr/>
          <p:nvPr/>
        </p:nvSpPr>
        <p:spPr>
          <a:xfrm>
            <a:off x="7507224" y="517082"/>
            <a:ext cx="914" cy="221212"/>
          </a:xfrm>
          <a:prstGeom prst="line">
            <a:avLst/>
          </a:prstGeom>
          <a:noFill/>
          <a:ln w="19050">
            <a:solidFill>
              <a:schemeClr val="bg1"/>
            </a:solidFill>
            <a:prstDash val="solid"/>
          </a:ln>
        </p:spPr>
      </p:sp>
      <p:sp>
        <p:nvSpPr>
          <p:cNvPr id="14" name="wordmark"/>
          <p:cNvSpPr txBox="1"/>
          <p:nvPr/>
        </p:nvSpPr>
        <p:spPr>
          <a:xfrm>
            <a:off x="7772400" y="384048"/>
            <a:ext cx="1591056" cy="384048"/>
          </a:xfrm>
          <a:prstGeom prst="rect">
            <a:avLst/>
          </a:prstGeom>
          <a:noFill/>
          <a:ln/>
        </p:spPr>
        <p:txBody>
          <a:bodyPr wrap="square" lIns="0" tIns="0" rIns="0" bIns="0" rtlCol="0" anchor="ctr"/>
          <a:lstStyle/>
          <a:p>
            <a:pPr indent="0" marL="0">
              <a:buNone/>
            </a:pPr>
            <a:r>
              <a:rPr lang="en-US" sz="1600" b="1" spc="400" kern="0" dirty="0">
                <a:solidFill>
                  <a:schemeClr val="tx1"/>
                </a:solidFill>
              </a:rPr>
              <a:t>BEETLE</a:t>
            </a:r>
            <a:endParaRPr lang="en-US" sz="1600" dirty="0"/>
          </a:p>
        </p:txBody>
      </p:sp>
      <p:sp>
        <p:nvSpPr>
          <p:cNvPr id="15" name="result card MODEL"/>
          <p:cNvSpPr/>
          <p:nvPr/>
        </p:nvSpPr>
        <p:spPr>
          <a:xfrm>
            <a:off x="457200" y="1115568"/>
            <a:ext cx="1975104" cy="987552"/>
          </a:xfrm>
          <a:prstGeom prst="roundRect">
            <a:avLst>
              <a:gd name="adj" fmla="val 7407"/>
            </a:avLst>
          </a:prstGeom>
          <a:solidFill>
            <a:schemeClr val="bg2"/>
          </a:solidFill>
          <a:ln w="9525">
            <a:solidFill>
              <a:schemeClr val="accent4"/>
            </a:solidFill>
            <a:prstDash val="solid"/>
          </a:ln>
        </p:spPr>
      </p:sp>
      <p:sp>
        <p:nvSpPr>
          <p:cNvPr id="16" name="label MODEL"/>
          <p:cNvSpPr txBox="1"/>
          <p:nvPr/>
        </p:nvSpPr>
        <p:spPr>
          <a:xfrm>
            <a:off x="566928" y="1179576"/>
            <a:ext cx="1755648" cy="164592"/>
          </a:xfrm>
          <a:prstGeom prst="rect">
            <a:avLst/>
          </a:prstGeom>
          <a:noFill/>
          <a:ln/>
        </p:spPr>
        <p:txBody>
          <a:bodyPr wrap="square" lIns="0" tIns="0" rIns="0" bIns="0" rtlCol="0" anchor="ctr"/>
          <a:lstStyle/>
          <a:p>
            <a:pPr indent="0" marL="0">
              <a:buNone/>
            </a:pPr>
            <a:r>
              <a:rPr lang="en-US" sz="750" b="1" spc="200" kern="0" dirty="0">
                <a:solidFill>
                  <a:schemeClr val="accent1"/>
                </a:solidFill>
              </a:rPr>
              <a:t>MODEL</a:t>
            </a:r>
            <a:endParaRPr lang="en-US" sz="750" dirty="0"/>
          </a:p>
        </p:txBody>
      </p:sp>
      <p:sp>
        <p:nvSpPr>
          <p:cNvPr id="17" name="result value MODEL"/>
          <p:cNvSpPr txBox="1"/>
          <p:nvPr/>
        </p:nvSpPr>
        <p:spPr>
          <a:xfrm>
            <a:off x="566928" y="1344168"/>
            <a:ext cx="1755648" cy="256032"/>
          </a:xfrm>
          <a:prstGeom prst="rect">
            <a:avLst/>
          </a:prstGeom>
          <a:noFill/>
          <a:ln/>
        </p:spPr>
        <p:txBody>
          <a:bodyPr wrap="square" lIns="0" tIns="0" rIns="0" bIns="0" rtlCol="0" anchor="ctr"/>
          <a:lstStyle/>
          <a:p>
            <a:pPr indent="0" marL="0">
              <a:buNone/>
            </a:pPr>
            <a:r>
              <a:rPr lang="en-US" sz="1100" b="1" dirty="0">
                <a:solidFill>
                  <a:schemeClr val="accent1"/>
                </a:solidFill>
              </a:rPr>
              <a:t>qwen3.5:4b, Q4_K_M</a:t>
            </a:r>
            <a:endParaRPr lang="en-US" sz="1100" dirty="0"/>
          </a:p>
        </p:txBody>
      </p:sp>
      <p:sp>
        <p:nvSpPr>
          <p:cNvPr id="18" name="result sub MODEL"/>
          <p:cNvSpPr txBox="1"/>
          <p:nvPr/>
        </p:nvSpPr>
        <p:spPr>
          <a:xfrm>
            <a:off x="566928" y="1618488"/>
            <a:ext cx="1755648" cy="457200"/>
          </a:xfrm>
          <a:prstGeom prst="rect">
            <a:avLst/>
          </a:prstGeom>
          <a:noFill/>
          <a:ln/>
        </p:spPr>
        <p:txBody>
          <a:bodyPr wrap="square" lIns="0" tIns="0" rIns="0" bIns="0" rtlCol="0" anchor="t"/>
          <a:lstStyle/>
          <a:p>
            <a:pPr indent="0" marL="0">
              <a:buNone/>
            </a:pPr>
            <a:r>
              <a:rPr lang="en-US" sz="680" dirty="0">
                <a:solidFill>
                  <a:schemeClr val="tx2"/>
                </a:solidFill>
              </a:rPr>
              <a:t>4.7B, 3.4 GB, Ollama 0.35.1 on loopback. qwen3.8:27b not benchmarked: pull failed once, second pull stopped. docs/MODEL_SELECTION.md</a:t>
            </a:r>
            <a:endParaRPr lang="en-US" sz="680" dirty="0"/>
          </a:p>
        </p:txBody>
      </p:sp>
      <p:sp>
        <p:nvSpPr>
          <p:cNvPr id="19" name="result card BRIEF, WARM, QUIET GPU"/>
          <p:cNvSpPr/>
          <p:nvPr/>
        </p:nvSpPr>
        <p:spPr>
          <a:xfrm>
            <a:off x="2542032" y="1115568"/>
            <a:ext cx="1975104" cy="987552"/>
          </a:xfrm>
          <a:prstGeom prst="roundRect">
            <a:avLst>
              <a:gd name="adj" fmla="val 7407"/>
            </a:avLst>
          </a:prstGeom>
          <a:solidFill>
            <a:schemeClr val="bg2"/>
          </a:solidFill>
          <a:ln w="9525">
            <a:solidFill>
              <a:schemeClr val="accent4"/>
            </a:solidFill>
            <a:prstDash val="solid"/>
          </a:ln>
        </p:spPr>
      </p:sp>
      <p:sp>
        <p:nvSpPr>
          <p:cNvPr id="20" name="label BRIEF, WARM, QUIET GPU"/>
          <p:cNvSpPr txBox="1"/>
          <p:nvPr/>
        </p:nvSpPr>
        <p:spPr>
          <a:xfrm>
            <a:off x="2651760" y="1179576"/>
            <a:ext cx="1755648" cy="164592"/>
          </a:xfrm>
          <a:prstGeom prst="rect">
            <a:avLst/>
          </a:prstGeom>
          <a:noFill/>
          <a:ln/>
        </p:spPr>
        <p:txBody>
          <a:bodyPr wrap="square" lIns="0" tIns="0" rIns="0" bIns="0" rtlCol="0" anchor="ctr"/>
          <a:lstStyle/>
          <a:p>
            <a:pPr indent="0" marL="0">
              <a:buNone/>
            </a:pPr>
            <a:r>
              <a:rPr lang="en-US" sz="750" b="1" spc="200" kern="0" dirty="0">
                <a:solidFill>
                  <a:schemeClr val="accent1"/>
                </a:solidFill>
              </a:rPr>
              <a:t>BRIEF, WARM, QUIET GPU</a:t>
            </a:r>
            <a:endParaRPr lang="en-US" sz="750" dirty="0"/>
          </a:p>
        </p:txBody>
      </p:sp>
      <p:sp>
        <p:nvSpPr>
          <p:cNvPr id="21" name="result value BRIEF, WARM, QUIET GPU"/>
          <p:cNvSpPr txBox="1"/>
          <p:nvPr/>
        </p:nvSpPr>
        <p:spPr>
          <a:xfrm>
            <a:off x="2651760" y="1344168"/>
            <a:ext cx="1755648" cy="256032"/>
          </a:xfrm>
          <a:prstGeom prst="rect">
            <a:avLst/>
          </a:prstGeom>
          <a:noFill/>
          <a:ln/>
        </p:spPr>
        <p:txBody>
          <a:bodyPr wrap="square" lIns="0" tIns="0" rIns="0" bIns="0" rtlCol="0" anchor="ctr"/>
          <a:lstStyle/>
          <a:p>
            <a:pPr indent="0" marL="0">
              <a:buNone/>
            </a:pPr>
            <a:r>
              <a:rPr lang="en-US" sz="1100" b="1" dirty="0">
                <a:solidFill>
                  <a:schemeClr val="accent1"/>
                </a:solidFill>
              </a:rPr>
              <a:t>26.2 / 26.5 / 27.7 s</a:t>
            </a:r>
            <a:endParaRPr lang="en-US" sz="1100" dirty="0"/>
          </a:p>
        </p:txBody>
      </p:sp>
      <p:sp>
        <p:nvSpPr>
          <p:cNvPr id="22" name="result sub BRIEF, WARM, QUIET GPU"/>
          <p:cNvSpPr txBox="1"/>
          <p:nvPr/>
        </p:nvSpPr>
        <p:spPr>
          <a:xfrm>
            <a:off x="2651760" y="1618488"/>
            <a:ext cx="1755648" cy="457200"/>
          </a:xfrm>
          <a:prstGeom prst="rect">
            <a:avLst/>
          </a:prstGeom>
          <a:noFill/>
          <a:ln/>
        </p:spPr>
        <p:txBody>
          <a:bodyPr wrap="square" lIns="0" tIns="0" rIns="0" bIns="0" rtlCol="0" anchor="t"/>
          <a:lstStyle/>
          <a:p>
            <a:pPr indent="0" marL="0">
              <a:buNone/>
            </a:pPr>
            <a:r>
              <a:rPr lang="en-US" sz="680" dirty="0">
                <a:solidFill>
                  <a:schemeClr val="tx2"/>
                </a:solidFill>
              </a:rPr>
              <a:t>min / p50 / max, 3 runs, first draft valid (bench-...1791049348895.json). 10 s target not met. 14 s once after normalization (RESULTS.md run 3); 33.4 s via OpenClaw.</a:t>
            </a:r>
            <a:endParaRPr lang="en-US" sz="680" dirty="0"/>
          </a:p>
        </p:txBody>
      </p:sp>
      <p:sp>
        <p:nvSpPr>
          <p:cNvPr id="23" name="result card MODE BRIEFS"/>
          <p:cNvSpPr/>
          <p:nvPr/>
        </p:nvSpPr>
        <p:spPr>
          <a:xfrm>
            <a:off x="4626864" y="1115568"/>
            <a:ext cx="1975104" cy="987552"/>
          </a:xfrm>
          <a:prstGeom prst="roundRect">
            <a:avLst>
              <a:gd name="adj" fmla="val 7407"/>
            </a:avLst>
          </a:prstGeom>
          <a:solidFill>
            <a:schemeClr val="bg2"/>
          </a:solidFill>
          <a:ln w="9525">
            <a:solidFill>
              <a:schemeClr val="accent4"/>
            </a:solidFill>
            <a:prstDash val="solid"/>
          </a:ln>
        </p:spPr>
      </p:sp>
      <p:sp>
        <p:nvSpPr>
          <p:cNvPr id="24" name="label MODE BRIEFS"/>
          <p:cNvSpPr txBox="1"/>
          <p:nvPr/>
        </p:nvSpPr>
        <p:spPr>
          <a:xfrm>
            <a:off x="4736592" y="1179576"/>
            <a:ext cx="1755648" cy="164592"/>
          </a:xfrm>
          <a:prstGeom prst="rect">
            <a:avLst/>
          </a:prstGeom>
          <a:noFill/>
          <a:ln/>
        </p:spPr>
        <p:txBody>
          <a:bodyPr wrap="square" lIns="0" tIns="0" rIns="0" bIns="0" rtlCol="0" anchor="ctr"/>
          <a:lstStyle/>
          <a:p>
            <a:pPr indent="0" marL="0">
              <a:buNone/>
            </a:pPr>
            <a:r>
              <a:rPr lang="en-US" sz="750" b="1" spc="200" kern="0" dirty="0">
                <a:solidFill>
                  <a:schemeClr val="accent1"/>
                </a:solidFill>
              </a:rPr>
              <a:t>MODE BRIEFS</a:t>
            </a:r>
            <a:endParaRPr lang="en-US" sz="750" dirty="0"/>
          </a:p>
        </p:txBody>
      </p:sp>
      <p:sp>
        <p:nvSpPr>
          <p:cNvPr id="25" name="result value MODE BRIEFS"/>
          <p:cNvSpPr txBox="1"/>
          <p:nvPr/>
        </p:nvSpPr>
        <p:spPr>
          <a:xfrm>
            <a:off x="4736592" y="1344168"/>
            <a:ext cx="1755648" cy="256032"/>
          </a:xfrm>
          <a:prstGeom prst="rect">
            <a:avLst/>
          </a:prstGeom>
          <a:noFill/>
          <a:ln/>
        </p:spPr>
        <p:txBody>
          <a:bodyPr wrap="square" lIns="0" tIns="0" rIns="0" bIns="0" rtlCol="0" anchor="ctr"/>
          <a:lstStyle/>
          <a:p>
            <a:pPr indent="0" marL="0">
              <a:buNone/>
            </a:pPr>
            <a:r>
              <a:rPr lang="en-US" sz="1100" b="1" dirty="0">
                <a:solidFill>
                  <a:schemeClr val="accent1"/>
                </a:solidFill>
              </a:rPr>
              <a:t>18 of 18 right mode</a:t>
            </a:r>
            <a:endParaRPr lang="en-US" sz="1100" dirty="0"/>
          </a:p>
        </p:txBody>
      </p:sp>
      <p:sp>
        <p:nvSpPr>
          <p:cNvPr id="26" name="result sub MODE BRIEFS"/>
          <p:cNvSpPr txBox="1"/>
          <p:nvPr/>
        </p:nvSpPr>
        <p:spPr>
          <a:xfrm>
            <a:off x="4736592" y="1618488"/>
            <a:ext cx="1755648" cy="457200"/>
          </a:xfrm>
          <a:prstGeom prst="rect">
            <a:avLst/>
          </a:prstGeom>
          <a:noFill/>
          <a:ln/>
        </p:spPr>
        <p:txBody>
          <a:bodyPr wrap="square" lIns="0" tIns="0" rIns="0" bIns="0" rtlCol="0" anchor="t"/>
          <a:lstStyle/>
          <a:p>
            <a:pPr indent="0" marL="0">
              <a:buNone/>
            </a:pPr>
            <a:r>
              <a:rPr lang="en-US" sz="680" dirty="0">
                <a:solidFill>
                  <a:schemeClr val="tx2"/>
                </a:solidFill>
              </a:rPr>
              <a:t>committed briefs 13.0 to 44.1 s; exact mode missed twice; 8 of 14 final-prompt attempts committed, failures all geometry; mode and biome edits 3.0 s (RESULTS.md 'Game modes from one prompt', direct).</a:t>
            </a:r>
            <a:endParaRPr lang="en-US" sz="680" dirty="0"/>
          </a:p>
        </p:txBody>
      </p:sp>
      <p:sp>
        <p:nvSpPr>
          <p:cNvPr id="27" name="result card COLD / CONTENDED GPU"/>
          <p:cNvSpPr/>
          <p:nvPr/>
        </p:nvSpPr>
        <p:spPr>
          <a:xfrm>
            <a:off x="6711696" y="1115568"/>
            <a:ext cx="1975104" cy="987552"/>
          </a:xfrm>
          <a:prstGeom prst="roundRect">
            <a:avLst>
              <a:gd name="adj" fmla="val 7407"/>
            </a:avLst>
          </a:prstGeom>
          <a:solidFill>
            <a:schemeClr val="bg2"/>
          </a:solidFill>
          <a:ln w="9525">
            <a:solidFill>
              <a:schemeClr val="accent4"/>
            </a:solidFill>
            <a:prstDash val="solid"/>
          </a:ln>
        </p:spPr>
      </p:sp>
      <p:sp>
        <p:nvSpPr>
          <p:cNvPr id="28" name="label COLD / CONTENDED GPU"/>
          <p:cNvSpPr txBox="1"/>
          <p:nvPr/>
        </p:nvSpPr>
        <p:spPr>
          <a:xfrm>
            <a:off x="6821424" y="1179576"/>
            <a:ext cx="1755648" cy="164592"/>
          </a:xfrm>
          <a:prstGeom prst="rect">
            <a:avLst/>
          </a:prstGeom>
          <a:noFill/>
          <a:ln/>
        </p:spPr>
        <p:txBody>
          <a:bodyPr wrap="square" lIns="0" tIns="0" rIns="0" bIns="0" rtlCol="0" anchor="ctr"/>
          <a:lstStyle/>
          <a:p>
            <a:pPr indent="0" marL="0">
              <a:buNone/>
            </a:pPr>
            <a:r>
              <a:rPr lang="en-US" sz="750" b="1" spc="200" kern="0" dirty="0">
                <a:solidFill>
                  <a:schemeClr val="accent1"/>
                </a:solidFill>
              </a:rPr>
              <a:t>COLD / CONTENDED GPU</a:t>
            </a:r>
            <a:endParaRPr lang="en-US" sz="750" dirty="0"/>
          </a:p>
        </p:txBody>
      </p:sp>
      <p:sp>
        <p:nvSpPr>
          <p:cNvPr id="29" name="result value COLD / CONTENDED GPU"/>
          <p:cNvSpPr txBox="1"/>
          <p:nvPr/>
        </p:nvSpPr>
        <p:spPr>
          <a:xfrm>
            <a:off x="6821424" y="1344168"/>
            <a:ext cx="1755648" cy="256032"/>
          </a:xfrm>
          <a:prstGeom prst="rect">
            <a:avLst/>
          </a:prstGeom>
          <a:noFill/>
          <a:ln/>
        </p:spPr>
        <p:txBody>
          <a:bodyPr wrap="square" lIns="0" tIns="0" rIns="0" bIns="0" rtlCol="0" anchor="ctr"/>
          <a:lstStyle/>
          <a:p>
            <a:pPr indent="0" marL="0">
              <a:buNone/>
            </a:pPr>
            <a:r>
              <a:rPr lang="en-US" sz="1100" b="1" dirty="0">
                <a:solidFill>
                  <a:schemeClr val="accent1"/>
                </a:solidFill>
              </a:rPr>
              <a:t>23.1 s load; 58 to 214 s</a:t>
            </a:r>
            <a:endParaRPr lang="en-US" sz="1100" dirty="0"/>
          </a:p>
        </p:txBody>
      </p:sp>
      <p:sp>
        <p:nvSpPr>
          <p:cNvPr id="30" name="result sub COLD / CONTENDED GPU"/>
          <p:cNvSpPr txBox="1"/>
          <p:nvPr/>
        </p:nvSpPr>
        <p:spPr>
          <a:xfrm>
            <a:off x="6821424" y="1618488"/>
            <a:ext cx="1755648" cy="457200"/>
          </a:xfrm>
          <a:prstGeom prst="rect">
            <a:avLst/>
          </a:prstGeom>
          <a:noFill/>
          <a:ln/>
        </p:spPr>
        <p:txBody>
          <a:bodyPr wrap="square" lIns="0" tIns="0" rIns="0" bIns="0" rtlCol="0" anchor="t"/>
          <a:lstStyle/>
          <a:p>
            <a:pPr indent="0" marL="0">
              <a:buNone/>
            </a:pPr>
            <a:r>
              <a:rPr lang="en-US" sz="680" dirty="0">
                <a:solidFill>
                  <a:schemeClr val="tx2"/>
                </a:solidFill>
              </a:rPr>
              <a:t>cold: 23.1 s load in a 54.4 s first draft (probe-run.log). Contended drafts 58.8 to 214.1 s, one edit 45.1 s (bench-...1791050596040.json).</a:t>
            </a:r>
            <a:endParaRPr lang="en-US" sz="680" dirty="0"/>
          </a:p>
        </p:txBody>
      </p:sp>
      <p:sp>
        <p:nvSpPr>
          <p:cNvPr id="31" name="result card EDIT TO COMMIT"/>
          <p:cNvSpPr/>
          <p:nvPr/>
        </p:nvSpPr>
        <p:spPr>
          <a:xfrm>
            <a:off x="457200" y="2157984"/>
            <a:ext cx="1975104" cy="987552"/>
          </a:xfrm>
          <a:prstGeom prst="roundRect">
            <a:avLst>
              <a:gd name="adj" fmla="val 7407"/>
            </a:avLst>
          </a:prstGeom>
          <a:solidFill>
            <a:schemeClr val="bg2"/>
          </a:solidFill>
          <a:ln w="9525">
            <a:solidFill>
              <a:schemeClr val="accent4"/>
            </a:solidFill>
            <a:prstDash val="solid"/>
          </a:ln>
        </p:spPr>
      </p:sp>
      <p:sp>
        <p:nvSpPr>
          <p:cNvPr id="32" name="label EDIT TO COMMIT"/>
          <p:cNvSpPr txBox="1"/>
          <p:nvPr/>
        </p:nvSpPr>
        <p:spPr>
          <a:xfrm>
            <a:off x="566928" y="2221992"/>
            <a:ext cx="1755648" cy="164592"/>
          </a:xfrm>
          <a:prstGeom prst="rect">
            <a:avLst/>
          </a:prstGeom>
          <a:noFill/>
          <a:ln/>
        </p:spPr>
        <p:txBody>
          <a:bodyPr wrap="square" lIns="0" tIns="0" rIns="0" bIns="0" rtlCol="0" anchor="ctr"/>
          <a:lstStyle/>
          <a:p>
            <a:pPr indent="0" marL="0">
              <a:buNone/>
            </a:pPr>
            <a:r>
              <a:rPr lang="en-US" sz="750" b="1" spc="200" kern="0" dirty="0">
                <a:solidFill>
                  <a:schemeClr val="accent1"/>
                </a:solidFill>
              </a:rPr>
              <a:t>EDIT TO COMMIT</a:t>
            </a:r>
            <a:endParaRPr lang="en-US" sz="750" dirty="0"/>
          </a:p>
        </p:txBody>
      </p:sp>
      <p:sp>
        <p:nvSpPr>
          <p:cNvPr id="33" name="result value EDIT TO COMMIT"/>
          <p:cNvSpPr txBox="1"/>
          <p:nvPr/>
        </p:nvSpPr>
        <p:spPr>
          <a:xfrm>
            <a:off x="566928" y="2386584"/>
            <a:ext cx="1755648" cy="256032"/>
          </a:xfrm>
          <a:prstGeom prst="rect">
            <a:avLst/>
          </a:prstGeom>
          <a:noFill/>
          <a:ln/>
        </p:spPr>
        <p:txBody>
          <a:bodyPr wrap="square" lIns="0" tIns="0" rIns="0" bIns="0" rtlCol="0" anchor="ctr"/>
          <a:lstStyle/>
          <a:p>
            <a:pPr indent="0" marL="0">
              <a:buNone/>
            </a:pPr>
            <a:r>
              <a:rPr lang="en-US" sz="1100" b="1" dirty="0">
                <a:solidFill>
                  <a:schemeClr val="accent1"/>
                </a:solidFill>
              </a:rPr>
              <a:t>2.0 / 8.0 / 14.0 s</a:t>
            </a:r>
            <a:endParaRPr lang="en-US" sz="1100" dirty="0"/>
          </a:p>
        </p:txBody>
      </p:sp>
      <p:sp>
        <p:nvSpPr>
          <p:cNvPr id="34" name="result sub EDIT TO COMMIT"/>
          <p:cNvSpPr txBox="1"/>
          <p:nvPr/>
        </p:nvSpPr>
        <p:spPr>
          <a:xfrm>
            <a:off x="566928" y="2660904"/>
            <a:ext cx="1755648" cy="457200"/>
          </a:xfrm>
          <a:prstGeom prst="rect">
            <a:avLst/>
          </a:prstGeom>
          <a:noFill/>
          <a:ln/>
        </p:spPr>
        <p:txBody>
          <a:bodyPr wrap="square" lIns="0" tIns="0" rIns="0" bIns="0" rtlCol="0" anchor="t"/>
          <a:lstStyle/>
          <a:p>
            <a:pPr indent="0" marL="0">
              <a:buNone/>
            </a:pPr>
            <a:r>
              <a:rPr lang="en-US" sz="680" dirty="0">
                <a:solidFill>
                  <a:schemeClr val="tx2"/>
                </a:solidFill>
              </a:rPr>
              <a:t>min / p50 / max, 6 edits, 5 of 6 committed; run 3 after normalization, quiet GPU, direct (run-1791052136845.json). Run 2 before: 2 of 6.</a:t>
            </a:r>
            <a:endParaRPr lang="en-US" sz="680" dirty="0"/>
          </a:p>
        </p:txBody>
      </p:sp>
      <p:sp>
        <p:nvSpPr>
          <p:cNvPr id="35" name="result card EDIT WHILE 2 PLAY"/>
          <p:cNvSpPr/>
          <p:nvPr/>
        </p:nvSpPr>
        <p:spPr>
          <a:xfrm>
            <a:off x="2542032" y="2157984"/>
            <a:ext cx="1975104" cy="987552"/>
          </a:xfrm>
          <a:prstGeom prst="roundRect">
            <a:avLst>
              <a:gd name="adj" fmla="val 7407"/>
            </a:avLst>
          </a:prstGeom>
          <a:solidFill>
            <a:schemeClr val="bg2"/>
          </a:solidFill>
          <a:ln w="9525">
            <a:solidFill>
              <a:schemeClr val="accent4"/>
            </a:solidFill>
            <a:prstDash val="solid"/>
          </a:ln>
        </p:spPr>
      </p:sp>
      <p:sp>
        <p:nvSpPr>
          <p:cNvPr id="36" name="label EDIT WHILE 2 PLAY"/>
          <p:cNvSpPr txBox="1"/>
          <p:nvPr/>
        </p:nvSpPr>
        <p:spPr>
          <a:xfrm>
            <a:off x="2651760" y="2221992"/>
            <a:ext cx="1755648" cy="164592"/>
          </a:xfrm>
          <a:prstGeom prst="rect">
            <a:avLst/>
          </a:prstGeom>
          <a:noFill/>
          <a:ln/>
        </p:spPr>
        <p:txBody>
          <a:bodyPr wrap="square" lIns="0" tIns="0" rIns="0" bIns="0" rtlCol="0" anchor="ctr"/>
          <a:lstStyle/>
          <a:p>
            <a:pPr indent="0" marL="0">
              <a:buNone/>
            </a:pPr>
            <a:r>
              <a:rPr lang="en-US" sz="750" b="1" spc="200" kern="0" dirty="0">
                <a:solidFill>
                  <a:schemeClr val="accent1"/>
                </a:solidFill>
              </a:rPr>
              <a:t>EDIT WHILE 2 PLAY</a:t>
            </a:r>
            <a:endParaRPr lang="en-US" sz="750" dirty="0"/>
          </a:p>
        </p:txBody>
      </p:sp>
      <p:sp>
        <p:nvSpPr>
          <p:cNvPr id="37" name="result value EDIT WHILE 2 PLAY"/>
          <p:cNvSpPr txBox="1"/>
          <p:nvPr/>
        </p:nvSpPr>
        <p:spPr>
          <a:xfrm>
            <a:off x="2651760" y="2386584"/>
            <a:ext cx="1755648" cy="256032"/>
          </a:xfrm>
          <a:prstGeom prst="rect">
            <a:avLst/>
          </a:prstGeom>
          <a:noFill/>
          <a:ln/>
        </p:spPr>
        <p:txBody>
          <a:bodyPr wrap="square" lIns="0" tIns="0" rIns="0" bIns="0" rtlCol="0" anchor="ctr"/>
          <a:lstStyle/>
          <a:p>
            <a:pPr indent="0" marL="0">
              <a:buNone/>
            </a:pPr>
            <a:r>
              <a:rPr lang="en-US" sz="1100" b="1" dirty="0">
                <a:solidFill>
                  <a:schemeClr val="accent1"/>
                </a:solidFill>
              </a:rPr>
              <a:t>8.0 s, 15 of 15</a:t>
            </a:r>
            <a:endParaRPr lang="en-US" sz="1100" dirty="0"/>
          </a:p>
        </p:txBody>
      </p:sp>
      <p:sp>
        <p:nvSpPr>
          <p:cNvPr id="38" name="result sub EDIT WHILE 2 PLAY"/>
          <p:cNvSpPr txBox="1"/>
          <p:nvPr/>
        </p:nvSpPr>
        <p:spPr>
          <a:xfrm>
            <a:off x="2651760" y="2660904"/>
            <a:ext cx="1755648" cy="457200"/>
          </a:xfrm>
          <a:prstGeom prst="rect">
            <a:avLst/>
          </a:prstGeom>
          <a:noFill/>
          <a:ln/>
        </p:spPr>
        <p:txBody>
          <a:bodyPr wrap="square" lIns="0" tIns="0" rIns="0" bIns="0" rtlCol="0" anchor="t"/>
          <a:lstStyle/>
          <a:p>
            <a:pPr indent="0" marL="0">
              <a:buNone/>
            </a:pPr>
            <a:r>
              <a:rPr lang="en-US" sz="680" dirty="0">
                <a:solidFill>
                  <a:schemeClr val="tx2"/>
                </a:solidFill>
              </a:rPr>
              <a:t>acceptance run 2: both controllers walking, lava + bridge committed, relic and score unchanged, sockets open, max tick gap 67 ms (ACCEPTANCE.md).</a:t>
            </a:r>
            <a:endParaRPr lang="en-US" sz="680" dirty="0"/>
          </a:p>
        </p:txBody>
      </p:sp>
      <p:sp>
        <p:nvSpPr>
          <p:cNvPr id="39" name="result card INVALID EDITS CAUGHT"/>
          <p:cNvSpPr/>
          <p:nvPr/>
        </p:nvSpPr>
        <p:spPr>
          <a:xfrm>
            <a:off x="4626864" y="2157984"/>
            <a:ext cx="1975104" cy="987552"/>
          </a:xfrm>
          <a:prstGeom prst="roundRect">
            <a:avLst>
              <a:gd name="adj" fmla="val 7407"/>
            </a:avLst>
          </a:prstGeom>
          <a:solidFill>
            <a:schemeClr val="bg2"/>
          </a:solidFill>
          <a:ln w="9525">
            <a:solidFill>
              <a:schemeClr val="accent4"/>
            </a:solidFill>
            <a:prstDash val="solid"/>
          </a:ln>
        </p:spPr>
      </p:sp>
      <p:sp>
        <p:nvSpPr>
          <p:cNvPr id="40" name="label INVALID EDITS CAUGHT"/>
          <p:cNvSpPr txBox="1"/>
          <p:nvPr/>
        </p:nvSpPr>
        <p:spPr>
          <a:xfrm>
            <a:off x="4736592" y="2221992"/>
            <a:ext cx="1755648" cy="164592"/>
          </a:xfrm>
          <a:prstGeom prst="rect">
            <a:avLst/>
          </a:prstGeom>
          <a:noFill/>
          <a:ln/>
        </p:spPr>
        <p:txBody>
          <a:bodyPr wrap="square" lIns="0" tIns="0" rIns="0" bIns="0" rtlCol="0" anchor="ctr"/>
          <a:lstStyle/>
          <a:p>
            <a:pPr indent="0" marL="0">
              <a:buNone/>
            </a:pPr>
            <a:r>
              <a:rPr lang="en-US" sz="750" b="1" spc="200" kern="0" dirty="0">
                <a:solidFill>
                  <a:schemeClr val="accent1"/>
                </a:solidFill>
              </a:rPr>
              <a:t>INVALID EDITS CAUGHT</a:t>
            </a:r>
            <a:endParaRPr lang="en-US" sz="750" dirty="0"/>
          </a:p>
        </p:txBody>
      </p:sp>
      <p:sp>
        <p:nvSpPr>
          <p:cNvPr id="41" name="result value INVALID EDITS CAUGHT"/>
          <p:cNvSpPr txBox="1"/>
          <p:nvPr/>
        </p:nvSpPr>
        <p:spPr>
          <a:xfrm>
            <a:off x="4736592" y="2386584"/>
            <a:ext cx="1755648" cy="256032"/>
          </a:xfrm>
          <a:prstGeom prst="rect">
            <a:avLst/>
          </a:prstGeom>
          <a:noFill/>
          <a:ln/>
        </p:spPr>
        <p:txBody>
          <a:bodyPr wrap="square" lIns="0" tIns="0" rIns="0" bIns="0" rtlCol="0" anchor="ctr"/>
          <a:lstStyle/>
          <a:p>
            <a:pPr indent="0" marL="0">
              <a:buNone/>
            </a:pPr>
            <a:r>
              <a:rPr lang="en-US" sz="1100" b="1" dirty="0">
                <a:solidFill>
                  <a:schemeClr val="accent1"/>
                </a:solidFill>
              </a:rPr>
              <a:t>6 of 12 refused</a:t>
            </a:r>
            <a:endParaRPr lang="en-US" sz="1100" dirty="0"/>
          </a:p>
        </p:txBody>
      </p:sp>
      <p:sp>
        <p:nvSpPr>
          <p:cNvPr id="42" name="result sub INVALID EDITS CAUGHT"/>
          <p:cNvSpPr txBox="1"/>
          <p:nvPr/>
        </p:nvSpPr>
        <p:spPr>
          <a:xfrm>
            <a:off x="4736592" y="2660904"/>
            <a:ext cx="1755648" cy="457200"/>
          </a:xfrm>
          <a:prstGeom prst="rect">
            <a:avLst/>
          </a:prstGeom>
          <a:noFill/>
          <a:ln/>
        </p:spPr>
        <p:txBody>
          <a:bodyPr wrap="square" lIns="0" tIns="0" rIns="0" bIns="0" rtlCol="0" anchor="t"/>
          <a:lstStyle/>
          <a:p>
            <a:pPr indent="0" marL="0">
              <a:buNone/>
            </a:pPr>
            <a:r>
              <a:rPr lang="en-US" sz="680" dirty="0">
                <a:solidFill>
                  <a:schemeClr val="tx2"/>
                </a:solidFill>
              </a:rPr>
              <a:t>runs 2 and 3 (RESULTS.md); repairs that then committed: 1; invalid worlds committed: 0. garden5: DISCONNECTED_GOAL refused 1.7 s, repaired and committed 3.0 s.</a:t>
            </a:r>
            <a:endParaRPr lang="en-US" sz="680" dirty="0"/>
          </a:p>
        </p:txBody>
      </p:sp>
      <p:sp>
        <p:nvSpPr>
          <p:cNvPr id="43" name="result card NORMALIZATION EFFECT"/>
          <p:cNvSpPr/>
          <p:nvPr/>
        </p:nvSpPr>
        <p:spPr>
          <a:xfrm>
            <a:off x="6711696" y="2157984"/>
            <a:ext cx="1975104" cy="987552"/>
          </a:xfrm>
          <a:prstGeom prst="roundRect">
            <a:avLst>
              <a:gd name="adj" fmla="val 7407"/>
            </a:avLst>
          </a:prstGeom>
          <a:solidFill>
            <a:schemeClr val="bg2"/>
          </a:solidFill>
          <a:ln w="9525">
            <a:solidFill>
              <a:schemeClr val="accent4"/>
            </a:solidFill>
            <a:prstDash val="solid"/>
          </a:ln>
        </p:spPr>
      </p:sp>
      <p:sp>
        <p:nvSpPr>
          <p:cNvPr id="44" name="label NORMALIZATION EFFECT"/>
          <p:cNvSpPr txBox="1"/>
          <p:nvPr/>
        </p:nvSpPr>
        <p:spPr>
          <a:xfrm>
            <a:off x="6821424" y="2221992"/>
            <a:ext cx="1755648" cy="164592"/>
          </a:xfrm>
          <a:prstGeom prst="rect">
            <a:avLst/>
          </a:prstGeom>
          <a:noFill/>
          <a:ln/>
        </p:spPr>
        <p:txBody>
          <a:bodyPr wrap="square" lIns="0" tIns="0" rIns="0" bIns="0" rtlCol="0" anchor="ctr"/>
          <a:lstStyle/>
          <a:p>
            <a:pPr indent="0" marL="0">
              <a:buNone/>
            </a:pPr>
            <a:r>
              <a:rPr lang="en-US" sz="750" b="1" spc="200" kern="0" dirty="0">
                <a:solidFill>
                  <a:schemeClr val="accent1"/>
                </a:solidFill>
              </a:rPr>
              <a:t>NORMALIZATION EFFECT</a:t>
            </a:r>
            <a:endParaRPr lang="en-US" sz="750" dirty="0"/>
          </a:p>
        </p:txBody>
      </p:sp>
      <p:sp>
        <p:nvSpPr>
          <p:cNvPr id="45" name="result value NORMALIZATION EFFECT"/>
          <p:cNvSpPr txBox="1"/>
          <p:nvPr/>
        </p:nvSpPr>
        <p:spPr>
          <a:xfrm>
            <a:off x="6821424" y="2386584"/>
            <a:ext cx="1755648" cy="256032"/>
          </a:xfrm>
          <a:prstGeom prst="rect">
            <a:avLst/>
          </a:prstGeom>
          <a:noFill/>
          <a:ln/>
        </p:spPr>
        <p:txBody>
          <a:bodyPr wrap="square" lIns="0" tIns="0" rIns="0" bIns="0" rtlCol="0" anchor="ctr"/>
          <a:lstStyle/>
          <a:p>
            <a:pPr indent="0" marL="0">
              <a:buNone/>
            </a:pPr>
            <a:r>
              <a:rPr lang="en-US" sz="1100" b="1" dirty="0">
                <a:solidFill>
                  <a:schemeClr val="accent1"/>
                </a:solidFill>
              </a:rPr>
              <a:t>2 of 30 to 13 of 30</a:t>
            </a:r>
            <a:endParaRPr lang="en-US" sz="1100" dirty="0"/>
          </a:p>
        </p:txBody>
      </p:sp>
      <p:sp>
        <p:nvSpPr>
          <p:cNvPr id="46" name="result sub NORMALIZATION EFFECT"/>
          <p:cNvSpPr txBox="1"/>
          <p:nvPr/>
        </p:nvSpPr>
        <p:spPr>
          <a:xfrm>
            <a:off x="6821424" y="2660904"/>
            <a:ext cx="1755648" cy="457200"/>
          </a:xfrm>
          <a:prstGeom prst="rect">
            <a:avLst/>
          </a:prstGeom>
          <a:noFill/>
          <a:ln/>
        </p:spPr>
        <p:txBody>
          <a:bodyPr wrap="square" lIns="0" tIns="0" rIns="0" bIns="0" rtlCol="0" anchor="t"/>
          <a:lstStyle/>
          <a:p>
            <a:pPr indent="0" marL="0">
              <a:buNone/>
            </a:pPr>
            <a:r>
              <a:rPr lang="en-US" sz="680" dirty="0">
                <a:solidFill>
                  <a:schemeClr val="tx2"/>
                </a:solidFill>
              </a:rPr>
              <a:t>corpus validity without vs with the deterministic normalizer (MODEL_FAILURE_MODES.md). Live edits committed: 2 of 6 to 5 of 6.</a:t>
            </a:r>
            <a:endParaRPr lang="en-US" sz="680" dirty="0"/>
          </a:p>
        </p:txBody>
      </p:sp>
      <p:sp>
        <p:nvSpPr>
          <p:cNvPr id="47" name="result card OPENCLAW LIVE"/>
          <p:cNvSpPr/>
          <p:nvPr/>
        </p:nvSpPr>
        <p:spPr>
          <a:xfrm>
            <a:off x="457200" y="3200400"/>
            <a:ext cx="1975104" cy="987552"/>
          </a:xfrm>
          <a:prstGeom prst="roundRect">
            <a:avLst>
              <a:gd name="adj" fmla="val 7407"/>
            </a:avLst>
          </a:prstGeom>
          <a:solidFill>
            <a:schemeClr val="bg2"/>
          </a:solidFill>
          <a:ln w="9525">
            <a:solidFill>
              <a:schemeClr val="accent4"/>
            </a:solidFill>
            <a:prstDash val="solid"/>
          </a:ln>
        </p:spPr>
      </p:sp>
      <p:sp>
        <p:nvSpPr>
          <p:cNvPr id="48" name="label OPENCLAW LIVE"/>
          <p:cNvSpPr txBox="1"/>
          <p:nvPr/>
        </p:nvSpPr>
        <p:spPr>
          <a:xfrm>
            <a:off x="566928" y="3264408"/>
            <a:ext cx="1755648" cy="164592"/>
          </a:xfrm>
          <a:prstGeom prst="rect">
            <a:avLst/>
          </a:prstGeom>
          <a:noFill/>
          <a:ln/>
        </p:spPr>
        <p:txBody>
          <a:bodyPr wrap="square" lIns="0" tIns="0" rIns="0" bIns="0" rtlCol="0" anchor="ctr"/>
          <a:lstStyle/>
          <a:p>
            <a:pPr indent="0" marL="0">
              <a:buNone/>
            </a:pPr>
            <a:r>
              <a:rPr lang="en-US" sz="750" b="1" spc="200" kern="0" dirty="0">
                <a:solidFill>
                  <a:schemeClr val="accent1"/>
                </a:solidFill>
              </a:rPr>
              <a:t>OPENCLAW LIVE</a:t>
            </a:r>
            <a:endParaRPr lang="en-US" sz="750" dirty="0"/>
          </a:p>
        </p:txBody>
      </p:sp>
      <p:sp>
        <p:nvSpPr>
          <p:cNvPr id="49" name="result value OPENCLAW LIVE"/>
          <p:cNvSpPr txBox="1"/>
          <p:nvPr/>
        </p:nvSpPr>
        <p:spPr>
          <a:xfrm>
            <a:off x="566928" y="3429000"/>
            <a:ext cx="1755648" cy="256032"/>
          </a:xfrm>
          <a:prstGeom prst="rect">
            <a:avLst/>
          </a:prstGeom>
          <a:noFill/>
          <a:ln/>
        </p:spPr>
        <p:txBody>
          <a:bodyPr wrap="square" lIns="0" tIns="0" rIns="0" bIns="0" rtlCol="0" anchor="ctr"/>
          <a:lstStyle/>
          <a:p>
            <a:pPr indent="0" marL="0">
              <a:buNone/>
            </a:pPr>
            <a:r>
              <a:rPr lang="en-US" sz="1100" b="1" dirty="0">
                <a:solidFill>
                  <a:schemeClr val="accent1"/>
                </a:solidFill>
              </a:rPr>
              <a:t>20.0 s edit, 33.4 s brief</a:t>
            </a:r>
            <a:endParaRPr lang="en-US" sz="1100" dirty="0"/>
          </a:p>
        </p:txBody>
      </p:sp>
      <p:sp>
        <p:nvSpPr>
          <p:cNvPr id="50" name="result sub OPENCLAW LIVE"/>
          <p:cNvSpPr txBox="1"/>
          <p:nvPr/>
        </p:nvSpPr>
        <p:spPr>
          <a:xfrm>
            <a:off x="566928" y="3703320"/>
            <a:ext cx="1755648" cy="457200"/>
          </a:xfrm>
          <a:prstGeom prst="rect">
            <a:avLst/>
          </a:prstGeom>
          <a:noFill/>
          <a:ln/>
        </p:spPr>
        <p:txBody>
          <a:bodyPr wrap="square" lIns="0" tIns="0" rIns="0" bIns="0" rtlCol="0" anchor="t"/>
          <a:lstStyle/>
          <a:p>
            <a:pPr indent="0" marL="0">
              <a:buNone/>
            </a:pPr>
            <a:r>
              <a:rPr lang="en-US" sz="680" dirty="0">
                <a:solidFill>
                  <a:schemeClr val="tx2"/>
                </a:solidFill>
              </a:rPr>
              <a:t>real tool calls, v2 at 13:43 CDT; brief to v1 at 14:08 CDT; gated test 38.9 s, 7 tool calls (RESULTS.md, BUILD_STATUS.md 17).</a:t>
            </a:r>
            <a:endParaRPr lang="en-US" sz="680" dirty="0"/>
          </a:p>
        </p:txBody>
      </p:sp>
      <p:sp>
        <p:nvSpPr>
          <p:cNvPr id="51" name="result card LATENCY, LOOPBACK"/>
          <p:cNvSpPr/>
          <p:nvPr/>
        </p:nvSpPr>
        <p:spPr>
          <a:xfrm>
            <a:off x="2542032" y="3200400"/>
            <a:ext cx="1975104" cy="987552"/>
          </a:xfrm>
          <a:prstGeom prst="roundRect">
            <a:avLst>
              <a:gd name="adj" fmla="val 7407"/>
            </a:avLst>
          </a:prstGeom>
          <a:solidFill>
            <a:schemeClr val="bg2"/>
          </a:solidFill>
          <a:ln w="9525">
            <a:solidFill>
              <a:schemeClr val="accent4"/>
            </a:solidFill>
            <a:prstDash val="solid"/>
          </a:ln>
        </p:spPr>
      </p:sp>
      <p:sp>
        <p:nvSpPr>
          <p:cNvPr id="52" name="label LATENCY, LOOPBACK"/>
          <p:cNvSpPr txBox="1"/>
          <p:nvPr/>
        </p:nvSpPr>
        <p:spPr>
          <a:xfrm>
            <a:off x="2651760" y="3264408"/>
            <a:ext cx="1755648" cy="164592"/>
          </a:xfrm>
          <a:prstGeom prst="rect">
            <a:avLst/>
          </a:prstGeom>
          <a:noFill/>
          <a:ln/>
        </p:spPr>
        <p:txBody>
          <a:bodyPr wrap="square" lIns="0" tIns="0" rIns="0" bIns="0" rtlCol="0" anchor="ctr"/>
          <a:lstStyle/>
          <a:p>
            <a:pPr indent="0" marL="0">
              <a:buNone/>
            </a:pPr>
            <a:r>
              <a:rPr lang="en-US" sz="750" b="1" spc="200" kern="0" dirty="0">
                <a:solidFill>
                  <a:schemeClr val="accent1"/>
                </a:solidFill>
              </a:rPr>
              <a:t>LATENCY, LOOPBACK</a:t>
            </a:r>
            <a:endParaRPr lang="en-US" sz="750" dirty="0"/>
          </a:p>
        </p:txBody>
      </p:sp>
      <p:sp>
        <p:nvSpPr>
          <p:cNvPr id="53" name="result value LATENCY, LOOPBACK"/>
          <p:cNvSpPr txBox="1"/>
          <p:nvPr/>
        </p:nvSpPr>
        <p:spPr>
          <a:xfrm>
            <a:off x="2651760" y="3429000"/>
            <a:ext cx="1755648" cy="256032"/>
          </a:xfrm>
          <a:prstGeom prst="rect">
            <a:avLst/>
          </a:prstGeom>
          <a:noFill/>
          <a:ln/>
        </p:spPr>
        <p:txBody>
          <a:bodyPr wrap="square" lIns="0" tIns="0" rIns="0" bIns="0" rtlCol="0" anchor="ctr"/>
          <a:lstStyle/>
          <a:p>
            <a:pPr indent="0" marL="0">
              <a:buNone/>
            </a:pPr>
            <a:r>
              <a:rPr lang="en-US" sz="1100" b="1" dirty="0">
                <a:solidFill>
                  <a:schemeClr val="accent1"/>
                </a:solidFill>
              </a:rPr>
              <a:t>0.46 ms RTT, 0.78 ms tick</a:t>
            </a:r>
            <a:endParaRPr lang="en-US" sz="1100" dirty="0"/>
          </a:p>
        </p:txBody>
      </p:sp>
      <p:sp>
        <p:nvSpPr>
          <p:cNvPr id="54" name="result sub LATENCY, LOOPBACK"/>
          <p:cNvSpPr txBox="1"/>
          <p:nvPr/>
        </p:nvSpPr>
        <p:spPr>
          <a:xfrm>
            <a:off x="2651760" y="3703320"/>
            <a:ext cx="1755648" cy="457200"/>
          </a:xfrm>
          <a:prstGeom prst="rect">
            <a:avLst/>
          </a:prstGeom>
          <a:noFill/>
          <a:ln/>
        </p:spPr>
        <p:txBody>
          <a:bodyPr wrap="square" lIns="0" tIns="0" rIns="0" bIns="0" rtlCol="0" anchor="t"/>
          <a:lstStyle/>
          <a:p>
            <a:pPr indent="0" marL="0">
              <a:buNone/>
            </a:pPr>
            <a:r>
              <a:rPr lang="en-US" sz="680" dirty="0">
                <a:solidFill>
                  <a:schemeClr val="tx2"/>
                </a:solidFill>
              </a:rPr>
              <a:t>p50 idle, scripted controllers (p95 0.74 and 1.15 ms; under 2 x 30 inputs/s tick p95 12.3 ms; LATENCY.md 20:26Z). Not input to photon.</a:t>
            </a:r>
            <a:endParaRPr lang="en-US" sz="680" dirty="0"/>
          </a:p>
        </p:txBody>
      </p:sp>
      <p:sp>
        <p:nvSpPr>
          <p:cNvPr id="55" name="result card PHONES"/>
          <p:cNvSpPr/>
          <p:nvPr/>
        </p:nvSpPr>
        <p:spPr>
          <a:xfrm>
            <a:off x="4626864" y="3200400"/>
            <a:ext cx="1975104" cy="987552"/>
          </a:xfrm>
          <a:prstGeom prst="roundRect">
            <a:avLst>
              <a:gd name="adj" fmla="val 7407"/>
            </a:avLst>
          </a:prstGeom>
          <a:solidFill>
            <a:schemeClr val="bg2"/>
          </a:solidFill>
          <a:ln w="9525">
            <a:solidFill>
              <a:schemeClr val="accent4"/>
            </a:solidFill>
            <a:prstDash val="solid"/>
          </a:ln>
        </p:spPr>
      </p:sp>
      <p:sp>
        <p:nvSpPr>
          <p:cNvPr id="56" name="label PHONES"/>
          <p:cNvSpPr txBox="1"/>
          <p:nvPr/>
        </p:nvSpPr>
        <p:spPr>
          <a:xfrm>
            <a:off x="4736592" y="3264408"/>
            <a:ext cx="1755648" cy="164592"/>
          </a:xfrm>
          <a:prstGeom prst="rect">
            <a:avLst/>
          </a:prstGeom>
          <a:noFill/>
          <a:ln/>
        </p:spPr>
        <p:txBody>
          <a:bodyPr wrap="square" lIns="0" tIns="0" rIns="0" bIns="0" rtlCol="0" anchor="ctr"/>
          <a:lstStyle/>
          <a:p>
            <a:pPr indent="0" marL="0">
              <a:buNone/>
            </a:pPr>
            <a:r>
              <a:rPr lang="en-US" sz="750" b="1" spc="200" kern="0" dirty="0">
                <a:solidFill>
                  <a:schemeClr val="accent1"/>
                </a:solidFill>
              </a:rPr>
              <a:t>PHONES</a:t>
            </a:r>
            <a:endParaRPr lang="en-US" sz="750" dirty="0"/>
          </a:p>
        </p:txBody>
      </p:sp>
      <p:sp>
        <p:nvSpPr>
          <p:cNvPr id="57" name="result value PHONES"/>
          <p:cNvSpPr txBox="1"/>
          <p:nvPr/>
        </p:nvSpPr>
        <p:spPr>
          <a:xfrm>
            <a:off x="4736592" y="3429000"/>
            <a:ext cx="1755648" cy="256032"/>
          </a:xfrm>
          <a:prstGeom prst="rect">
            <a:avLst/>
          </a:prstGeom>
          <a:noFill/>
          <a:ln/>
        </p:spPr>
        <p:txBody>
          <a:bodyPr wrap="square" lIns="0" tIns="0" rIns="0" bIns="0" rtlCol="0" anchor="ctr"/>
          <a:lstStyle/>
          <a:p>
            <a:pPr indent="0" marL="0">
              <a:buNone/>
            </a:pPr>
            <a:r>
              <a:rPr lang="en-US" sz="1100" b="1" dirty="0">
                <a:solidFill>
                  <a:schemeClr val="accent1"/>
                </a:solidFill>
              </a:rPr>
              <a:t>not yet with devices</a:t>
            </a:r>
            <a:endParaRPr lang="en-US" sz="1100" dirty="0"/>
          </a:p>
        </p:txBody>
      </p:sp>
      <p:sp>
        <p:nvSpPr>
          <p:cNvPr id="58" name="result sub PHONES"/>
          <p:cNvSpPr txBox="1"/>
          <p:nvPr/>
        </p:nvSpPr>
        <p:spPr>
          <a:xfrm>
            <a:off x="4736592" y="3703320"/>
            <a:ext cx="1755648" cy="457200"/>
          </a:xfrm>
          <a:prstGeom prst="rect">
            <a:avLst/>
          </a:prstGeom>
          <a:noFill/>
          <a:ln/>
        </p:spPr>
        <p:txBody>
          <a:bodyPr wrap="square" lIns="0" tIns="0" rIns="0" bIns="0" rtlCol="0" anchor="t"/>
          <a:lstStyle/>
          <a:p>
            <a:pPr indent="0" marL="0">
              <a:buNone/>
            </a:pPr>
            <a:r>
              <a:rPr lang="en-US" sz="680" dirty="0">
                <a:solidFill>
                  <a:schemeClr val="tx2"/>
                </a:solidFill>
              </a:rPr>
              <a:t>controller page under mobile emulation and 23 integration tests with real sockets pass (BUILD_STATUS.md 12); no physical phone joined today.</a:t>
            </a:r>
            <a:endParaRPr lang="en-US" sz="680" dirty="0"/>
          </a:p>
        </p:txBody>
      </p:sp>
      <p:sp>
        <p:nvSpPr>
          <p:cNvPr id="59" name="result card OFFLINE PROOF"/>
          <p:cNvSpPr/>
          <p:nvPr/>
        </p:nvSpPr>
        <p:spPr>
          <a:xfrm>
            <a:off x="6711696" y="3200400"/>
            <a:ext cx="1975104" cy="987552"/>
          </a:xfrm>
          <a:prstGeom prst="roundRect">
            <a:avLst>
              <a:gd name="adj" fmla="val 7407"/>
            </a:avLst>
          </a:prstGeom>
          <a:solidFill>
            <a:schemeClr val="bg2"/>
          </a:solidFill>
          <a:ln w="9525">
            <a:solidFill>
              <a:schemeClr val="accent4"/>
            </a:solidFill>
            <a:prstDash val="solid"/>
          </a:ln>
        </p:spPr>
      </p:sp>
      <p:sp>
        <p:nvSpPr>
          <p:cNvPr id="60" name="label OFFLINE PROOF"/>
          <p:cNvSpPr txBox="1"/>
          <p:nvPr/>
        </p:nvSpPr>
        <p:spPr>
          <a:xfrm>
            <a:off x="6821424" y="3264408"/>
            <a:ext cx="1755648" cy="164592"/>
          </a:xfrm>
          <a:prstGeom prst="rect">
            <a:avLst/>
          </a:prstGeom>
          <a:noFill/>
          <a:ln/>
        </p:spPr>
        <p:txBody>
          <a:bodyPr wrap="square" lIns="0" tIns="0" rIns="0" bIns="0" rtlCol="0" anchor="ctr"/>
          <a:lstStyle/>
          <a:p>
            <a:pPr indent="0" marL="0">
              <a:buNone/>
            </a:pPr>
            <a:r>
              <a:rPr lang="en-US" sz="750" b="1" spc="200" kern="0" dirty="0">
                <a:solidFill>
                  <a:schemeClr val="accent1"/>
                </a:solidFill>
              </a:rPr>
              <a:t>OFFLINE PROOF</a:t>
            </a:r>
            <a:endParaRPr lang="en-US" sz="750" dirty="0"/>
          </a:p>
        </p:txBody>
      </p:sp>
      <p:sp>
        <p:nvSpPr>
          <p:cNvPr id="61" name="result value OFFLINE PROOF"/>
          <p:cNvSpPr txBox="1"/>
          <p:nvPr/>
        </p:nvSpPr>
        <p:spPr>
          <a:xfrm>
            <a:off x="6821424" y="3429000"/>
            <a:ext cx="1755648" cy="256032"/>
          </a:xfrm>
          <a:prstGeom prst="rect">
            <a:avLst/>
          </a:prstGeom>
          <a:noFill/>
          <a:ln/>
        </p:spPr>
        <p:txBody>
          <a:bodyPr wrap="square" lIns="0" tIns="0" rIns="0" bIns="0" rtlCol="0" anchor="ctr"/>
          <a:lstStyle/>
          <a:p>
            <a:pPr indent="0" marL="0">
              <a:buNone/>
            </a:pPr>
            <a:r>
              <a:rPr lang="en-US" sz="1100" b="1" dirty="0">
                <a:solidFill>
                  <a:schemeClr val="accent1"/>
                </a:solidFill>
              </a:rPr>
              <a:t>not run</a:t>
            </a:r>
            <a:endParaRPr lang="en-US" sz="1100" dirty="0"/>
          </a:p>
        </p:txBody>
      </p:sp>
      <p:sp>
        <p:nvSpPr>
          <p:cNvPr id="62" name="result sub OFFLINE PROOF"/>
          <p:cNvSpPr txBox="1"/>
          <p:nvPr/>
        </p:nvSpPr>
        <p:spPr>
          <a:xfrm>
            <a:off x="6821424" y="3703320"/>
            <a:ext cx="1755648" cy="457200"/>
          </a:xfrm>
          <a:prstGeom prst="rect">
            <a:avLst/>
          </a:prstGeom>
          <a:noFill/>
          <a:ln/>
        </p:spPr>
        <p:txBody>
          <a:bodyPr wrap="square" lIns="0" tIns="0" rIns="0" bIns="0" rtlCol="0" anchor="t"/>
          <a:lstStyle/>
          <a:p>
            <a:pPr indent="0" marL="0">
              <a:buNone/>
            </a:pPr>
            <a:r>
              <a:rPr lang="en-US" sz="680" dirty="0">
                <a:solidFill>
                  <a:schemeClr val="tx2"/>
                </a:solidFill>
              </a:rPr>
              <a:t>only a before record exists (offline-proof/1791049273707.json: egress not blocked, server not up). Procedure: docs/OFFLINE_PROOF.md. Nothing claimed.</a:t>
            </a:r>
            <a:endParaRPr lang="en-US" sz="680" dirty="0"/>
          </a:p>
        </p:txBody>
      </p:sp>
      <p:sp>
        <p:nvSpPr>
          <p:cNvPr id="63" name="streaming status"/>
          <p:cNvSpPr txBox="1"/>
          <p:nvPr/>
        </p:nvSpPr>
        <p:spPr>
          <a:xfrm>
            <a:off x="457200" y="4206240"/>
            <a:ext cx="8229600" cy="274320"/>
          </a:xfrm>
          <a:prstGeom prst="rect">
            <a:avLst/>
          </a:prstGeom>
          <a:noFill/>
          <a:ln/>
        </p:spPr>
        <p:txBody>
          <a:bodyPr wrap="square" lIns="0" tIns="0" rIns="0" bIns="0" rtlCol="0" anchor="ctr"/>
          <a:lstStyle/>
          <a:p>
            <a:pPr indent="0" marL="0">
              <a:buNone/>
            </a:pPr>
            <a:r>
              <a:rPr lang="en-US" sz="800" b="1" dirty="0">
                <a:solidFill>
                  <a:schemeClr val="accent1"/>
                </a:solidFill>
              </a:rPr>
              <a:t>Streaming, extension request to commit: 10.6 to 65.9 s, 4 of 6 committed, GPU contended (ACCEPTANCE.md, run 3 PASS 21 of 21: 56.0 s and 10.6 s); 9.5 s once on a quiet GPU (RESULTS.md). Trigger to request under 0.3 s; player, relic and score kept.</a:t>
            </a:r>
            <a:endParaRPr lang="en-US" sz="800" dirty="0"/>
          </a:p>
        </p:txBody>
      </p:sp>
      <p:sp>
        <p:nvSpPr>
          <p:cNvPr id="64" name="sources note"/>
          <p:cNvSpPr txBox="1"/>
          <p:nvPr/>
        </p:nvSpPr>
        <p:spPr>
          <a:xfrm>
            <a:off x="457200" y="4498848"/>
            <a:ext cx="8229600" cy="237744"/>
          </a:xfrm>
          <a:prstGeom prst="rect">
            <a:avLst/>
          </a:prstGeom>
          <a:noFill/>
          <a:ln/>
        </p:spPr>
        <p:txBody>
          <a:bodyPr wrap="square" lIns="0" tIns="0" rIns="0" bIns="0" rtlCol="0" anchor="ctr"/>
          <a:lstStyle/>
          <a:p>
            <a:pPr indent="0" marL="0">
              <a:buNone/>
            </a:pPr>
            <a:r>
              <a:rPr lang="en-US" sz="700" i="1" dirty="0">
                <a:solidFill>
                  <a:schemeClr val="tx2"/>
                </a:solidFill>
              </a:rPr>
              <a:t>Direct-harness timings are labelled [direct] in every report; OpenClaw timings are from the real server after the Ollama daemon restart at 13:43 CDT. Each card names its GPU state because the daemon was shared for most of the day. Mode briefs were measured at 14:25 to 14:42 CDT in direct mode with no controllers connected (docs/RESULTS.md).</a:t>
            </a:r>
            <a:endParaRPr lang="en-US" sz="7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BDB3A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6766560" cy="685800"/>
          </a:xfrm>
          <a:prstGeom prst="rect">
            <a:avLst/>
          </a:prstGeom>
          <a:noFill/>
          <a:ln/>
        </p:spPr>
        <p:txBody>
          <a:bodyPr wrap="square" lIns="0" tIns="0" rIns="0" bIns="0" rtlCol="0" anchor="ctr"/>
          <a:lstStyle/>
          <a:p>
            <a:pPr algn="l" indent="0" marL="0">
              <a:buNone/>
            </a:pPr>
            <a:r>
              <a:rPr lang="en-US" sz="2600" b="1" dirty="0">
                <a:solidFill>
                  <a:schemeClr val="tx1"/>
                </a:solidFill>
              </a:rPr>
              <a:t>Business hypothesis and next validation</a:t>
            </a:r>
            <a:endParaRPr lang="en-US" sz="2600" dirty="0"/>
          </a:p>
        </p:txBody>
      </p:sp>
      <p:sp>
        <p:nvSpPr>
          <p:cNvPr id="3" name="beetle leg"/>
          <p:cNvSpPr/>
          <p:nvPr/>
        </p:nvSpPr>
        <p:spPr>
          <a:xfrm flipH="1" flipV="1">
            <a:off x="7339395" y="493118"/>
            <a:ext cx="84491" cy="46086"/>
          </a:xfrm>
          <a:prstGeom prst="line">
            <a:avLst/>
          </a:prstGeom>
          <a:noFill/>
          <a:ln w="15875">
            <a:solidFill>
              <a:schemeClr val="tx1"/>
            </a:solidFill>
            <a:prstDash val="solid"/>
          </a:ln>
        </p:spPr>
      </p:sp>
      <p:sp>
        <p:nvSpPr>
          <p:cNvPr id="4" name="beetle leg"/>
          <p:cNvSpPr/>
          <p:nvPr/>
        </p:nvSpPr>
        <p:spPr>
          <a:xfrm flipH="1">
            <a:off x="7307903" y="622158"/>
            <a:ext cx="92172" cy="914"/>
          </a:xfrm>
          <a:prstGeom prst="line">
            <a:avLst/>
          </a:prstGeom>
          <a:noFill/>
          <a:ln w="15875">
            <a:solidFill>
              <a:schemeClr val="tx1"/>
            </a:solidFill>
            <a:prstDash val="solid"/>
          </a:ln>
        </p:spPr>
      </p:sp>
      <p:sp>
        <p:nvSpPr>
          <p:cNvPr id="5" name="beetle leg"/>
          <p:cNvSpPr/>
          <p:nvPr/>
        </p:nvSpPr>
        <p:spPr>
          <a:xfrm flipH="1">
            <a:off x="7332252" y="705112"/>
            <a:ext cx="84491" cy="46086"/>
          </a:xfrm>
          <a:prstGeom prst="line">
            <a:avLst/>
          </a:prstGeom>
          <a:noFill/>
          <a:ln w="15875">
            <a:solidFill>
              <a:schemeClr val="tx1"/>
            </a:solidFill>
            <a:prstDash val="solid"/>
          </a:ln>
        </p:spPr>
      </p:sp>
      <p:sp>
        <p:nvSpPr>
          <p:cNvPr id="6" name="beetle leg"/>
          <p:cNvSpPr/>
          <p:nvPr/>
        </p:nvSpPr>
        <p:spPr>
          <a:xfrm flipV="1">
            <a:off x="7590562" y="493118"/>
            <a:ext cx="84491" cy="46086"/>
          </a:xfrm>
          <a:prstGeom prst="line">
            <a:avLst/>
          </a:prstGeom>
          <a:noFill/>
          <a:ln w="15875">
            <a:solidFill>
              <a:schemeClr val="tx1"/>
            </a:solidFill>
            <a:prstDash val="solid"/>
          </a:ln>
        </p:spPr>
      </p:sp>
      <p:sp>
        <p:nvSpPr>
          <p:cNvPr id="7" name="beetle leg"/>
          <p:cNvSpPr/>
          <p:nvPr/>
        </p:nvSpPr>
        <p:spPr>
          <a:xfrm>
            <a:off x="7614373" y="622158"/>
            <a:ext cx="92172" cy="914"/>
          </a:xfrm>
          <a:prstGeom prst="line">
            <a:avLst/>
          </a:prstGeom>
          <a:noFill/>
          <a:ln w="15875">
            <a:solidFill>
              <a:schemeClr val="tx1"/>
            </a:solidFill>
            <a:prstDash val="solid"/>
          </a:ln>
        </p:spPr>
      </p:sp>
      <p:sp>
        <p:nvSpPr>
          <p:cNvPr id="8" name="beetle leg"/>
          <p:cNvSpPr/>
          <p:nvPr/>
        </p:nvSpPr>
        <p:spPr>
          <a:xfrm>
            <a:off x="7597706" y="705112"/>
            <a:ext cx="84491" cy="46086"/>
          </a:xfrm>
          <a:prstGeom prst="line">
            <a:avLst/>
          </a:prstGeom>
          <a:noFill/>
          <a:ln w="15875">
            <a:solidFill>
              <a:schemeClr val="tx1"/>
            </a:solidFill>
            <a:prstDash val="solid"/>
          </a:ln>
        </p:spPr>
      </p:sp>
      <p:sp>
        <p:nvSpPr>
          <p:cNvPr id="9" name="beetle antenna"/>
          <p:cNvSpPr/>
          <p:nvPr/>
        </p:nvSpPr>
        <p:spPr>
          <a:xfrm flipV="1">
            <a:off x="7395850" y="384048"/>
            <a:ext cx="61448" cy="46086"/>
          </a:xfrm>
          <a:prstGeom prst="line">
            <a:avLst/>
          </a:prstGeom>
          <a:noFill/>
          <a:ln w="15875">
            <a:solidFill>
              <a:schemeClr val="tx1"/>
            </a:solidFill>
            <a:prstDash val="solid"/>
          </a:ln>
        </p:spPr>
      </p:sp>
      <p:sp>
        <p:nvSpPr>
          <p:cNvPr id="10" name="beetle antenna"/>
          <p:cNvSpPr/>
          <p:nvPr/>
        </p:nvSpPr>
        <p:spPr>
          <a:xfrm>
            <a:off x="7557150" y="384048"/>
            <a:ext cx="61448" cy="46086"/>
          </a:xfrm>
          <a:prstGeom prst="line">
            <a:avLst/>
          </a:prstGeom>
          <a:noFill/>
          <a:ln w="15875">
            <a:solidFill>
              <a:schemeClr val="tx1"/>
            </a:solidFill>
            <a:prstDash val="solid"/>
          </a:ln>
        </p:spPr>
      </p:sp>
      <p:sp>
        <p:nvSpPr>
          <p:cNvPr id="11" name="beetle head"/>
          <p:cNvSpPr/>
          <p:nvPr/>
        </p:nvSpPr>
        <p:spPr>
          <a:xfrm>
            <a:off x="7449617" y="414772"/>
            <a:ext cx="115214" cy="92172"/>
          </a:xfrm>
          <a:prstGeom prst="ellipse">
            <a:avLst/>
          </a:prstGeom>
          <a:solidFill>
            <a:schemeClr val="accent1"/>
          </a:solidFill>
          <a:ln w="6350">
            <a:solidFill>
              <a:schemeClr val="accent1"/>
            </a:solidFill>
            <a:prstDash val="solid"/>
          </a:ln>
        </p:spPr>
      </p:sp>
      <p:sp>
        <p:nvSpPr>
          <p:cNvPr id="12" name="beetle body"/>
          <p:cNvSpPr/>
          <p:nvPr/>
        </p:nvSpPr>
        <p:spPr>
          <a:xfrm>
            <a:off x="7388169" y="483900"/>
            <a:ext cx="238110" cy="276515"/>
          </a:xfrm>
          <a:prstGeom prst="ellipse">
            <a:avLst/>
          </a:prstGeom>
          <a:solidFill>
            <a:schemeClr val="accent1"/>
          </a:solidFill>
          <a:ln w="6350">
            <a:solidFill>
              <a:schemeClr val="accent1"/>
            </a:solidFill>
            <a:prstDash val="solid"/>
          </a:ln>
        </p:spPr>
      </p:sp>
      <p:sp>
        <p:nvSpPr>
          <p:cNvPr id="13" name="beetle split"/>
          <p:cNvSpPr/>
          <p:nvPr/>
        </p:nvSpPr>
        <p:spPr>
          <a:xfrm>
            <a:off x="7507224" y="517082"/>
            <a:ext cx="914" cy="221212"/>
          </a:xfrm>
          <a:prstGeom prst="line">
            <a:avLst/>
          </a:prstGeom>
          <a:noFill/>
          <a:ln w="19050">
            <a:solidFill>
              <a:schemeClr val="bg1"/>
            </a:solidFill>
            <a:prstDash val="solid"/>
          </a:ln>
        </p:spPr>
      </p:sp>
      <p:sp>
        <p:nvSpPr>
          <p:cNvPr id="14" name="wordmark"/>
          <p:cNvSpPr txBox="1"/>
          <p:nvPr/>
        </p:nvSpPr>
        <p:spPr>
          <a:xfrm>
            <a:off x="7772400" y="384048"/>
            <a:ext cx="1591056" cy="384048"/>
          </a:xfrm>
          <a:prstGeom prst="rect">
            <a:avLst/>
          </a:prstGeom>
          <a:noFill/>
          <a:ln/>
        </p:spPr>
        <p:txBody>
          <a:bodyPr wrap="square" lIns="0" tIns="0" rIns="0" bIns="0" rtlCol="0" anchor="ctr"/>
          <a:lstStyle/>
          <a:p>
            <a:pPr indent="0" marL="0">
              <a:buNone/>
            </a:pPr>
            <a:r>
              <a:rPr lang="en-US" sz="1600" b="1" spc="400" kern="0" dirty="0">
                <a:solidFill>
                  <a:schemeClr val="tx1"/>
                </a:solidFill>
              </a:rPr>
              <a:t>BEETLE</a:t>
            </a:r>
            <a:endParaRPr lang="en-US" sz="1600" dirty="0"/>
          </a:p>
        </p:txBody>
      </p:sp>
      <p:sp>
        <p:nvSpPr>
          <p:cNvPr id="15" name="column HYPOTHESIS"/>
          <p:cNvSpPr/>
          <p:nvPr/>
        </p:nvSpPr>
        <p:spPr>
          <a:xfrm>
            <a:off x="457200" y="1188720"/>
            <a:ext cx="2651760" cy="2880360"/>
          </a:xfrm>
          <a:prstGeom prst="roundRect">
            <a:avLst>
              <a:gd name="adj" fmla="val 2759"/>
            </a:avLst>
          </a:prstGeom>
          <a:solidFill>
            <a:schemeClr val="accent1"/>
          </a:solidFill>
          <a:ln w="9525">
            <a:solidFill>
              <a:schemeClr val="accent1"/>
            </a:solidFill>
            <a:prstDash val="solid"/>
          </a:ln>
        </p:spPr>
      </p:sp>
      <p:sp>
        <p:nvSpPr>
          <p:cNvPr id="16" name="column label HYPOTHESIS"/>
          <p:cNvSpPr txBox="1"/>
          <p:nvPr/>
        </p:nvSpPr>
        <p:spPr>
          <a:xfrm>
            <a:off x="640080" y="1353312"/>
            <a:ext cx="2286000" cy="274320"/>
          </a:xfrm>
          <a:prstGeom prst="rect">
            <a:avLst/>
          </a:prstGeom>
          <a:noFill/>
          <a:ln/>
        </p:spPr>
        <p:txBody>
          <a:bodyPr wrap="square" lIns="0" tIns="0" rIns="0" bIns="0" rtlCol="0" anchor="ctr"/>
          <a:lstStyle/>
          <a:p>
            <a:pPr indent="0" marL="0">
              <a:buNone/>
            </a:pPr>
            <a:r>
              <a:rPr lang="en-US" sz="1100" b="1" spc="200" kern="0" dirty="0">
                <a:solidFill>
                  <a:schemeClr val="bg1"/>
                </a:solidFill>
              </a:rPr>
              <a:t>HYPOTHESIS</a:t>
            </a:r>
            <a:endParaRPr lang="en-US" sz="1100" dirty="0"/>
          </a:p>
        </p:txBody>
      </p:sp>
      <p:sp>
        <p:nvSpPr>
          <p:cNvPr id="17" name="column body HYPOTHESIS"/>
          <p:cNvSpPr txBox="1"/>
          <p:nvPr/>
        </p:nvSpPr>
        <p:spPr>
          <a:xfrm>
            <a:off x="640080" y="1691640"/>
            <a:ext cx="2286000" cy="2240280"/>
          </a:xfrm>
          <a:prstGeom prst="rect">
            <a:avLst/>
          </a:prstGeom>
          <a:noFill/>
          <a:ln/>
        </p:spPr>
        <p:txBody>
          <a:bodyPr wrap="square" lIns="0" tIns="0" rIns="0" bIns="0" rtlCol="0" anchor="t"/>
          <a:lstStyle/>
          <a:p>
            <a:pPr marL="152400" indent="-152400">
              <a:spcAft>
                <a:spcPts val="700"/>
              </a:spcAft>
              <a:buSzPct val="100000"/>
              <a:buChar char="•"/>
            </a:pPr>
            <a:r>
              <a:rPr lang="en-US" sz="1250" dirty="0">
                <a:solidFill>
                  <a:schemeClr val="bg1"/>
                </a:solidFill>
              </a:rPr>
              <a:t>Studios will pay for faster prototype iteration that keeps playtests running.</a:t>
            </a:r>
            <a:endParaRPr lang="en-US" sz="1250" dirty="0"/>
          </a:p>
          <a:p>
            <a:pPr marL="152400" indent="-152400">
              <a:spcAft>
                <a:spcPts val="700"/>
              </a:spcAft>
              <a:buSzPct val="100000"/>
              <a:buChar char="•"/>
            </a:pPr>
            <a:r>
              <a:rPr lang="en-US" sz="1250" dirty="0">
                <a:solidFill>
                  <a:schemeClr val="bg1"/>
                </a:solidFill>
              </a:rPr>
              <a:t>Their data stays on their machines, which matters to studios with unreleased IP.</a:t>
            </a:r>
            <a:endParaRPr lang="en-US" sz="1250" dirty="0"/>
          </a:p>
        </p:txBody>
      </p:sp>
      <p:sp>
        <p:nvSpPr>
          <p:cNvPr id="18" name="column NOT CLAIMED"/>
          <p:cNvSpPr/>
          <p:nvPr/>
        </p:nvSpPr>
        <p:spPr>
          <a:xfrm>
            <a:off x="3246120" y="1188720"/>
            <a:ext cx="2651760" cy="2880360"/>
          </a:xfrm>
          <a:prstGeom prst="roundRect">
            <a:avLst>
              <a:gd name="adj" fmla="val 2759"/>
            </a:avLst>
          </a:prstGeom>
          <a:solidFill>
            <a:schemeClr val="bg2"/>
          </a:solidFill>
          <a:ln w="9525">
            <a:solidFill>
              <a:schemeClr val="accent4"/>
            </a:solidFill>
            <a:prstDash val="solid"/>
          </a:ln>
        </p:spPr>
      </p:sp>
      <p:sp>
        <p:nvSpPr>
          <p:cNvPr id="19" name="column label NOT CLAIMED"/>
          <p:cNvSpPr txBox="1"/>
          <p:nvPr/>
        </p:nvSpPr>
        <p:spPr>
          <a:xfrm>
            <a:off x="3429000" y="1353312"/>
            <a:ext cx="22860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NOT CLAIMED</a:t>
            </a:r>
            <a:endParaRPr lang="en-US" sz="1100" dirty="0"/>
          </a:p>
        </p:txBody>
      </p:sp>
      <p:sp>
        <p:nvSpPr>
          <p:cNvPr id="20" name="column body NOT CLAIMED"/>
          <p:cNvSpPr txBox="1"/>
          <p:nvPr/>
        </p:nvSpPr>
        <p:spPr>
          <a:xfrm>
            <a:off x="3429000" y="1691640"/>
            <a:ext cx="2286000" cy="2240280"/>
          </a:xfrm>
          <a:prstGeom prst="rect">
            <a:avLst/>
          </a:prstGeom>
          <a:noFill/>
          <a:ln/>
        </p:spPr>
        <p:txBody>
          <a:bodyPr wrap="square" lIns="0" tIns="0" rIns="0" bIns="0" rtlCol="0" anchor="t"/>
          <a:lstStyle/>
          <a:p>
            <a:pPr marL="152400" indent="-152400">
              <a:spcAft>
                <a:spcPts val="700"/>
              </a:spcAft>
              <a:buSzPct val="100000"/>
              <a:buChar char="•"/>
            </a:pPr>
            <a:r>
              <a:rPr lang="en-US" sz="1250" dirty="0">
                <a:solidFill>
                  <a:schemeClr val="tx1"/>
                </a:solidFill>
              </a:rPr>
              <a:t>Market size.</a:t>
            </a:r>
            <a:endParaRPr lang="en-US" sz="1250" dirty="0"/>
          </a:p>
          <a:p>
            <a:pPr marL="152400" indent="-152400">
              <a:spcAft>
                <a:spcPts val="700"/>
              </a:spcAft>
              <a:buSzPct val="100000"/>
              <a:buChar char="•"/>
            </a:pPr>
            <a:r>
              <a:rPr lang="en-US" sz="1250" dirty="0">
                <a:solidFill>
                  <a:schemeClr val="tx1"/>
                </a:solidFill>
              </a:rPr>
              <a:t>Pricing.</a:t>
            </a:r>
            <a:endParaRPr lang="en-US" sz="1250" dirty="0"/>
          </a:p>
          <a:p>
            <a:pPr marL="152400" indent="-152400">
              <a:spcAft>
                <a:spcPts val="700"/>
              </a:spcAft>
              <a:buSzPct val="100000"/>
              <a:buChar char="•"/>
            </a:pPr>
            <a:r>
              <a:rPr lang="en-US" sz="1250" dirty="0">
                <a:solidFill>
                  <a:schemeClr val="tx1"/>
                </a:solidFill>
              </a:rPr>
              <a:t>Customer traction.</a:t>
            </a:r>
            <a:endParaRPr lang="en-US" sz="1250" dirty="0"/>
          </a:p>
          <a:p>
            <a:pPr marL="152400" indent="-152400">
              <a:spcAft>
                <a:spcPts val="700"/>
              </a:spcAft>
              <a:buSzPct val="100000"/>
              <a:buChar char="•"/>
            </a:pPr>
            <a:r>
              <a:rPr lang="en-US" sz="1250" dirty="0">
                <a:solidFill>
                  <a:schemeClr val="tx1"/>
                </a:solidFill>
              </a:rPr>
              <a:t>Speed-up percentages without a measured baseline.</a:t>
            </a:r>
            <a:endParaRPr lang="en-US" sz="1250" dirty="0"/>
          </a:p>
        </p:txBody>
      </p:sp>
      <p:sp>
        <p:nvSpPr>
          <p:cNvPr id="21" name="column NEXT VALIDATION"/>
          <p:cNvSpPr/>
          <p:nvPr/>
        </p:nvSpPr>
        <p:spPr>
          <a:xfrm>
            <a:off x="6035040" y="1188720"/>
            <a:ext cx="2651760" cy="2880360"/>
          </a:xfrm>
          <a:prstGeom prst="roundRect">
            <a:avLst>
              <a:gd name="adj" fmla="val 2759"/>
            </a:avLst>
          </a:prstGeom>
          <a:solidFill>
            <a:schemeClr val="bg2"/>
          </a:solidFill>
          <a:ln w="9525">
            <a:solidFill>
              <a:schemeClr val="accent4"/>
            </a:solidFill>
            <a:prstDash val="solid"/>
          </a:ln>
        </p:spPr>
      </p:sp>
      <p:sp>
        <p:nvSpPr>
          <p:cNvPr id="22" name="column label NEXT VALIDATION"/>
          <p:cNvSpPr txBox="1"/>
          <p:nvPr/>
        </p:nvSpPr>
        <p:spPr>
          <a:xfrm>
            <a:off x="6217920" y="1353312"/>
            <a:ext cx="22860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NEXT VALIDATION</a:t>
            </a:r>
            <a:endParaRPr lang="en-US" sz="1100" dirty="0"/>
          </a:p>
        </p:txBody>
      </p:sp>
      <p:sp>
        <p:nvSpPr>
          <p:cNvPr id="23" name="column body NEXT VALIDATION"/>
          <p:cNvSpPr txBox="1"/>
          <p:nvPr/>
        </p:nvSpPr>
        <p:spPr>
          <a:xfrm>
            <a:off x="6217920" y="1691640"/>
            <a:ext cx="2286000" cy="2240280"/>
          </a:xfrm>
          <a:prstGeom prst="rect">
            <a:avLst/>
          </a:prstGeom>
          <a:noFill/>
          <a:ln/>
        </p:spPr>
        <p:txBody>
          <a:bodyPr wrap="square" lIns="0" tIns="0" rIns="0" bIns="0" rtlCol="0" anchor="t"/>
          <a:lstStyle/>
          <a:p>
            <a:pPr marL="152400" indent="-152400">
              <a:spcAft>
                <a:spcPts val="700"/>
              </a:spcAft>
              <a:buSzPct val="100000"/>
              <a:buChar char="•"/>
            </a:pPr>
            <a:r>
              <a:rPr lang="en-US" sz="1250" dirty="0">
                <a:solidFill>
                  <a:schemeClr val="tx1"/>
                </a:solidFill>
              </a:rPr>
              <a:t>Time a conventional edit-rebuild-regather loop with the same designers and the same change list.</a:t>
            </a:r>
            <a:endParaRPr lang="en-US" sz="1250" dirty="0"/>
          </a:p>
          <a:p>
            <a:pPr marL="152400" indent="-152400">
              <a:spcAft>
                <a:spcPts val="700"/>
              </a:spcAft>
              <a:buSzPct val="100000"/>
              <a:buChar char="•"/>
            </a:pPr>
            <a:r>
              <a:rPr lang="en-US" sz="1250" dirty="0">
                <a:solidFill>
                  <a:schemeClr val="tx1"/>
                </a:solidFill>
              </a:rPr>
              <a:t>Compare it against Beetle's measured edit-to-commit times.</a:t>
            </a:r>
            <a:endParaRPr lang="en-US" sz="1250" dirty="0"/>
          </a:p>
        </p:txBody>
      </p:sp>
      <p:sp>
        <p:nvSpPr>
          <p:cNvPr id="24" name="beetle leg"/>
          <p:cNvSpPr/>
          <p:nvPr/>
        </p:nvSpPr>
        <p:spPr>
          <a:xfrm flipH="1" flipV="1">
            <a:off x="483123" y="4323100"/>
            <a:ext cx="90526" cy="49378"/>
          </a:xfrm>
          <a:prstGeom prst="line">
            <a:avLst/>
          </a:prstGeom>
          <a:noFill/>
          <a:ln w="15875">
            <a:solidFill>
              <a:schemeClr val="tx1"/>
            </a:solidFill>
            <a:prstDash val="solid"/>
          </a:ln>
        </p:spPr>
      </p:sp>
      <p:sp>
        <p:nvSpPr>
          <p:cNvPr id="25" name="beetle leg"/>
          <p:cNvSpPr/>
          <p:nvPr/>
        </p:nvSpPr>
        <p:spPr>
          <a:xfrm flipH="1">
            <a:off x="449382" y="4461358"/>
            <a:ext cx="98755" cy="914"/>
          </a:xfrm>
          <a:prstGeom prst="line">
            <a:avLst/>
          </a:prstGeom>
          <a:noFill/>
          <a:ln w="15875">
            <a:solidFill>
              <a:schemeClr val="tx1"/>
            </a:solidFill>
            <a:prstDash val="solid"/>
          </a:ln>
        </p:spPr>
      </p:sp>
      <p:sp>
        <p:nvSpPr>
          <p:cNvPr id="26" name="beetle leg"/>
          <p:cNvSpPr/>
          <p:nvPr/>
        </p:nvSpPr>
        <p:spPr>
          <a:xfrm flipH="1">
            <a:off x="475470" y="4550237"/>
            <a:ext cx="90526" cy="49378"/>
          </a:xfrm>
          <a:prstGeom prst="line">
            <a:avLst/>
          </a:prstGeom>
          <a:noFill/>
          <a:ln w="15875">
            <a:solidFill>
              <a:schemeClr val="tx1"/>
            </a:solidFill>
            <a:prstDash val="solid"/>
          </a:ln>
        </p:spPr>
      </p:sp>
      <p:sp>
        <p:nvSpPr>
          <p:cNvPr id="27" name="beetle leg"/>
          <p:cNvSpPr/>
          <p:nvPr/>
        </p:nvSpPr>
        <p:spPr>
          <a:xfrm flipV="1">
            <a:off x="752231" y="4323100"/>
            <a:ext cx="90526" cy="49378"/>
          </a:xfrm>
          <a:prstGeom prst="line">
            <a:avLst/>
          </a:prstGeom>
          <a:noFill/>
          <a:ln w="15875">
            <a:solidFill>
              <a:schemeClr val="tx1"/>
            </a:solidFill>
            <a:prstDash val="solid"/>
          </a:ln>
        </p:spPr>
      </p:sp>
      <p:sp>
        <p:nvSpPr>
          <p:cNvPr id="28" name="beetle leg"/>
          <p:cNvSpPr/>
          <p:nvPr/>
        </p:nvSpPr>
        <p:spPr>
          <a:xfrm>
            <a:off x="777743" y="4461358"/>
            <a:ext cx="98755" cy="914"/>
          </a:xfrm>
          <a:prstGeom prst="line">
            <a:avLst/>
          </a:prstGeom>
          <a:noFill/>
          <a:ln w="15875">
            <a:solidFill>
              <a:schemeClr val="tx1"/>
            </a:solidFill>
            <a:prstDash val="solid"/>
          </a:ln>
        </p:spPr>
      </p:sp>
      <p:sp>
        <p:nvSpPr>
          <p:cNvPr id="29" name="beetle leg"/>
          <p:cNvSpPr/>
          <p:nvPr/>
        </p:nvSpPr>
        <p:spPr>
          <a:xfrm>
            <a:off x="759885" y="4550237"/>
            <a:ext cx="90526" cy="49378"/>
          </a:xfrm>
          <a:prstGeom prst="line">
            <a:avLst/>
          </a:prstGeom>
          <a:noFill/>
          <a:ln w="15875">
            <a:solidFill>
              <a:schemeClr val="tx1"/>
            </a:solidFill>
            <a:prstDash val="solid"/>
          </a:ln>
        </p:spPr>
      </p:sp>
      <p:sp>
        <p:nvSpPr>
          <p:cNvPr id="30" name="beetle antenna"/>
          <p:cNvSpPr/>
          <p:nvPr/>
        </p:nvSpPr>
        <p:spPr>
          <a:xfrm flipV="1">
            <a:off x="543611" y="4206240"/>
            <a:ext cx="65837" cy="49378"/>
          </a:xfrm>
          <a:prstGeom prst="line">
            <a:avLst/>
          </a:prstGeom>
          <a:noFill/>
          <a:ln w="15875">
            <a:solidFill>
              <a:schemeClr val="tx1"/>
            </a:solidFill>
            <a:prstDash val="solid"/>
          </a:ln>
        </p:spPr>
      </p:sp>
      <p:sp>
        <p:nvSpPr>
          <p:cNvPr id="31" name="beetle antenna"/>
          <p:cNvSpPr/>
          <p:nvPr/>
        </p:nvSpPr>
        <p:spPr>
          <a:xfrm>
            <a:off x="716432" y="4206240"/>
            <a:ext cx="65837" cy="49378"/>
          </a:xfrm>
          <a:prstGeom prst="line">
            <a:avLst/>
          </a:prstGeom>
          <a:noFill/>
          <a:ln w="15875">
            <a:solidFill>
              <a:schemeClr val="tx1"/>
            </a:solidFill>
            <a:prstDash val="solid"/>
          </a:ln>
        </p:spPr>
      </p:sp>
      <p:sp>
        <p:nvSpPr>
          <p:cNvPr id="32" name="beetle head"/>
          <p:cNvSpPr/>
          <p:nvPr/>
        </p:nvSpPr>
        <p:spPr>
          <a:xfrm>
            <a:off x="601218" y="4239158"/>
            <a:ext cx="123444" cy="98755"/>
          </a:xfrm>
          <a:prstGeom prst="ellipse">
            <a:avLst/>
          </a:prstGeom>
          <a:solidFill>
            <a:schemeClr val="accent1"/>
          </a:solidFill>
          <a:ln w="6350">
            <a:solidFill>
              <a:schemeClr val="accent1"/>
            </a:solidFill>
            <a:prstDash val="solid"/>
          </a:ln>
        </p:spPr>
      </p:sp>
      <p:sp>
        <p:nvSpPr>
          <p:cNvPr id="33" name="beetle body"/>
          <p:cNvSpPr/>
          <p:nvPr/>
        </p:nvSpPr>
        <p:spPr>
          <a:xfrm>
            <a:off x="535381" y="4313225"/>
            <a:ext cx="255118" cy="296266"/>
          </a:xfrm>
          <a:prstGeom prst="ellipse">
            <a:avLst/>
          </a:prstGeom>
          <a:solidFill>
            <a:schemeClr val="accent1"/>
          </a:solidFill>
          <a:ln w="6350">
            <a:solidFill>
              <a:schemeClr val="accent1"/>
            </a:solidFill>
            <a:prstDash val="solid"/>
          </a:ln>
        </p:spPr>
      </p:sp>
      <p:sp>
        <p:nvSpPr>
          <p:cNvPr id="34" name="beetle split"/>
          <p:cNvSpPr/>
          <p:nvPr/>
        </p:nvSpPr>
        <p:spPr>
          <a:xfrm>
            <a:off x="662940" y="4348777"/>
            <a:ext cx="914" cy="237012"/>
          </a:xfrm>
          <a:prstGeom prst="line">
            <a:avLst/>
          </a:prstGeom>
          <a:noFill/>
          <a:ln w="19050">
            <a:solidFill>
              <a:schemeClr val="bg1"/>
            </a:solidFill>
            <a:prstDash val="solid"/>
          </a:ln>
        </p:spPr>
      </p:sp>
      <p:sp>
        <p:nvSpPr>
          <p:cNvPr id="35" name="wordmark"/>
          <p:cNvSpPr txBox="1"/>
          <p:nvPr/>
        </p:nvSpPr>
        <p:spPr>
          <a:xfrm>
            <a:off x="941832" y="4206240"/>
            <a:ext cx="1591056" cy="411480"/>
          </a:xfrm>
          <a:prstGeom prst="rect">
            <a:avLst/>
          </a:prstGeom>
          <a:noFill/>
          <a:ln/>
        </p:spPr>
        <p:txBody>
          <a:bodyPr wrap="square" lIns="0" tIns="0" rIns="0" bIns="0" rtlCol="0" anchor="ctr"/>
          <a:lstStyle/>
          <a:p>
            <a:pPr indent="0" marL="0">
              <a:buNone/>
            </a:pPr>
            <a:r>
              <a:rPr lang="en-US" sz="1600" b="1" spc="400" kern="0" dirty="0">
                <a:solidFill>
                  <a:schemeClr val="tx1"/>
                </a:solidFill>
              </a:rPr>
              <a:t>BEETLE</a:t>
            </a:r>
            <a:endParaRPr lang="en-US" sz="1600" dirty="0"/>
          </a:p>
        </p:txBody>
      </p:sp>
      <p:sp>
        <p:nvSpPr>
          <p:cNvPr id="36" name="closing line"/>
          <p:cNvSpPr txBox="1"/>
          <p:nvPr/>
        </p:nvSpPr>
        <p:spPr>
          <a:xfrm>
            <a:off x="2651760" y="4206240"/>
            <a:ext cx="6035040" cy="411480"/>
          </a:xfrm>
          <a:prstGeom prst="rect">
            <a:avLst/>
          </a:prstGeom>
          <a:noFill/>
          <a:ln/>
        </p:spPr>
        <p:txBody>
          <a:bodyPr wrap="square" lIns="0" tIns="0" rIns="0" bIns="0" rtlCol="0" anchor="ctr"/>
          <a:lstStyle/>
          <a:p>
            <a:pPr indent="0" marL="0">
              <a:buNone/>
            </a:pPr>
            <a:r>
              <a:rPr lang="en-US" sz="1200" i="1" dirty="0">
                <a:solidFill>
                  <a:schemeClr val="tx2"/>
                </a:solidFill>
              </a:rPr>
              <a:t>Change the game without stopping the game.</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BDB3A2"/>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Beetle Deep Garden">
  <a:themeElements>
    <a:clrScheme name="Beetle Deep Garden">
      <a:dk1>
        <a:srgbClr val="EDE7DB"/>
      </a:dk1>
      <a:lt1>
        <a:srgbClr val="0E3534"/>
      </a:lt1>
      <a:dk2>
        <a:srgbClr val="BDB3A2"/>
      </a:dk2>
      <a:lt2>
        <a:srgbClr val="1B4A48"/>
      </a:lt2>
      <a:accent1>
        <a:srgbClr val="E8A33D"/>
      </a:accent1>
      <a:accent2>
        <a:srgbClr val="D8402B"/>
      </a:accent2>
      <a:accent3>
        <a:srgbClr val="7FB5B1"/>
      </a:accent3>
      <a:accent4>
        <a:srgbClr val="2E6B68"/>
      </a:accent4>
      <a:accent5>
        <a:srgbClr val="3F8582"/>
      </a:accent5>
      <a:accent6>
        <a:srgbClr val="C9A15A"/>
      </a:accent6>
      <a:hlink>
        <a:srgbClr val="E8A33D"/>
      </a:hlink>
      <a:folHlink>
        <a:srgbClr val="7FB5B1"/>
      </a:folHlink>
    </a:clrScheme>
    <a:fontScheme name="Beetle Deep Garde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Beetle pitch</dc:title>
  <dc:subject>PptxGenJS Presentation</dc:subject>
  <dc:creator>Beetle team</dc:creator>
  <cp:lastModifiedBy>Beetle team</cp:lastModifiedBy>
  <cp:revision>1</cp:revision>
  <dcterms:created xsi:type="dcterms:W3CDTF">2026-10-03T20:27:20Z</dcterms:created>
  <dcterms:modified xsi:type="dcterms:W3CDTF">2026-10-03T20:27:20Z</dcterms:modified>
</cp:coreProperties>
</file>